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ight Triangle 1"/>
          <p:cNvSpPr/>
          <p:nvPr/>
        </p:nvSpPr>
        <p:spPr>
          <a:xfrm>
            <a:off x="6705432" y="0"/>
            <a:ext cx="6095847" cy="6858000"/>
          </a:xfrm>
          <a:prstGeom prst="rtTriangl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8534186" y="0"/>
            <a:ext cx="4267093" cy="6858000"/>
          </a:xfrm>
          <a:prstGeom prst="rtTriangle">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103120"/>
            <a:ext cx="3474720" cy="10058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3474720" cy="731520"/>
          </a:xfrm>
          <a:prstGeom prst="rect">
            <a:avLst/>
          </a:prstGeom>
          <a:noFill/>
        </p:spPr>
        <p:txBody>
          <a:bodyPr wrap="square" lIns="45720" rIns="45720" tIns="18288" bIns="18288" anchor="t">
            <a:spAutoFit/>
          </a:bodyPr>
          <a:lstStyle/>
          <a:p>
            <a:pPr algn="ctr">
              <a:lnSpc>
                <a:spcPct val="120000"/>
              </a:lnSpc>
            </a:pPr>
            <a:r>
              <a:rPr sz="6000" b="1">
                <a:solidFill>
                  <a:srgbClr val="FFFFFF"/>
                </a:solidFill>
                <a:latin typeface="Calibri"/>
              </a:rPr>
              <a:t>NEXUS</a:t>
            </a:r>
          </a:p>
        </p:txBody>
      </p:sp>
      <p:sp>
        <p:nvSpPr>
          <p:cNvPr id="6" name="TextBox 5"/>
          <p:cNvSpPr txBox="1"/>
          <p:nvPr/>
        </p:nvSpPr>
        <p:spPr>
          <a:xfrm>
            <a:off x="731520" y="3383280"/>
            <a:ext cx="6400800" cy="640080"/>
          </a:xfrm>
          <a:prstGeom prst="rect">
            <a:avLst/>
          </a:prstGeom>
          <a:noFill/>
        </p:spPr>
        <p:txBody>
          <a:bodyPr wrap="square" lIns="45720" rIns="45720" tIns="18288" bIns="18288" anchor="t">
            <a:spAutoFit/>
          </a:bodyPr>
          <a:lstStyle/>
          <a:p>
            <a:pPr algn="l">
              <a:lnSpc>
                <a:spcPct val="120000"/>
              </a:lnSpc>
            </a:pPr>
            <a:r>
              <a:rPr sz="2800" b="0">
                <a:solidFill>
                  <a:srgbClr val="BFDBFE"/>
                </a:solidFill>
                <a:latin typeface="Calibri"/>
              </a:rPr>
              <a:t>Activation &amp; Subscription Manager</a:t>
            </a:r>
          </a:p>
        </p:txBody>
      </p:sp>
      <p:sp>
        <p:nvSpPr>
          <p:cNvPr id="7" name="TextBox 6"/>
          <p:cNvSpPr txBox="1"/>
          <p:nvPr/>
        </p:nvSpPr>
        <p:spPr>
          <a:xfrm>
            <a:off x="731520" y="4297680"/>
            <a:ext cx="6400800" cy="1097280"/>
          </a:xfrm>
          <a:prstGeom prst="rect">
            <a:avLst/>
          </a:prstGeom>
          <a:noFill/>
        </p:spPr>
        <p:txBody>
          <a:bodyPr wrap="square" lIns="45720" rIns="45720" tIns="18288" bIns="18288" anchor="t">
            <a:spAutoFit/>
          </a:bodyPr>
          <a:lstStyle/>
          <a:p>
            <a:pPr algn="l">
              <a:lnSpc>
                <a:spcPct val="120000"/>
              </a:lnSpc>
            </a:pPr>
            <a:r>
              <a:rPr sz="2200" b="0">
                <a:solidFill>
                  <a:srgbClr val="FFFFFF"/>
                </a:solidFill>
                <a:latin typeface="Calibri"/>
              </a:rPr>
              <a:t>Gebruikershandleiding &amp; Systeemintroductie</a:t>
            </a:r>
          </a:p>
        </p:txBody>
      </p:sp>
      <p:sp>
        <p:nvSpPr>
          <p:cNvPr id="8" name="Rectangle 7"/>
          <p:cNvSpPr/>
          <p:nvPr/>
        </p:nvSpPr>
        <p:spPr>
          <a:xfrm>
            <a:off x="731520" y="5486400"/>
            <a:ext cx="4572000" cy="36576"/>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623560"/>
            <a:ext cx="5486400" cy="365760"/>
          </a:xfrm>
          <a:prstGeom prst="rect">
            <a:avLst/>
          </a:prstGeom>
          <a:noFill/>
        </p:spPr>
        <p:txBody>
          <a:bodyPr wrap="square" lIns="45720" rIns="45720" tIns="18288" bIns="18288" anchor="t">
            <a:spAutoFit/>
          </a:bodyPr>
          <a:lstStyle/>
          <a:p>
            <a:pPr algn="l">
              <a:lnSpc>
                <a:spcPct val="120000"/>
              </a:lnSpc>
            </a:pPr>
            <a:r>
              <a:rPr sz="1400" b="0">
                <a:solidFill>
                  <a:srgbClr val="93C5FD"/>
                </a:solidFill>
                <a:latin typeface="Calibri"/>
              </a:rPr>
              <a:t>Voor toekomstige gebruikers • Fleet &amp; M2M dienstverlening</a:t>
            </a:r>
          </a:p>
        </p:txBody>
      </p:sp>
      <p:sp>
        <p:nvSpPr>
          <p:cNvPr id="10" name="TextBox 9"/>
          <p:cNvSpPr txBox="1"/>
          <p:nvPr/>
        </p:nvSpPr>
        <p:spPr>
          <a:xfrm>
            <a:off x="731520" y="5989320"/>
            <a:ext cx="5486400" cy="365760"/>
          </a:xfrm>
          <a:prstGeom prst="rect">
            <a:avLst/>
          </a:prstGeom>
          <a:noFill/>
        </p:spPr>
        <p:txBody>
          <a:bodyPr wrap="square" lIns="45720" rIns="45720" tIns="18288" bIns="18288" anchor="t">
            <a:spAutoFit/>
          </a:bodyPr>
          <a:lstStyle/>
          <a:p>
            <a:pPr algn="l">
              <a:lnSpc>
                <a:spcPct val="120000"/>
              </a:lnSpc>
            </a:pPr>
            <a:r>
              <a:rPr sz="1200" b="0">
                <a:solidFill>
                  <a:srgbClr val="93C5FD"/>
                </a:solidFill>
                <a:latin typeface="Calibri"/>
              </a:rPr>
              <a:t>Versie 1.0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Agenda</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Wat komen vandaag aan bod?</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2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371600"/>
            <a:ext cx="54864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371600"/>
            <a:ext cx="548640" cy="457200"/>
          </a:xfrm>
          <a:prstGeom prst="rect">
            <a:avLst/>
          </a:prstGeom>
          <a:noFill/>
        </p:spPr>
        <p:txBody>
          <a:bodyPr wrap="square" lIns="45720" rIns="45720" tIns="18288" bIns="18288" anchor="ctr">
            <a:spAutoFit/>
          </a:bodyPr>
          <a:lstStyle/>
          <a:p>
            <a:pPr algn="ctr">
              <a:lnSpc>
                <a:spcPct val="120000"/>
              </a:lnSpc>
            </a:pPr>
            <a:r>
              <a:rPr sz="1500" b="1">
                <a:solidFill>
                  <a:srgbClr val="FFFFFF"/>
                </a:solidFill>
                <a:latin typeface="Calibri"/>
              </a:rPr>
              <a:t>01</a:t>
            </a:r>
          </a:p>
        </p:txBody>
      </p:sp>
      <p:sp>
        <p:nvSpPr>
          <p:cNvPr id="14" name="TextBox 13"/>
          <p:cNvSpPr txBox="1"/>
          <p:nvPr/>
        </p:nvSpPr>
        <p:spPr>
          <a:xfrm>
            <a:off x="1005840" y="1371600"/>
            <a:ext cx="5120640" cy="256032"/>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Systeemoverzicht</a:t>
            </a:r>
          </a:p>
        </p:txBody>
      </p:sp>
      <p:sp>
        <p:nvSpPr>
          <p:cNvPr id="15" name="TextBox 14"/>
          <p:cNvSpPr txBox="1"/>
          <p:nvPr/>
        </p:nvSpPr>
        <p:spPr>
          <a:xfrm>
            <a:off x="1005840" y="1600200"/>
            <a:ext cx="5120640" cy="22860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Wat is Nexus, voor wie en waarom?</a:t>
            </a:r>
          </a:p>
        </p:txBody>
      </p:sp>
      <p:sp>
        <p:nvSpPr>
          <p:cNvPr id="16" name="Rounded Rectangle 15"/>
          <p:cNvSpPr/>
          <p:nvPr/>
        </p:nvSpPr>
        <p:spPr>
          <a:xfrm>
            <a:off x="365760" y="1901952"/>
            <a:ext cx="54864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1901952"/>
            <a:ext cx="548640" cy="457200"/>
          </a:xfrm>
          <a:prstGeom prst="rect">
            <a:avLst/>
          </a:prstGeom>
          <a:noFill/>
        </p:spPr>
        <p:txBody>
          <a:bodyPr wrap="square" lIns="45720" rIns="45720" tIns="18288" bIns="18288" anchor="ctr">
            <a:spAutoFit/>
          </a:bodyPr>
          <a:lstStyle/>
          <a:p>
            <a:pPr algn="ctr">
              <a:lnSpc>
                <a:spcPct val="120000"/>
              </a:lnSpc>
            </a:pPr>
            <a:r>
              <a:rPr sz="1500" b="1">
                <a:solidFill>
                  <a:srgbClr val="FFFFFF"/>
                </a:solidFill>
                <a:latin typeface="Calibri"/>
              </a:rPr>
              <a:t>02</a:t>
            </a:r>
          </a:p>
        </p:txBody>
      </p:sp>
      <p:sp>
        <p:nvSpPr>
          <p:cNvPr id="18" name="TextBox 17"/>
          <p:cNvSpPr txBox="1"/>
          <p:nvPr/>
        </p:nvSpPr>
        <p:spPr>
          <a:xfrm>
            <a:off x="1005840" y="1901952"/>
            <a:ext cx="5120640" cy="256032"/>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Architectuur &amp; Tech Stack</a:t>
            </a:r>
          </a:p>
        </p:txBody>
      </p:sp>
      <p:sp>
        <p:nvSpPr>
          <p:cNvPr id="19" name="TextBox 18"/>
          <p:cNvSpPr txBox="1"/>
          <p:nvPr/>
        </p:nvSpPr>
        <p:spPr>
          <a:xfrm>
            <a:off x="1005840" y="2130552"/>
            <a:ext cx="5120640" cy="22860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Hoe zit het systeem technisch in elkaar?</a:t>
            </a:r>
          </a:p>
        </p:txBody>
      </p:sp>
      <p:sp>
        <p:nvSpPr>
          <p:cNvPr id="20" name="Rounded Rectangle 19"/>
          <p:cNvSpPr/>
          <p:nvPr/>
        </p:nvSpPr>
        <p:spPr>
          <a:xfrm>
            <a:off x="365760" y="2432304"/>
            <a:ext cx="54864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432304"/>
            <a:ext cx="548640" cy="457200"/>
          </a:xfrm>
          <a:prstGeom prst="rect">
            <a:avLst/>
          </a:prstGeom>
          <a:noFill/>
        </p:spPr>
        <p:txBody>
          <a:bodyPr wrap="square" lIns="45720" rIns="45720" tIns="18288" bIns="18288" anchor="ctr">
            <a:spAutoFit/>
          </a:bodyPr>
          <a:lstStyle/>
          <a:p>
            <a:pPr algn="ctr">
              <a:lnSpc>
                <a:spcPct val="120000"/>
              </a:lnSpc>
            </a:pPr>
            <a:r>
              <a:rPr sz="1500" b="1">
                <a:solidFill>
                  <a:srgbClr val="FFFFFF"/>
                </a:solidFill>
                <a:latin typeface="Calibri"/>
              </a:rPr>
              <a:t>03</a:t>
            </a:r>
          </a:p>
        </p:txBody>
      </p:sp>
      <p:sp>
        <p:nvSpPr>
          <p:cNvPr id="22" name="TextBox 21"/>
          <p:cNvSpPr txBox="1"/>
          <p:nvPr/>
        </p:nvSpPr>
        <p:spPr>
          <a:xfrm>
            <a:off x="1005840" y="2432304"/>
            <a:ext cx="5120640" cy="256032"/>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Gebruikersrollen &amp; Rechten</a:t>
            </a:r>
          </a:p>
        </p:txBody>
      </p:sp>
      <p:sp>
        <p:nvSpPr>
          <p:cNvPr id="23" name="TextBox 22"/>
          <p:cNvSpPr txBox="1"/>
          <p:nvPr/>
        </p:nvSpPr>
        <p:spPr>
          <a:xfrm>
            <a:off x="1005840" y="2660904"/>
            <a:ext cx="5120640" cy="22860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ADMIN, EMPLOYEE, VIEWER – wie mag wat?</a:t>
            </a:r>
          </a:p>
        </p:txBody>
      </p:sp>
      <p:sp>
        <p:nvSpPr>
          <p:cNvPr id="24" name="Rounded Rectangle 23"/>
          <p:cNvSpPr/>
          <p:nvPr/>
        </p:nvSpPr>
        <p:spPr>
          <a:xfrm>
            <a:off x="365760" y="2962656"/>
            <a:ext cx="54864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2962656"/>
            <a:ext cx="548640" cy="457200"/>
          </a:xfrm>
          <a:prstGeom prst="rect">
            <a:avLst/>
          </a:prstGeom>
          <a:noFill/>
        </p:spPr>
        <p:txBody>
          <a:bodyPr wrap="square" lIns="45720" rIns="45720" tIns="18288" bIns="18288" anchor="ctr">
            <a:spAutoFit/>
          </a:bodyPr>
          <a:lstStyle/>
          <a:p>
            <a:pPr algn="ctr">
              <a:lnSpc>
                <a:spcPct val="120000"/>
              </a:lnSpc>
            </a:pPr>
            <a:r>
              <a:rPr sz="1500" b="1">
                <a:solidFill>
                  <a:srgbClr val="FFFFFF"/>
                </a:solidFill>
                <a:latin typeface="Calibri"/>
              </a:rPr>
              <a:t>04</a:t>
            </a:r>
          </a:p>
        </p:txBody>
      </p:sp>
      <p:sp>
        <p:nvSpPr>
          <p:cNvPr id="26" name="TextBox 25"/>
          <p:cNvSpPr txBox="1"/>
          <p:nvPr/>
        </p:nvSpPr>
        <p:spPr>
          <a:xfrm>
            <a:off x="1005840" y="2962656"/>
            <a:ext cx="5120640" cy="256032"/>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Dashboard &amp; Navigatie</a:t>
            </a:r>
          </a:p>
        </p:txBody>
      </p:sp>
      <p:sp>
        <p:nvSpPr>
          <p:cNvPr id="27" name="TextBox 26"/>
          <p:cNvSpPr txBox="1"/>
          <p:nvPr/>
        </p:nvSpPr>
        <p:spPr>
          <a:xfrm>
            <a:off x="1005840" y="3191256"/>
            <a:ext cx="5120640" cy="22860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Startscherm, zijbalk en snelzoeken (⌘K)</a:t>
            </a:r>
          </a:p>
        </p:txBody>
      </p:sp>
      <p:sp>
        <p:nvSpPr>
          <p:cNvPr id="28" name="Rounded Rectangle 27"/>
          <p:cNvSpPr/>
          <p:nvPr/>
        </p:nvSpPr>
        <p:spPr>
          <a:xfrm>
            <a:off x="365760" y="3493008"/>
            <a:ext cx="54864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3493008"/>
            <a:ext cx="548640" cy="457200"/>
          </a:xfrm>
          <a:prstGeom prst="rect">
            <a:avLst/>
          </a:prstGeom>
          <a:noFill/>
        </p:spPr>
        <p:txBody>
          <a:bodyPr wrap="square" lIns="45720" rIns="45720" tIns="18288" bIns="18288" anchor="ctr">
            <a:spAutoFit/>
          </a:bodyPr>
          <a:lstStyle/>
          <a:p>
            <a:pPr algn="ctr">
              <a:lnSpc>
                <a:spcPct val="120000"/>
              </a:lnSpc>
            </a:pPr>
            <a:r>
              <a:rPr sz="1500" b="1">
                <a:solidFill>
                  <a:srgbClr val="FFFFFF"/>
                </a:solidFill>
                <a:latin typeface="Calibri"/>
              </a:rPr>
              <a:t>05</a:t>
            </a:r>
          </a:p>
        </p:txBody>
      </p:sp>
      <p:sp>
        <p:nvSpPr>
          <p:cNvPr id="30" name="TextBox 29"/>
          <p:cNvSpPr txBox="1"/>
          <p:nvPr/>
        </p:nvSpPr>
        <p:spPr>
          <a:xfrm>
            <a:off x="1005840" y="3493008"/>
            <a:ext cx="5120640" cy="256032"/>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Hoofdmodules</a:t>
            </a:r>
          </a:p>
        </p:txBody>
      </p:sp>
      <p:sp>
        <p:nvSpPr>
          <p:cNvPr id="31" name="TextBox 30"/>
          <p:cNvSpPr txBox="1"/>
          <p:nvPr/>
        </p:nvSpPr>
        <p:spPr>
          <a:xfrm>
            <a:off x="1005840" y="3721608"/>
            <a:ext cx="5120640" cy="22860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Klanten • Trackers • SIMs • Voertuigen • Producten</a:t>
            </a:r>
          </a:p>
        </p:txBody>
      </p:sp>
      <p:sp>
        <p:nvSpPr>
          <p:cNvPr id="32" name="Rounded Rectangle 31"/>
          <p:cNvSpPr/>
          <p:nvPr/>
        </p:nvSpPr>
        <p:spPr>
          <a:xfrm>
            <a:off x="365760" y="4023360"/>
            <a:ext cx="54864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4023360"/>
            <a:ext cx="548640" cy="457200"/>
          </a:xfrm>
          <a:prstGeom prst="rect">
            <a:avLst/>
          </a:prstGeom>
          <a:noFill/>
        </p:spPr>
        <p:txBody>
          <a:bodyPr wrap="square" lIns="45720" rIns="45720" tIns="18288" bIns="18288" anchor="ctr">
            <a:spAutoFit/>
          </a:bodyPr>
          <a:lstStyle/>
          <a:p>
            <a:pPr algn="ctr">
              <a:lnSpc>
                <a:spcPct val="120000"/>
              </a:lnSpc>
            </a:pPr>
            <a:r>
              <a:rPr sz="1500" b="1">
                <a:solidFill>
                  <a:srgbClr val="FFFFFF"/>
                </a:solidFill>
                <a:latin typeface="Calibri"/>
              </a:rPr>
              <a:t>06</a:t>
            </a:r>
          </a:p>
        </p:txBody>
      </p:sp>
      <p:sp>
        <p:nvSpPr>
          <p:cNvPr id="34" name="TextBox 33"/>
          <p:cNvSpPr txBox="1"/>
          <p:nvPr/>
        </p:nvSpPr>
        <p:spPr>
          <a:xfrm>
            <a:off x="1005840" y="4023360"/>
            <a:ext cx="5120640" cy="256032"/>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Activaties: 6-stappen Wizard</a:t>
            </a:r>
          </a:p>
        </p:txBody>
      </p:sp>
      <p:sp>
        <p:nvSpPr>
          <p:cNvPr id="35" name="TextBox 34"/>
          <p:cNvSpPr txBox="1"/>
          <p:nvPr/>
        </p:nvSpPr>
        <p:spPr>
          <a:xfrm>
            <a:off x="1005840" y="4251960"/>
            <a:ext cx="5120640" cy="22860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Transactionele activatie-flow</a:t>
            </a:r>
          </a:p>
        </p:txBody>
      </p:sp>
      <p:sp>
        <p:nvSpPr>
          <p:cNvPr id="36" name="Rounded Rectangle 35"/>
          <p:cNvSpPr/>
          <p:nvPr/>
        </p:nvSpPr>
        <p:spPr>
          <a:xfrm>
            <a:off x="6172200" y="1371600"/>
            <a:ext cx="54864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72200" y="1371600"/>
            <a:ext cx="548640" cy="457200"/>
          </a:xfrm>
          <a:prstGeom prst="rect">
            <a:avLst/>
          </a:prstGeom>
          <a:noFill/>
        </p:spPr>
        <p:txBody>
          <a:bodyPr wrap="square" lIns="45720" rIns="45720" tIns="18288" bIns="18288" anchor="ctr">
            <a:spAutoFit/>
          </a:bodyPr>
          <a:lstStyle/>
          <a:p>
            <a:pPr algn="ctr">
              <a:lnSpc>
                <a:spcPct val="120000"/>
              </a:lnSpc>
            </a:pPr>
            <a:r>
              <a:rPr sz="1500" b="1">
                <a:solidFill>
                  <a:srgbClr val="FFFFFF"/>
                </a:solidFill>
                <a:latin typeface="Calibri"/>
              </a:rPr>
              <a:t>07</a:t>
            </a:r>
          </a:p>
        </p:txBody>
      </p:sp>
      <p:sp>
        <p:nvSpPr>
          <p:cNvPr id="38" name="TextBox 37"/>
          <p:cNvSpPr txBox="1"/>
          <p:nvPr/>
        </p:nvSpPr>
        <p:spPr>
          <a:xfrm>
            <a:off x="6812280" y="1371600"/>
            <a:ext cx="5120640" cy="256032"/>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Abonnementen Beheren</a:t>
            </a:r>
          </a:p>
        </p:txBody>
      </p:sp>
      <p:sp>
        <p:nvSpPr>
          <p:cNvPr id="39" name="TextBox 38"/>
          <p:cNvSpPr txBox="1"/>
          <p:nvPr/>
        </p:nvSpPr>
        <p:spPr>
          <a:xfrm>
            <a:off x="6812280" y="1600200"/>
            <a:ext cx="5120640" cy="22860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Levenscyclus, wijzigingen en vervangingen</a:t>
            </a:r>
          </a:p>
        </p:txBody>
      </p:sp>
      <p:sp>
        <p:nvSpPr>
          <p:cNvPr id="40" name="Rounded Rectangle 39"/>
          <p:cNvSpPr/>
          <p:nvPr/>
        </p:nvSpPr>
        <p:spPr>
          <a:xfrm>
            <a:off x="6172200" y="1901952"/>
            <a:ext cx="54864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72200" y="1901952"/>
            <a:ext cx="548640" cy="457200"/>
          </a:xfrm>
          <a:prstGeom prst="rect">
            <a:avLst/>
          </a:prstGeom>
          <a:noFill/>
        </p:spPr>
        <p:txBody>
          <a:bodyPr wrap="square" lIns="45720" rIns="45720" tIns="18288" bIns="18288" anchor="ctr">
            <a:spAutoFit/>
          </a:bodyPr>
          <a:lstStyle/>
          <a:p>
            <a:pPr algn="ctr">
              <a:lnSpc>
                <a:spcPct val="120000"/>
              </a:lnSpc>
            </a:pPr>
            <a:r>
              <a:rPr sz="1500" b="1">
                <a:solidFill>
                  <a:srgbClr val="FFFFFF"/>
                </a:solidFill>
                <a:latin typeface="Calibri"/>
              </a:rPr>
              <a:t>08</a:t>
            </a:r>
          </a:p>
        </p:txBody>
      </p:sp>
      <p:sp>
        <p:nvSpPr>
          <p:cNvPr id="42" name="TextBox 41"/>
          <p:cNvSpPr txBox="1"/>
          <p:nvPr/>
        </p:nvSpPr>
        <p:spPr>
          <a:xfrm>
            <a:off x="6812280" y="1901952"/>
            <a:ext cx="5120640" cy="256032"/>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Facturatie</a:t>
            </a:r>
          </a:p>
        </p:txBody>
      </p:sp>
      <p:sp>
        <p:nvSpPr>
          <p:cNvPr id="43" name="TextBox 42"/>
          <p:cNvSpPr txBox="1"/>
          <p:nvPr/>
        </p:nvSpPr>
        <p:spPr>
          <a:xfrm>
            <a:off x="6812280" y="2130552"/>
            <a:ext cx="5120640" cy="22860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Genereren, verzenden en betalen van facturen</a:t>
            </a:r>
          </a:p>
        </p:txBody>
      </p:sp>
      <p:sp>
        <p:nvSpPr>
          <p:cNvPr id="44" name="Rounded Rectangle 43"/>
          <p:cNvSpPr/>
          <p:nvPr/>
        </p:nvSpPr>
        <p:spPr>
          <a:xfrm>
            <a:off x="6172200" y="2432304"/>
            <a:ext cx="54864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72200" y="2432304"/>
            <a:ext cx="548640" cy="457200"/>
          </a:xfrm>
          <a:prstGeom prst="rect">
            <a:avLst/>
          </a:prstGeom>
          <a:noFill/>
        </p:spPr>
        <p:txBody>
          <a:bodyPr wrap="square" lIns="45720" rIns="45720" tIns="18288" bIns="18288" anchor="ctr">
            <a:spAutoFit/>
          </a:bodyPr>
          <a:lstStyle/>
          <a:p>
            <a:pPr algn="ctr">
              <a:lnSpc>
                <a:spcPct val="120000"/>
              </a:lnSpc>
            </a:pPr>
            <a:r>
              <a:rPr sz="1500" b="1">
                <a:solidFill>
                  <a:srgbClr val="FFFFFF"/>
                </a:solidFill>
                <a:latin typeface="Calibri"/>
              </a:rPr>
              <a:t>09</a:t>
            </a:r>
          </a:p>
        </p:txBody>
      </p:sp>
      <p:sp>
        <p:nvSpPr>
          <p:cNvPr id="46" name="TextBox 45"/>
          <p:cNvSpPr txBox="1"/>
          <p:nvPr/>
        </p:nvSpPr>
        <p:spPr>
          <a:xfrm>
            <a:off x="6812280" y="2432304"/>
            <a:ext cx="5120640" cy="256032"/>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CSV Import &amp; Export</a:t>
            </a:r>
          </a:p>
        </p:txBody>
      </p:sp>
      <p:sp>
        <p:nvSpPr>
          <p:cNvPr id="47" name="TextBox 46"/>
          <p:cNvSpPr txBox="1"/>
          <p:nvPr/>
        </p:nvSpPr>
        <p:spPr>
          <a:xfrm>
            <a:off x="6812280" y="2660904"/>
            <a:ext cx="5120640" cy="22860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Data bulksgewijs in- en uitvoeren</a:t>
            </a:r>
          </a:p>
        </p:txBody>
      </p:sp>
      <p:sp>
        <p:nvSpPr>
          <p:cNvPr id="48" name="Rounded Rectangle 47"/>
          <p:cNvSpPr/>
          <p:nvPr/>
        </p:nvSpPr>
        <p:spPr>
          <a:xfrm>
            <a:off x="6172200" y="2962656"/>
            <a:ext cx="54864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72200" y="2962656"/>
            <a:ext cx="548640" cy="457200"/>
          </a:xfrm>
          <a:prstGeom prst="rect">
            <a:avLst/>
          </a:prstGeom>
          <a:noFill/>
        </p:spPr>
        <p:txBody>
          <a:bodyPr wrap="square" lIns="45720" rIns="45720" tIns="18288" bIns="18288" anchor="ctr">
            <a:spAutoFit/>
          </a:bodyPr>
          <a:lstStyle/>
          <a:p>
            <a:pPr algn="ctr">
              <a:lnSpc>
                <a:spcPct val="120000"/>
              </a:lnSpc>
            </a:pPr>
            <a:r>
              <a:rPr sz="1500" b="1">
                <a:solidFill>
                  <a:srgbClr val="FFFFFF"/>
                </a:solidFill>
                <a:latin typeface="Calibri"/>
              </a:rPr>
              <a:t>10</a:t>
            </a:r>
          </a:p>
        </p:txBody>
      </p:sp>
      <p:sp>
        <p:nvSpPr>
          <p:cNvPr id="50" name="TextBox 49"/>
          <p:cNvSpPr txBox="1"/>
          <p:nvPr/>
        </p:nvSpPr>
        <p:spPr>
          <a:xfrm>
            <a:off x="6812280" y="2962656"/>
            <a:ext cx="5120640" cy="256032"/>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Audit Log &amp; Beveiliging</a:t>
            </a:r>
          </a:p>
        </p:txBody>
      </p:sp>
      <p:sp>
        <p:nvSpPr>
          <p:cNvPr id="51" name="TextBox 50"/>
          <p:cNvSpPr txBox="1"/>
          <p:nvPr/>
        </p:nvSpPr>
        <p:spPr>
          <a:xfrm>
            <a:off x="6812280" y="3191256"/>
            <a:ext cx="5120640" cy="22860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Traceerbaarheid, soft-delete en validatie</a:t>
            </a:r>
          </a:p>
        </p:txBody>
      </p:sp>
      <p:sp>
        <p:nvSpPr>
          <p:cNvPr id="52" name="Rounded Rectangle 51"/>
          <p:cNvSpPr/>
          <p:nvPr/>
        </p:nvSpPr>
        <p:spPr>
          <a:xfrm>
            <a:off x="6172200" y="3493008"/>
            <a:ext cx="54864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72200" y="3493008"/>
            <a:ext cx="548640" cy="457200"/>
          </a:xfrm>
          <a:prstGeom prst="rect">
            <a:avLst/>
          </a:prstGeom>
          <a:noFill/>
        </p:spPr>
        <p:txBody>
          <a:bodyPr wrap="square" lIns="45720" rIns="45720" tIns="18288" bIns="18288" anchor="ctr">
            <a:spAutoFit/>
          </a:bodyPr>
          <a:lstStyle/>
          <a:p>
            <a:pPr algn="ctr">
              <a:lnSpc>
                <a:spcPct val="120000"/>
              </a:lnSpc>
            </a:pPr>
            <a:r>
              <a:rPr sz="1500" b="1">
                <a:solidFill>
                  <a:srgbClr val="FFFFFF"/>
                </a:solidFill>
                <a:latin typeface="Calibri"/>
              </a:rPr>
              <a:t>11</a:t>
            </a:r>
          </a:p>
        </p:txBody>
      </p:sp>
      <p:sp>
        <p:nvSpPr>
          <p:cNvPr id="54" name="TextBox 53"/>
          <p:cNvSpPr txBox="1"/>
          <p:nvPr/>
        </p:nvSpPr>
        <p:spPr>
          <a:xfrm>
            <a:off x="6812280" y="3493008"/>
            <a:ext cx="5120640" cy="256032"/>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Eerste Stappen &amp; Tips</a:t>
            </a:r>
          </a:p>
        </p:txBody>
      </p:sp>
      <p:sp>
        <p:nvSpPr>
          <p:cNvPr id="55" name="TextBox 54"/>
          <p:cNvSpPr txBox="1"/>
          <p:nvPr/>
        </p:nvSpPr>
        <p:spPr>
          <a:xfrm>
            <a:off x="6812280" y="3721608"/>
            <a:ext cx="5120640" cy="22860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Hoe begin je, handige truuks en FAQ</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Systeemoverzicht</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Wat is Nexus en welke problemen lost het op?</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3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325880"/>
            <a:ext cx="5669280" cy="23774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417320"/>
            <a:ext cx="548640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  Doel van Nexus</a:t>
            </a:r>
          </a:p>
        </p:txBody>
      </p:sp>
      <p:sp>
        <p:nvSpPr>
          <p:cNvPr id="15" name="TextBox 14"/>
          <p:cNvSpPr txBox="1"/>
          <p:nvPr/>
        </p:nvSpPr>
        <p:spPr>
          <a:xfrm>
            <a:off x="594360" y="2011680"/>
            <a:ext cx="5212080" cy="155448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Telematica-hardware </a:t>
            </a:r>
            <a:r>
              <a:rPr sz="1300">
                <a:solidFill>
                  <a:srgbClr val="1A1A1A"/>
                </a:solidFill>
                <a:latin typeface="Calibri"/>
              </a:rPr>
              <a:t>(GPS trackers + SIMs) beheren en toewijzen aan klanten</a:t>
            </a:r>
          </a:p>
          <a:p>
            <a:pPr algn="l">
              <a:lnSpc>
                <a:spcPct val="125000"/>
              </a:lnSpc>
              <a:spcAft>
                <a:spcPts val="600"/>
              </a:spcAft>
            </a:pPr>
            <a:r>
              <a:rPr sz="1300" b="1">
                <a:solidFill>
                  <a:srgbClr val="2E86C1"/>
                </a:solidFill>
                <a:latin typeface="Calibri"/>
              </a:rPr>
              <a:t>▸ </a:t>
            </a:r>
            <a:r>
              <a:rPr sz="1300" b="1">
                <a:solidFill>
                  <a:srgbClr val="1A1A1A"/>
                </a:solidFill>
                <a:latin typeface="Calibri"/>
              </a:rPr>
              <a:t>Per </a:t>
            </a:r>
            <a:r>
              <a:rPr sz="1300">
                <a:solidFill>
                  <a:srgbClr val="1A1A1A"/>
                </a:solidFill>
                <a:latin typeface="Calibri"/>
              </a:rPr>
              <a:t>abonnement factureren op maandelijkse basis</a:t>
            </a:r>
          </a:p>
          <a:p>
            <a:pPr algn="l">
              <a:lnSpc>
                <a:spcPct val="125000"/>
              </a:lnSpc>
              <a:spcAft>
                <a:spcPts val="600"/>
              </a:spcAft>
            </a:pPr>
            <a:r>
              <a:rPr sz="1300" b="1">
                <a:solidFill>
                  <a:srgbClr val="2E86C1"/>
                </a:solidFill>
                <a:latin typeface="Calibri"/>
              </a:rPr>
              <a:t>▸ </a:t>
            </a:r>
            <a:r>
              <a:rPr sz="1300" b="1">
                <a:solidFill>
                  <a:srgbClr val="1A1A1A"/>
                </a:solidFill>
                <a:latin typeface="Calibri"/>
              </a:rPr>
              <a:t>Transactionele </a:t>
            </a:r>
            <a:r>
              <a:rPr sz="1300">
                <a:solidFill>
                  <a:srgbClr val="1A1A1A"/>
                </a:solidFill>
                <a:latin typeface="Calibri"/>
              </a:rPr>
              <a:t>6-stappen activaties met 100% data-consistentie</a:t>
            </a:r>
          </a:p>
          <a:p>
            <a:pPr algn="l">
              <a:lnSpc>
                <a:spcPct val="125000"/>
              </a:lnSpc>
              <a:spcAft>
                <a:spcPts val="600"/>
              </a:spcAft>
            </a:pPr>
            <a:r>
              <a:rPr sz="1300" b="1">
                <a:solidFill>
                  <a:srgbClr val="2E86C1"/>
                </a:solidFill>
                <a:latin typeface="Calibri"/>
              </a:rPr>
              <a:t>▸ </a:t>
            </a:r>
            <a:r>
              <a:rPr sz="1300" b="1">
                <a:solidFill>
                  <a:srgbClr val="1A1A1A"/>
                </a:solidFill>
                <a:latin typeface="Calibri"/>
              </a:rPr>
              <a:t>Volledige </a:t>
            </a:r>
            <a:r>
              <a:rPr sz="1300">
                <a:solidFill>
                  <a:srgbClr val="1A1A1A"/>
                </a:solidFill>
                <a:latin typeface="Calibri"/>
              </a:rPr>
              <a:t>traceerbaarheid van elke wijziging via AuditLog</a:t>
            </a:r>
          </a:p>
          <a:p>
            <a:pPr algn="l">
              <a:lnSpc>
                <a:spcPct val="125000"/>
              </a:lnSpc>
              <a:spcAft>
                <a:spcPts val="600"/>
              </a:spcAft>
            </a:pPr>
            <a:r>
              <a:rPr sz="1300" b="1">
                <a:solidFill>
                  <a:srgbClr val="2E86C1"/>
                </a:solidFill>
                <a:latin typeface="Calibri"/>
              </a:rPr>
              <a:t>▸ </a:t>
            </a:r>
            <a:r>
              <a:rPr sz="1300" b="1">
                <a:solidFill>
                  <a:srgbClr val="1A1A1A"/>
                </a:solidFill>
                <a:latin typeface="Calibri"/>
              </a:rPr>
              <a:t>Rollensgewijze </a:t>
            </a:r>
            <a:r>
              <a:rPr sz="1300">
                <a:solidFill>
                  <a:srgbClr val="1A1A1A"/>
                </a:solidFill>
                <a:latin typeface="Calibri"/>
              </a:rPr>
              <a:t>toegang (wie ziet/wijzigt wat)</a:t>
            </a:r>
          </a:p>
        </p:txBody>
      </p:sp>
      <p:sp>
        <p:nvSpPr>
          <p:cNvPr id="16" name="Rounded Rectangle 15"/>
          <p:cNvSpPr/>
          <p:nvPr/>
        </p:nvSpPr>
        <p:spPr>
          <a:xfrm>
            <a:off x="6172200" y="1325880"/>
            <a:ext cx="5669280" cy="23774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1417320"/>
            <a:ext cx="5486400" cy="50292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  Doelgroep</a:t>
            </a:r>
          </a:p>
        </p:txBody>
      </p:sp>
      <p:sp>
        <p:nvSpPr>
          <p:cNvPr id="19" name="TextBox 18"/>
          <p:cNvSpPr txBox="1"/>
          <p:nvPr/>
        </p:nvSpPr>
        <p:spPr>
          <a:xfrm>
            <a:off x="6400800" y="2011680"/>
            <a:ext cx="5212080" cy="155448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Fleet-managers </a:t>
            </a:r>
            <a:r>
              <a:rPr sz="1300">
                <a:solidFill>
                  <a:srgbClr val="1A1A1A"/>
                </a:solidFill>
                <a:latin typeface="Calibri"/>
              </a:rPr>
              <a:t>met wagenparken (auto, vrachtauto, vaartuigen)</a:t>
            </a:r>
          </a:p>
          <a:p>
            <a:pPr algn="l">
              <a:lnSpc>
                <a:spcPct val="125000"/>
              </a:lnSpc>
              <a:spcAft>
                <a:spcPts val="600"/>
              </a:spcAft>
            </a:pPr>
            <a:r>
              <a:rPr sz="1300" b="1">
                <a:solidFill>
                  <a:srgbClr val="2E86C1"/>
                </a:solidFill>
                <a:latin typeface="Calibri"/>
              </a:rPr>
              <a:t>▸ </a:t>
            </a:r>
            <a:r>
              <a:rPr sz="1300" b="1">
                <a:solidFill>
                  <a:srgbClr val="1A1A1A"/>
                </a:solidFill>
                <a:latin typeface="Calibri"/>
              </a:rPr>
              <a:t>MDM </a:t>
            </a:r>
            <a:r>
              <a:rPr sz="1300">
                <a:solidFill>
                  <a:srgbClr val="1A1A1A"/>
                </a:solidFill>
                <a:latin typeface="Calibri"/>
              </a:rPr>
              <a:t>/ M2M dienstverleners (IoT, Machine-to-Machine)</a:t>
            </a:r>
          </a:p>
          <a:p>
            <a:pPr algn="l">
              <a:lnSpc>
                <a:spcPct val="125000"/>
              </a:lnSpc>
              <a:spcAft>
                <a:spcPts val="600"/>
              </a:spcAft>
            </a:pPr>
            <a:r>
              <a:rPr sz="1300" b="1">
                <a:solidFill>
                  <a:srgbClr val="2E86C1"/>
                </a:solidFill>
                <a:latin typeface="Calibri"/>
              </a:rPr>
              <a:t>▸ </a:t>
            </a:r>
            <a:r>
              <a:rPr sz="1300" b="1">
                <a:solidFill>
                  <a:srgbClr val="1A1A1A"/>
                </a:solidFill>
                <a:latin typeface="Calibri"/>
              </a:rPr>
              <a:t>Telematica-leveranciers </a:t>
            </a:r>
            <a:r>
              <a:rPr sz="1300">
                <a:solidFill>
                  <a:srgbClr val="1A1A1A"/>
                </a:solidFill>
                <a:latin typeface="Calibri"/>
              </a:rPr>
              <a:t>die hardware als service aanbieden</a:t>
            </a:r>
          </a:p>
          <a:p>
            <a:pPr algn="l">
              <a:lnSpc>
                <a:spcPct val="125000"/>
              </a:lnSpc>
              <a:spcAft>
                <a:spcPts val="600"/>
              </a:spcAft>
            </a:pPr>
            <a:r>
              <a:rPr sz="1300" b="1">
                <a:solidFill>
                  <a:srgbClr val="2E86C1"/>
                </a:solidFill>
                <a:latin typeface="Calibri"/>
              </a:rPr>
              <a:t>▸ </a:t>
            </a:r>
            <a:r>
              <a:rPr sz="1300" b="1">
                <a:solidFill>
                  <a:srgbClr val="1A1A1A"/>
                </a:solidFill>
                <a:latin typeface="Calibri"/>
              </a:rPr>
              <a:t>Backoffice </a:t>
            </a:r>
            <a:r>
              <a:rPr sz="1300">
                <a:solidFill>
                  <a:srgbClr val="1A1A1A"/>
                </a:solidFill>
                <a:latin typeface="Calibri"/>
              </a:rPr>
              <a:t>medewerkers (order entry, facturatie)</a:t>
            </a:r>
          </a:p>
          <a:p>
            <a:pPr algn="l">
              <a:lnSpc>
                <a:spcPct val="125000"/>
              </a:lnSpc>
              <a:spcAft>
                <a:spcPts val="600"/>
              </a:spcAft>
            </a:pPr>
            <a:r>
              <a:rPr sz="1300" b="1">
                <a:solidFill>
                  <a:srgbClr val="2E86C1"/>
                </a:solidFill>
                <a:latin typeface="Calibri"/>
              </a:rPr>
              <a:t>▸ </a:t>
            </a:r>
            <a:r>
              <a:rPr sz="1300" b="1">
                <a:solidFill>
                  <a:srgbClr val="1A1A1A"/>
                </a:solidFill>
                <a:latin typeface="Calibri"/>
              </a:rPr>
              <a:t>Administrateurs </a:t>
            </a:r>
            <a:r>
              <a:rPr sz="1300">
                <a:solidFill>
                  <a:srgbClr val="1A1A1A"/>
                </a:solidFill>
                <a:latin typeface="Calibri"/>
              </a:rPr>
              <a:t>en auditors (traceerbaarheid)</a:t>
            </a:r>
          </a:p>
        </p:txBody>
      </p:sp>
      <p:sp>
        <p:nvSpPr>
          <p:cNvPr id="20" name="Rounded Rectangle 19"/>
          <p:cNvSpPr/>
          <p:nvPr/>
        </p:nvSpPr>
        <p:spPr>
          <a:xfrm>
            <a:off x="380847" y="3931920"/>
            <a:ext cx="2788920" cy="21031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0847" y="4069080"/>
            <a:ext cx="2788920" cy="1005840"/>
          </a:xfrm>
          <a:prstGeom prst="rect">
            <a:avLst/>
          </a:prstGeom>
          <a:noFill/>
        </p:spPr>
        <p:txBody>
          <a:bodyPr wrap="square" lIns="45720" rIns="45720" tIns="18288" bIns="18288" anchor="t">
            <a:spAutoFit/>
          </a:bodyPr>
          <a:lstStyle/>
          <a:p>
            <a:pPr algn="ctr">
              <a:lnSpc>
                <a:spcPct val="120000"/>
              </a:lnSpc>
            </a:pPr>
            <a:r>
              <a:rPr sz="3800" b="1">
                <a:solidFill>
                  <a:srgbClr val="FFFFFF"/>
                </a:solidFill>
                <a:latin typeface="Calibri"/>
              </a:rPr>
              <a:t>100%</a:t>
            </a:r>
          </a:p>
        </p:txBody>
      </p:sp>
      <p:sp>
        <p:nvSpPr>
          <p:cNvPr id="22" name="TextBox 21"/>
          <p:cNvSpPr txBox="1"/>
          <p:nvPr/>
        </p:nvSpPr>
        <p:spPr>
          <a:xfrm>
            <a:off x="380847" y="5120640"/>
            <a:ext cx="2788920" cy="731520"/>
          </a:xfrm>
          <a:prstGeom prst="rect">
            <a:avLst/>
          </a:prstGeom>
          <a:noFill/>
        </p:spPr>
        <p:txBody>
          <a:bodyPr wrap="square" lIns="45720" rIns="45720" tIns="18288" bIns="18288" anchor="t">
            <a:spAutoFit/>
          </a:bodyPr>
          <a:lstStyle/>
          <a:p>
            <a:pPr algn="ctr">
              <a:lnSpc>
                <a:spcPct val="120000"/>
              </a:lnSpc>
            </a:pPr>
            <a:r>
              <a:rPr sz="1500" b="0">
                <a:solidFill>
                  <a:srgbClr val="FFFFFF"/>
                </a:solidFill>
                <a:latin typeface="Calibri"/>
              </a:rPr>
              <a:t>Transactioneel</a:t>
            </a:r>
          </a:p>
        </p:txBody>
      </p:sp>
      <p:sp>
        <p:nvSpPr>
          <p:cNvPr id="23" name="Rounded Rectangle 22"/>
          <p:cNvSpPr/>
          <p:nvPr/>
        </p:nvSpPr>
        <p:spPr>
          <a:xfrm>
            <a:off x="3261207" y="3931920"/>
            <a:ext cx="2788920" cy="210312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61207" y="4069080"/>
            <a:ext cx="2788920" cy="1005840"/>
          </a:xfrm>
          <a:prstGeom prst="rect">
            <a:avLst/>
          </a:prstGeom>
          <a:noFill/>
        </p:spPr>
        <p:txBody>
          <a:bodyPr wrap="square" lIns="45720" rIns="45720" tIns="18288" bIns="18288" anchor="t">
            <a:spAutoFit/>
          </a:bodyPr>
          <a:lstStyle/>
          <a:p>
            <a:pPr algn="ctr">
              <a:lnSpc>
                <a:spcPct val="120000"/>
              </a:lnSpc>
            </a:pPr>
            <a:r>
              <a:rPr sz="3800" b="1">
                <a:solidFill>
                  <a:srgbClr val="FFFFFF"/>
                </a:solidFill>
                <a:latin typeface="Calibri"/>
              </a:rPr>
              <a:t>6-staps</a:t>
            </a:r>
          </a:p>
        </p:txBody>
      </p:sp>
      <p:sp>
        <p:nvSpPr>
          <p:cNvPr id="25" name="TextBox 24"/>
          <p:cNvSpPr txBox="1"/>
          <p:nvPr/>
        </p:nvSpPr>
        <p:spPr>
          <a:xfrm>
            <a:off x="3261207" y="5120640"/>
            <a:ext cx="2788920" cy="731520"/>
          </a:xfrm>
          <a:prstGeom prst="rect">
            <a:avLst/>
          </a:prstGeom>
          <a:noFill/>
        </p:spPr>
        <p:txBody>
          <a:bodyPr wrap="square" lIns="45720" rIns="45720" tIns="18288" bIns="18288" anchor="t">
            <a:spAutoFit/>
          </a:bodyPr>
          <a:lstStyle/>
          <a:p>
            <a:pPr algn="ctr">
              <a:lnSpc>
                <a:spcPct val="120000"/>
              </a:lnSpc>
            </a:pPr>
            <a:r>
              <a:rPr sz="1500" b="0">
                <a:solidFill>
                  <a:srgbClr val="FFFFFF"/>
                </a:solidFill>
                <a:latin typeface="Calibri"/>
              </a:rPr>
              <a:t>Activatie Wizard</a:t>
            </a:r>
          </a:p>
        </p:txBody>
      </p:sp>
      <p:sp>
        <p:nvSpPr>
          <p:cNvPr id="26" name="Rounded Rectangle 25"/>
          <p:cNvSpPr/>
          <p:nvPr/>
        </p:nvSpPr>
        <p:spPr>
          <a:xfrm>
            <a:off x="6141567" y="3931920"/>
            <a:ext cx="2788920" cy="210312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41567" y="4069080"/>
            <a:ext cx="2788920" cy="1005840"/>
          </a:xfrm>
          <a:prstGeom prst="rect">
            <a:avLst/>
          </a:prstGeom>
          <a:noFill/>
        </p:spPr>
        <p:txBody>
          <a:bodyPr wrap="square" lIns="45720" rIns="45720" tIns="18288" bIns="18288" anchor="t">
            <a:spAutoFit/>
          </a:bodyPr>
          <a:lstStyle/>
          <a:p>
            <a:pPr algn="ctr">
              <a:lnSpc>
                <a:spcPct val="120000"/>
              </a:lnSpc>
            </a:pPr>
            <a:r>
              <a:rPr sz="3800" b="1">
                <a:solidFill>
                  <a:srgbClr val="FFFFFF"/>
                </a:solidFill>
                <a:latin typeface="Calibri"/>
              </a:rPr>
              <a:t>3 Rollen</a:t>
            </a:r>
          </a:p>
        </p:txBody>
      </p:sp>
      <p:sp>
        <p:nvSpPr>
          <p:cNvPr id="28" name="TextBox 27"/>
          <p:cNvSpPr txBox="1"/>
          <p:nvPr/>
        </p:nvSpPr>
        <p:spPr>
          <a:xfrm>
            <a:off x="6141567" y="5120640"/>
            <a:ext cx="2788920" cy="731520"/>
          </a:xfrm>
          <a:prstGeom prst="rect">
            <a:avLst/>
          </a:prstGeom>
          <a:noFill/>
        </p:spPr>
        <p:txBody>
          <a:bodyPr wrap="square" lIns="45720" rIns="45720" tIns="18288" bIns="18288" anchor="t">
            <a:spAutoFit/>
          </a:bodyPr>
          <a:lstStyle/>
          <a:p>
            <a:pPr algn="ctr">
              <a:lnSpc>
                <a:spcPct val="120000"/>
              </a:lnSpc>
            </a:pPr>
            <a:r>
              <a:rPr sz="1500" b="0">
                <a:solidFill>
                  <a:srgbClr val="FFFFFF"/>
                </a:solidFill>
                <a:latin typeface="Calibri"/>
              </a:rPr>
              <a:t>RBAC Beveiligd</a:t>
            </a:r>
          </a:p>
        </p:txBody>
      </p:sp>
      <p:sp>
        <p:nvSpPr>
          <p:cNvPr id="29" name="Rounded Rectangle 28"/>
          <p:cNvSpPr/>
          <p:nvPr/>
        </p:nvSpPr>
        <p:spPr>
          <a:xfrm>
            <a:off x="9021927" y="3931920"/>
            <a:ext cx="2788920" cy="210312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21927" y="4069080"/>
            <a:ext cx="2788920" cy="1005840"/>
          </a:xfrm>
          <a:prstGeom prst="rect">
            <a:avLst/>
          </a:prstGeom>
          <a:noFill/>
        </p:spPr>
        <p:txBody>
          <a:bodyPr wrap="square" lIns="45720" rIns="45720" tIns="18288" bIns="18288" anchor="t">
            <a:spAutoFit/>
          </a:bodyPr>
          <a:lstStyle/>
          <a:p>
            <a:pPr algn="ctr">
              <a:lnSpc>
                <a:spcPct val="120000"/>
              </a:lnSpc>
            </a:pPr>
            <a:r>
              <a:rPr sz="3800" b="1">
                <a:solidFill>
                  <a:srgbClr val="FFFFFF"/>
                </a:solidFill>
                <a:latin typeface="Calibri"/>
              </a:rPr>
              <a:t>Full</a:t>
            </a:r>
          </a:p>
        </p:txBody>
      </p:sp>
      <p:sp>
        <p:nvSpPr>
          <p:cNvPr id="31" name="TextBox 30"/>
          <p:cNvSpPr txBox="1"/>
          <p:nvPr/>
        </p:nvSpPr>
        <p:spPr>
          <a:xfrm>
            <a:off x="9021927" y="5120640"/>
            <a:ext cx="2788920" cy="731520"/>
          </a:xfrm>
          <a:prstGeom prst="rect">
            <a:avLst/>
          </a:prstGeom>
          <a:noFill/>
        </p:spPr>
        <p:txBody>
          <a:bodyPr wrap="square" lIns="45720" rIns="45720" tIns="18288" bIns="18288" anchor="t">
            <a:spAutoFit/>
          </a:bodyPr>
          <a:lstStyle/>
          <a:p>
            <a:pPr algn="ctr">
              <a:lnSpc>
                <a:spcPct val="120000"/>
              </a:lnSpc>
            </a:pPr>
            <a:r>
              <a:rPr sz="1500" b="0">
                <a:solidFill>
                  <a:srgbClr val="FFFFFF"/>
                </a:solidFill>
                <a:latin typeface="Calibri"/>
              </a:rPr>
              <a:t>Audit Traceerbaar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Architectuur &amp; Tech Stack</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Hoe zit Nexus technisch in elkaar?</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4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20827" y="1280160"/>
            <a:ext cx="3794760" cy="51206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7987" y="1371600"/>
            <a:ext cx="3520440" cy="59436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987" y="1444752"/>
            <a:ext cx="3520440" cy="457200"/>
          </a:xfrm>
          <a:prstGeom prst="rect">
            <a:avLst/>
          </a:prstGeom>
          <a:noFill/>
        </p:spPr>
        <p:txBody>
          <a:bodyPr wrap="square" lIns="45720" rIns="45720" tIns="18288" bIns="18288" anchor="t">
            <a:spAutoFit/>
          </a:bodyPr>
          <a:lstStyle/>
          <a:p>
            <a:pPr algn="ctr">
              <a:lnSpc>
                <a:spcPct val="120000"/>
              </a:lnSpc>
            </a:pPr>
            <a:r>
              <a:rPr sz="1700" b="1">
                <a:solidFill>
                  <a:srgbClr val="FFFFFF"/>
                </a:solidFill>
                <a:latin typeface="Calibri"/>
              </a:rPr>
              <a:t>Frontend / UI</a:t>
            </a:r>
          </a:p>
        </p:txBody>
      </p:sp>
      <p:sp>
        <p:nvSpPr>
          <p:cNvPr id="15" name="TextBox 14"/>
          <p:cNvSpPr txBox="1"/>
          <p:nvPr/>
        </p:nvSpPr>
        <p:spPr>
          <a:xfrm>
            <a:off x="540867" y="2103120"/>
            <a:ext cx="3154680" cy="4114800"/>
          </a:xfrm>
          <a:prstGeom prst="rect">
            <a:avLst/>
          </a:prstGeom>
          <a:noFill/>
        </p:spPr>
        <p:txBody>
          <a:bodyPr wrap="square">
            <a:spAutoFit/>
          </a:bodyPr>
          <a:lstStyle/>
          <a:p>
            <a:pPr algn="l">
              <a:lnSpc>
                <a:spcPct val="135000"/>
              </a:lnSpc>
              <a:spcAft>
                <a:spcPts val="600"/>
              </a:spcAft>
            </a:pPr>
            <a:r>
              <a:rPr sz="1300" b="1">
                <a:solidFill>
                  <a:srgbClr val="1E3A5F"/>
                </a:solidFill>
                <a:latin typeface="Calibri"/>
              </a:rPr>
              <a:t>▸ </a:t>
            </a:r>
            <a:r>
              <a:rPr sz="1300">
                <a:solidFill>
                  <a:srgbClr val="1A1A1A"/>
                </a:solidFill>
                <a:latin typeface="Calibri"/>
              </a:rPr>
              <a:t>Next.js 14.2 (App Router)</a:t>
            </a:r>
          </a:p>
          <a:p>
            <a:pPr algn="l">
              <a:lnSpc>
                <a:spcPct val="135000"/>
              </a:lnSpc>
              <a:spcAft>
                <a:spcPts val="600"/>
              </a:spcAft>
            </a:pPr>
            <a:r>
              <a:rPr sz="1300" b="1">
                <a:solidFill>
                  <a:srgbClr val="1E3A5F"/>
                </a:solidFill>
                <a:latin typeface="Calibri"/>
              </a:rPr>
              <a:t>▸ </a:t>
            </a:r>
            <a:r>
              <a:rPr sz="1300">
                <a:solidFill>
                  <a:srgbClr val="1A1A1A"/>
                </a:solidFill>
                <a:latin typeface="Calibri"/>
              </a:rPr>
              <a:t>TypeScript 5.7 (strict mode)</a:t>
            </a:r>
          </a:p>
          <a:p>
            <a:pPr algn="l">
              <a:lnSpc>
                <a:spcPct val="135000"/>
              </a:lnSpc>
              <a:spcAft>
                <a:spcPts val="600"/>
              </a:spcAft>
            </a:pPr>
            <a:r>
              <a:rPr sz="1300" b="1">
                <a:solidFill>
                  <a:srgbClr val="1E3A5F"/>
                </a:solidFill>
                <a:latin typeface="Calibri"/>
              </a:rPr>
              <a:t>▸ </a:t>
            </a:r>
            <a:r>
              <a:rPr sz="1300">
                <a:solidFill>
                  <a:srgbClr val="1A1A1A"/>
                </a:solidFill>
                <a:latin typeface="Calibri"/>
              </a:rPr>
              <a:t>Tailwind CSS 3</a:t>
            </a:r>
          </a:p>
          <a:p>
            <a:pPr algn="l">
              <a:lnSpc>
                <a:spcPct val="135000"/>
              </a:lnSpc>
              <a:spcAft>
                <a:spcPts val="600"/>
              </a:spcAft>
            </a:pPr>
            <a:r>
              <a:rPr sz="1300" b="1">
                <a:solidFill>
                  <a:srgbClr val="1E3A5F"/>
                </a:solidFill>
                <a:latin typeface="Calibri"/>
              </a:rPr>
              <a:t>▸ </a:t>
            </a:r>
            <a:r>
              <a:rPr sz="1300">
                <a:solidFill>
                  <a:srgbClr val="1A1A1A"/>
                </a:solidFill>
                <a:latin typeface="Calibri"/>
              </a:rPr>
              <a:t>shadcn/ui + Radix UI</a:t>
            </a:r>
          </a:p>
          <a:p>
            <a:pPr algn="l">
              <a:lnSpc>
                <a:spcPct val="135000"/>
              </a:lnSpc>
              <a:spcAft>
                <a:spcPts val="600"/>
              </a:spcAft>
            </a:pPr>
            <a:r>
              <a:rPr sz="1300" b="1">
                <a:solidFill>
                  <a:srgbClr val="1E3A5F"/>
                </a:solidFill>
                <a:latin typeface="Calibri"/>
              </a:rPr>
              <a:t>▸ </a:t>
            </a:r>
            <a:r>
              <a:rPr sz="1300">
                <a:solidFill>
                  <a:srgbClr val="1A1A1A"/>
                </a:solidFill>
                <a:latin typeface="Calibri"/>
              </a:rPr>
              <a:t>TanStack DataTable v8</a:t>
            </a:r>
          </a:p>
          <a:p>
            <a:pPr algn="l">
              <a:lnSpc>
                <a:spcPct val="135000"/>
              </a:lnSpc>
              <a:spcAft>
                <a:spcPts val="600"/>
              </a:spcAft>
            </a:pPr>
            <a:r>
              <a:rPr sz="1300" b="1">
                <a:solidFill>
                  <a:srgbClr val="1E3A5F"/>
                </a:solidFill>
                <a:latin typeface="Calibri"/>
              </a:rPr>
              <a:t>▸ </a:t>
            </a:r>
            <a:r>
              <a:rPr sz="1300">
                <a:solidFill>
                  <a:srgbClr val="1A1A1A"/>
                </a:solidFill>
                <a:latin typeface="Calibri"/>
              </a:rPr>
              <a:t>React Server Components</a:t>
            </a:r>
          </a:p>
          <a:p>
            <a:pPr algn="l">
              <a:lnSpc>
                <a:spcPct val="135000"/>
              </a:lnSpc>
              <a:spcAft>
                <a:spcPts val="600"/>
              </a:spcAft>
            </a:pPr>
            <a:r>
              <a:rPr sz="1300" b="1">
                <a:solidFill>
                  <a:srgbClr val="1E3A5F"/>
                </a:solidFill>
                <a:latin typeface="Calibri"/>
              </a:rPr>
              <a:t>▸ </a:t>
            </a:r>
            <a:r>
              <a:rPr sz="1300">
                <a:solidFill>
                  <a:srgbClr val="1A1A1A"/>
                </a:solidFill>
                <a:latin typeface="Calibri"/>
              </a:rPr>
              <a:t>Server Actions (beveiligd)</a:t>
            </a:r>
          </a:p>
          <a:p>
            <a:pPr algn="l">
              <a:lnSpc>
                <a:spcPct val="135000"/>
              </a:lnSpc>
              <a:spcAft>
                <a:spcPts val="600"/>
              </a:spcAft>
            </a:pPr>
            <a:r>
              <a:rPr sz="1300" b="1">
                <a:solidFill>
                  <a:srgbClr val="1E3A5F"/>
                </a:solidFill>
                <a:latin typeface="Calibri"/>
              </a:rPr>
              <a:t>▸ </a:t>
            </a:r>
            <a:r>
              <a:rPr sz="1300">
                <a:solidFill>
                  <a:srgbClr val="1A1A1A"/>
                </a:solidFill>
                <a:latin typeface="Calibri"/>
              </a:rPr>
              <a:t>Sonner notificaties</a:t>
            </a:r>
          </a:p>
        </p:txBody>
      </p:sp>
      <p:sp>
        <p:nvSpPr>
          <p:cNvPr id="16" name="Rounded Rectangle 15"/>
          <p:cNvSpPr/>
          <p:nvPr/>
        </p:nvSpPr>
        <p:spPr>
          <a:xfrm>
            <a:off x="4198467" y="1280160"/>
            <a:ext cx="3794760" cy="51206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35627" y="1371600"/>
            <a:ext cx="3520440" cy="59436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35627" y="1444752"/>
            <a:ext cx="3520440" cy="457200"/>
          </a:xfrm>
          <a:prstGeom prst="rect">
            <a:avLst/>
          </a:prstGeom>
          <a:noFill/>
        </p:spPr>
        <p:txBody>
          <a:bodyPr wrap="square" lIns="45720" rIns="45720" tIns="18288" bIns="18288" anchor="t">
            <a:spAutoFit/>
          </a:bodyPr>
          <a:lstStyle/>
          <a:p>
            <a:pPr algn="ctr">
              <a:lnSpc>
                <a:spcPct val="120000"/>
              </a:lnSpc>
            </a:pPr>
            <a:r>
              <a:rPr sz="1700" b="1">
                <a:solidFill>
                  <a:srgbClr val="FFFFFF"/>
                </a:solidFill>
                <a:latin typeface="Calibri"/>
              </a:rPr>
              <a:t>Backend / Data</a:t>
            </a:r>
          </a:p>
        </p:txBody>
      </p:sp>
      <p:sp>
        <p:nvSpPr>
          <p:cNvPr id="19" name="TextBox 18"/>
          <p:cNvSpPr txBox="1"/>
          <p:nvPr/>
        </p:nvSpPr>
        <p:spPr>
          <a:xfrm>
            <a:off x="4518507" y="2103120"/>
            <a:ext cx="3154680" cy="4114800"/>
          </a:xfrm>
          <a:prstGeom prst="rect">
            <a:avLst/>
          </a:prstGeom>
          <a:noFill/>
        </p:spPr>
        <p:txBody>
          <a:bodyPr wrap="square">
            <a:spAutoFit/>
          </a:bodyPr>
          <a:lstStyle/>
          <a:p>
            <a:pPr algn="l">
              <a:lnSpc>
                <a:spcPct val="135000"/>
              </a:lnSpc>
              <a:spcAft>
                <a:spcPts val="600"/>
              </a:spcAft>
            </a:pPr>
            <a:r>
              <a:rPr sz="1300" b="1">
                <a:solidFill>
                  <a:srgbClr val="2E86C1"/>
                </a:solidFill>
                <a:latin typeface="Calibri"/>
              </a:rPr>
              <a:t>▸ </a:t>
            </a:r>
            <a:r>
              <a:rPr sz="1300">
                <a:solidFill>
                  <a:srgbClr val="1A1A1A"/>
                </a:solidFill>
                <a:latin typeface="Calibri"/>
              </a:rPr>
              <a:t>PostgreSQL 16 database</a:t>
            </a:r>
          </a:p>
          <a:p>
            <a:pPr algn="l">
              <a:lnSpc>
                <a:spcPct val="135000"/>
              </a:lnSpc>
              <a:spcAft>
                <a:spcPts val="600"/>
              </a:spcAft>
            </a:pPr>
            <a:r>
              <a:rPr sz="1300" b="1">
                <a:solidFill>
                  <a:srgbClr val="2E86C1"/>
                </a:solidFill>
                <a:latin typeface="Calibri"/>
              </a:rPr>
              <a:t>▸ </a:t>
            </a:r>
            <a:r>
              <a:rPr sz="1300">
                <a:solidFill>
                  <a:srgbClr val="1A1A1A"/>
                </a:solidFill>
                <a:latin typeface="Calibri"/>
              </a:rPr>
              <a:t>Prisma 5 ORM (client gegenereerd)</a:t>
            </a:r>
          </a:p>
          <a:p>
            <a:pPr algn="l">
              <a:lnSpc>
                <a:spcPct val="135000"/>
              </a:lnSpc>
              <a:spcAft>
                <a:spcPts val="600"/>
              </a:spcAft>
            </a:pPr>
            <a:r>
              <a:rPr sz="1300" b="1">
                <a:solidFill>
                  <a:srgbClr val="2E86C1"/>
                </a:solidFill>
                <a:latin typeface="Calibri"/>
              </a:rPr>
              <a:t>▸ </a:t>
            </a:r>
            <a:r>
              <a:rPr sz="1300">
                <a:solidFill>
                  <a:srgbClr val="1A1A1A"/>
                </a:solidFill>
                <a:latin typeface="Calibri"/>
              </a:rPr>
              <a:t>Auth.js V5 (NextAuth 5)</a:t>
            </a:r>
          </a:p>
          <a:p>
            <a:pPr algn="l">
              <a:lnSpc>
                <a:spcPct val="135000"/>
              </a:lnSpc>
              <a:spcAft>
                <a:spcPts val="600"/>
              </a:spcAft>
            </a:pPr>
            <a:r>
              <a:rPr sz="1300" b="1">
                <a:solidFill>
                  <a:srgbClr val="2E86C1"/>
                </a:solidFill>
                <a:latin typeface="Calibri"/>
              </a:rPr>
              <a:t>▸ </a:t>
            </a:r>
            <a:r>
              <a:rPr sz="1300">
                <a:solidFill>
                  <a:srgbClr val="1A1A1A"/>
                </a:solidFill>
                <a:latin typeface="Calibri"/>
              </a:rPr>
              <a:t>Zod validatie (incl. preprocess)</a:t>
            </a:r>
          </a:p>
          <a:p>
            <a:pPr algn="l">
              <a:lnSpc>
                <a:spcPct val="135000"/>
              </a:lnSpc>
              <a:spcAft>
                <a:spcPts val="600"/>
              </a:spcAft>
            </a:pPr>
            <a:r>
              <a:rPr sz="1300" b="1">
                <a:solidFill>
                  <a:srgbClr val="2E86C1"/>
                </a:solidFill>
                <a:latin typeface="Calibri"/>
              </a:rPr>
              <a:t>▸ </a:t>
            </a:r>
            <a:r>
              <a:rPr sz="1300">
                <a:solidFill>
                  <a:srgbClr val="1A1A1A"/>
                </a:solidFill>
                <a:latin typeface="Calibri"/>
              </a:rPr>
              <a:t>BCryptjs (cost factor 12)</a:t>
            </a:r>
          </a:p>
          <a:p>
            <a:pPr algn="l">
              <a:lnSpc>
                <a:spcPct val="135000"/>
              </a:lnSpc>
              <a:spcAft>
                <a:spcPts val="600"/>
              </a:spcAft>
            </a:pPr>
            <a:r>
              <a:rPr sz="1300" b="1">
                <a:solidFill>
                  <a:srgbClr val="2E86C1"/>
                </a:solidFill>
                <a:latin typeface="Calibri"/>
              </a:rPr>
              <a:t>▸ </a:t>
            </a:r>
            <a:r>
              <a:rPr sz="1300">
                <a:solidFill>
                  <a:srgbClr val="1A1A1A"/>
                </a:solidFill>
                <a:latin typeface="Calibri"/>
              </a:rPr>
              <a:t>Transactionele services</a:t>
            </a:r>
          </a:p>
          <a:p>
            <a:pPr algn="l">
              <a:lnSpc>
                <a:spcPct val="135000"/>
              </a:lnSpc>
              <a:spcAft>
                <a:spcPts val="600"/>
              </a:spcAft>
            </a:pPr>
            <a:r>
              <a:rPr sz="1300" b="1">
                <a:solidFill>
                  <a:srgbClr val="2E86C1"/>
                </a:solidFill>
                <a:latin typeface="Calibri"/>
              </a:rPr>
              <a:t>▸ </a:t>
            </a:r>
            <a:r>
              <a:rPr sz="1300">
                <a:solidFill>
                  <a:srgbClr val="1A1A1A"/>
                </a:solidFill>
                <a:latin typeface="Calibri"/>
              </a:rPr>
              <a:t>Automatische AuditLogs</a:t>
            </a:r>
          </a:p>
          <a:p>
            <a:pPr algn="l">
              <a:lnSpc>
                <a:spcPct val="135000"/>
              </a:lnSpc>
              <a:spcAft>
                <a:spcPts val="600"/>
              </a:spcAft>
            </a:pPr>
            <a:r>
              <a:rPr sz="1300" b="1">
                <a:solidFill>
                  <a:srgbClr val="2E86C1"/>
                </a:solidFill>
                <a:latin typeface="Calibri"/>
              </a:rPr>
              <a:t>▸ </a:t>
            </a:r>
            <a:r>
              <a:rPr sz="1300">
                <a:solidFill>
                  <a:srgbClr val="1A1A1A"/>
                </a:solidFill>
                <a:latin typeface="Calibri"/>
              </a:rPr>
              <a:t>Soft-delete (deletedAt)</a:t>
            </a:r>
          </a:p>
        </p:txBody>
      </p:sp>
      <p:sp>
        <p:nvSpPr>
          <p:cNvPr id="20" name="Rounded Rectangle 19"/>
          <p:cNvSpPr/>
          <p:nvPr/>
        </p:nvSpPr>
        <p:spPr>
          <a:xfrm>
            <a:off x="8176107" y="1280160"/>
            <a:ext cx="3794760" cy="51206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313267" y="1371600"/>
            <a:ext cx="3520440" cy="59436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3267" y="1444752"/>
            <a:ext cx="3520440" cy="457200"/>
          </a:xfrm>
          <a:prstGeom prst="rect">
            <a:avLst/>
          </a:prstGeom>
          <a:noFill/>
        </p:spPr>
        <p:txBody>
          <a:bodyPr wrap="square" lIns="45720" rIns="45720" tIns="18288" bIns="18288" anchor="t">
            <a:spAutoFit/>
          </a:bodyPr>
          <a:lstStyle/>
          <a:p>
            <a:pPr algn="ctr">
              <a:lnSpc>
                <a:spcPct val="120000"/>
              </a:lnSpc>
            </a:pPr>
            <a:r>
              <a:rPr sz="1700" b="1">
                <a:solidFill>
                  <a:srgbClr val="FFFFFF"/>
                </a:solidFill>
                <a:latin typeface="Calibri"/>
              </a:rPr>
              <a:t>Deployment / Hosting</a:t>
            </a:r>
          </a:p>
        </p:txBody>
      </p:sp>
      <p:sp>
        <p:nvSpPr>
          <p:cNvPr id="23" name="TextBox 22"/>
          <p:cNvSpPr txBox="1"/>
          <p:nvPr/>
        </p:nvSpPr>
        <p:spPr>
          <a:xfrm>
            <a:off x="8496147" y="2103120"/>
            <a:ext cx="3154680" cy="4114800"/>
          </a:xfrm>
          <a:prstGeom prst="rect">
            <a:avLst/>
          </a:prstGeom>
          <a:noFill/>
        </p:spPr>
        <p:txBody>
          <a:bodyPr wrap="square">
            <a:spAutoFit/>
          </a:bodyPr>
          <a:lstStyle/>
          <a:p>
            <a:pPr algn="l">
              <a:lnSpc>
                <a:spcPct val="135000"/>
              </a:lnSpc>
              <a:spcAft>
                <a:spcPts val="600"/>
              </a:spcAft>
            </a:pPr>
            <a:r>
              <a:rPr sz="1300" b="1">
                <a:solidFill>
                  <a:srgbClr val="E86C00"/>
                </a:solidFill>
                <a:latin typeface="Calibri"/>
              </a:rPr>
              <a:t>▸ </a:t>
            </a:r>
            <a:r>
              <a:rPr sz="1300">
                <a:solidFill>
                  <a:srgbClr val="1A1A1A"/>
                </a:solidFill>
                <a:latin typeface="Calibri"/>
              </a:rPr>
              <a:t>Docker multi-stage build</a:t>
            </a:r>
          </a:p>
          <a:p>
            <a:pPr algn="l">
              <a:lnSpc>
                <a:spcPct val="135000"/>
              </a:lnSpc>
              <a:spcAft>
                <a:spcPts val="600"/>
              </a:spcAft>
            </a:pPr>
            <a:r>
              <a:rPr sz="1300" b="1">
                <a:solidFill>
                  <a:srgbClr val="E86C00"/>
                </a:solidFill>
                <a:latin typeface="Calibri"/>
              </a:rPr>
              <a:t>▸ </a:t>
            </a:r>
            <a:r>
              <a:rPr sz="1300">
                <a:solidFill>
                  <a:srgbClr val="1A1A1A"/>
                </a:solidFill>
                <a:latin typeface="Calibri"/>
              </a:rPr>
              <a:t>Next.js standalone output</a:t>
            </a:r>
          </a:p>
          <a:p>
            <a:pPr algn="l">
              <a:lnSpc>
                <a:spcPct val="135000"/>
              </a:lnSpc>
              <a:spcAft>
                <a:spcPts val="600"/>
              </a:spcAft>
            </a:pPr>
            <a:r>
              <a:rPr sz="1300" b="1">
                <a:solidFill>
                  <a:srgbClr val="E86C00"/>
                </a:solidFill>
                <a:latin typeface="Calibri"/>
              </a:rPr>
              <a:t>▸ </a:t>
            </a:r>
            <a:r>
              <a:rPr sz="1300">
                <a:solidFill>
                  <a:srgbClr val="1A1A1A"/>
                </a:solidFill>
                <a:latin typeface="Calibri"/>
              </a:rPr>
              <a:t>Docker Compose stack (3 services)</a:t>
            </a:r>
          </a:p>
          <a:p>
            <a:pPr algn="l">
              <a:lnSpc>
                <a:spcPct val="135000"/>
              </a:lnSpc>
              <a:spcAft>
                <a:spcPts val="600"/>
              </a:spcAft>
            </a:pPr>
            <a:r>
              <a:rPr sz="1300" b="1">
                <a:solidFill>
                  <a:srgbClr val="E86C00"/>
                </a:solidFill>
                <a:latin typeface="Calibri"/>
              </a:rPr>
              <a:t>▸ </a:t>
            </a:r>
            <a:r>
              <a:rPr sz="1300">
                <a:solidFill>
                  <a:srgbClr val="1A1A1A"/>
                </a:solidFill>
                <a:latin typeface="Calibri"/>
              </a:rPr>
              <a:t>Caddy 2 (reverse proxy)</a:t>
            </a:r>
          </a:p>
          <a:p>
            <a:pPr algn="l">
              <a:lnSpc>
                <a:spcPct val="135000"/>
              </a:lnSpc>
              <a:spcAft>
                <a:spcPts val="600"/>
              </a:spcAft>
            </a:pPr>
            <a:r>
              <a:rPr sz="1300" b="1">
                <a:solidFill>
                  <a:srgbClr val="E86C00"/>
                </a:solidFill>
                <a:latin typeface="Calibri"/>
              </a:rPr>
              <a:t>▸ </a:t>
            </a:r>
            <a:r>
              <a:rPr sz="1300">
                <a:solidFill>
                  <a:srgbClr val="1A1A1A"/>
                </a:solidFill>
                <a:latin typeface="Calibri"/>
              </a:rPr>
              <a:t>Let's Encrypt HTTPS (auto)</a:t>
            </a:r>
          </a:p>
          <a:p>
            <a:pPr algn="l">
              <a:lnSpc>
                <a:spcPct val="135000"/>
              </a:lnSpc>
              <a:spcAft>
                <a:spcPts val="600"/>
              </a:spcAft>
            </a:pPr>
            <a:r>
              <a:rPr sz="1300" b="1">
                <a:solidFill>
                  <a:srgbClr val="E86C00"/>
                </a:solidFill>
                <a:latin typeface="Calibri"/>
              </a:rPr>
              <a:t>▸ </a:t>
            </a:r>
            <a:r>
              <a:rPr sz="1300">
                <a:solidFill>
                  <a:srgbClr val="1A1A1A"/>
                </a:solidFill>
                <a:latin typeface="Calibri"/>
              </a:rPr>
              <a:t>Linux VPS (Ubuntu LTS)</a:t>
            </a:r>
          </a:p>
          <a:p>
            <a:pPr algn="l">
              <a:lnSpc>
                <a:spcPct val="135000"/>
              </a:lnSpc>
              <a:spcAft>
                <a:spcPts val="600"/>
              </a:spcAft>
            </a:pPr>
            <a:r>
              <a:rPr sz="1300" b="1">
                <a:solidFill>
                  <a:srgbClr val="E86C00"/>
                </a:solidFill>
                <a:latin typeface="Calibri"/>
              </a:rPr>
              <a:t>▸ </a:t>
            </a:r>
            <a:r>
              <a:rPr sz="1300">
                <a:solidFill>
                  <a:srgbClr val="1A1A1A"/>
                </a:solidFill>
                <a:latin typeface="Calibri"/>
              </a:rPr>
              <a:t>Named volumes voor DB data</a:t>
            </a:r>
          </a:p>
          <a:p>
            <a:pPr algn="l">
              <a:lnSpc>
                <a:spcPct val="135000"/>
              </a:lnSpc>
              <a:spcAft>
                <a:spcPts val="600"/>
              </a:spcAft>
            </a:pPr>
            <a:r>
              <a:rPr sz="1300" b="1">
                <a:solidFill>
                  <a:srgbClr val="E86C00"/>
                </a:solidFill>
                <a:latin typeface="Calibri"/>
              </a:rPr>
              <a:t>▸ </a:t>
            </a:r>
            <a:r>
              <a:rPr sz="1300">
                <a:solidFill>
                  <a:srgbClr val="1A1A1A"/>
                </a:solidFill>
                <a:latin typeface="Calibri"/>
              </a:rPr>
              <a:t>Non-root container gebruiker</a:t>
            </a:r>
          </a:p>
        </p:txBody>
      </p:sp>
      <p:sp>
        <p:nvSpPr>
          <p:cNvPr id="24" name="TextBox 23"/>
          <p:cNvSpPr txBox="1"/>
          <p:nvPr/>
        </p:nvSpPr>
        <p:spPr>
          <a:xfrm>
            <a:off x="457200" y="6172200"/>
            <a:ext cx="11430000" cy="365760"/>
          </a:xfrm>
          <a:prstGeom prst="rect">
            <a:avLst/>
          </a:prstGeom>
          <a:noFill/>
        </p:spPr>
        <p:txBody>
          <a:bodyPr wrap="square" lIns="45720" rIns="45720" tIns="18288" bIns="18288" anchor="t">
            <a:spAutoFit/>
          </a:bodyPr>
          <a:lstStyle/>
          <a:p>
            <a:pPr algn="ctr">
              <a:lnSpc>
                <a:spcPct val="120000"/>
              </a:lnSpc>
            </a:pPr>
            <a:r>
              <a:rPr sz="1100" b="0">
                <a:solidFill>
                  <a:srgbClr val="555555"/>
                </a:solidFill>
                <a:latin typeface="Calibri"/>
              </a:rPr>
              <a:t>↗️ Data-flow: Browser → Caddy (HTTPS) → Next.js (Server Actions) → Prisma → PostgreSQL  •  Auth via Auth.js V5  •  SSL: Let's Encrypt (auto)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Gebruikersrollen &amp; Rechten</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Role-Based Access Control (RBAC) – wie mag wat?</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5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20827" y="1280160"/>
            <a:ext cx="3794760" cy="7315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0827" y="1280160"/>
            <a:ext cx="3794760" cy="731520"/>
          </a:xfrm>
          <a:prstGeom prst="rect">
            <a:avLst/>
          </a:prstGeom>
          <a:noFill/>
        </p:spPr>
        <p:txBody>
          <a:bodyPr wrap="square" lIns="45720" rIns="45720" tIns="18288" bIns="18288" anchor="ctr">
            <a:spAutoFit/>
          </a:bodyPr>
          <a:lstStyle/>
          <a:p>
            <a:pPr algn="ctr">
              <a:lnSpc>
                <a:spcPct val="120000"/>
              </a:lnSpc>
            </a:pPr>
            <a:r>
              <a:rPr sz="2400" b="1">
                <a:solidFill>
                  <a:srgbClr val="FFFFFF"/>
                </a:solidFill>
                <a:latin typeface="Calibri"/>
              </a:rPr>
              <a:t>ADMIN</a:t>
            </a:r>
          </a:p>
        </p:txBody>
      </p:sp>
      <p:sp>
        <p:nvSpPr>
          <p:cNvPr id="14" name="Rounded Rectangle 13"/>
          <p:cNvSpPr/>
          <p:nvPr/>
        </p:nvSpPr>
        <p:spPr>
          <a:xfrm>
            <a:off x="220827" y="2103120"/>
            <a:ext cx="3794760" cy="42062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5147" y="2286000"/>
            <a:ext cx="3246120" cy="3931920"/>
          </a:xfrm>
          <a:prstGeom prst="rect">
            <a:avLst/>
          </a:prstGeom>
          <a:noFill/>
        </p:spPr>
        <p:txBody>
          <a:bodyPr wrap="square">
            <a:spAutoFit/>
          </a:bodyPr>
          <a:lstStyle/>
          <a:p>
            <a:pPr algn="l">
              <a:lnSpc>
                <a:spcPct val="130000"/>
              </a:lnSpc>
              <a:spcAft>
                <a:spcPts val="600"/>
              </a:spcAft>
            </a:pPr>
            <a:r>
              <a:rPr sz="1300" b="1">
                <a:solidFill>
                  <a:srgbClr val="1E3A5F"/>
                </a:solidFill>
                <a:latin typeface="Calibri"/>
              </a:rPr>
              <a:t>▸ </a:t>
            </a:r>
            <a:r>
              <a:rPr sz="1300">
                <a:solidFill>
                  <a:srgbClr val="1A1A1A"/>
                </a:solidFill>
                <a:latin typeface="Calibri"/>
              </a:rPr>
              <a:t>Volledige CRUD op alle modules</a:t>
            </a:r>
          </a:p>
          <a:p>
            <a:pPr algn="l">
              <a:lnSpc>
                <a:spcPct val="130000"/>
              </a:lnSpc>
              <a:spcAft>
                <a:spcPts val="600"/>
              </a:spcAft>
            </a:pPr>
            <a:r>
              <a:rPr sz="1300" b="1">
                <a:solidFill>
                  <a:srgbClr val="1E3A5F"/>
                </a:solidFill>
                <a:latin typeface="Calibri"/>
              </a:rPr>
              <a:t>▸ </a:t>
            </a:r>
            <a:r>
              <a:rPr sz="1300">
                <a:solidFill>
                  <a:srgbClr val="1A1A1A"/>
                </a:solidFill>
                <a:latin typeface="Calibri"/>
              </a:rPr>
              <a:t>Gebruikers beheren (uitnodigen)</a:t>
            </a:r>
          </a:p>
          <a:p>
            <a:pPr algn="l">
              <a:lnSpc>
                <a:spcPct val="130000"/>
              </a:lnSpc>
              <a:spcAft>
                <a:spcPts val="600"/>
              </a:spcAft>
            </a:pPr>
            <a:r>
              <a:rPr sz="1300" b="1">
                <a:solidFill>
                  <a:srgbClr val="1E3A5F"/>
                </a:solidFill>
                <a:latin typeface="Calibri"/>
              </a:rPr>
              <a:t>▸ </a:t>
            </a:r>
            <a:r>
              <a:rPr sz="1300">
                <a:solidFill>
                  <a:srgbClr val="1A1A1A"/>
                </a:solidFill>
                <a:latin typeface="Calibri"/>
              </a:rPr>
              <a:t>Instellingen wijzigen</a:t>
            </a:r>
          </a:p>
          <a:p>
            <a:pPr algn="l">
              <a:lnSpc>
                <a:spcPct val="130000"/>
              </a:lnSpc>
              <a:spcAft>
                <a:spcPts val="600"/>
              </a:spcAft>
            </a:pPr>
            <a:r>
              <a:rPr sz="1300" b="1">
                <a:solidFill>
                  <a:srgbClr val="1E3A5F"/>
                </a:solidFill>
                <a:latin typeface="Calibri"/>
              </a:rPr>
              <a:t>▸ </a:t>
            </a:r>
            <a:r>
              <a:rPr sz="1300">
                <a:solidFill>
                  <a:srgbClr val="1A1A1A"/>
                </a:solidFill>
                <a:latin typeface="Calibri"/>
              </a:rPr>
              <a:t>Facturatie: genereren &amp; beheren</a:t>
            </a:r>
          </a:p>
          <a:p>
            <a:pPr algn="l">
              <a:lnSpc>
                <a:spcPct val="130000"/>
              </a:lnSpc>
              <a:spcAft>
                <a:spcPts val="600"/>
              </a:spcAft>
            </a:pPr>
            <a:r>
              <a:rPr sz="1300" b="1">
                <a:solidFill>
                  <a:srgbClr val="1E3A5F"/>
                </a:solidFill>
                <a:latin typeface="Calibri"/>
              </a:rPr>
              <a:t>▸ </a:t>
            </a:r>
            <a:r>
              <a:rPr sz="1300">
                <a:solidFill>
                  <a:srgbClr val="1A1A1A"/>
                </a:solidFill>
                <a:latin typeface="Calibri"/>
              </a:rPr>
              <a:t>Override prijzen (producten/abonnementen)</a:t>
            </a:r>
          </a:p>
          <a:p>
            <a:pPr algn="l">
              <a:lnSpc>
                <a:spcPct val="130000"/>
              </a:lnSpc>
              <a:spcAft>
                <a:spcPts val="600"/>
              </a:spcAft>
            </a:pPr>
            <a:r>
              <a:rPr sz="1300" b="1">
                <a:solidFill>
                  <a:srgbClr val="1E3A5F"/>
                </a:solidFill>
                <a:latin typeface="Calibri"/>
              </a:rPr>
              <a:t>▸ </a:t>
            </a:r>
            <a:r>
              <a:rPr sz="1300">
                <a:solidFill>
                  <a:srgbClr val="1A1A1A"/>
                </a:solidFill>
                <a:latin typeface="Calibri"/>
              </a:rPr>
              <a:t>Verwijderen (soft-delete) van data</a:t>
            </a:r>
          </a:p>
          <a:p>
            <a:pPr algn="l">
              <a:lnSpc>
                <a:spcPct val="130000"/>
              </a:lnSpc>
              <a:spcAft>
                <a:spcPts val="600"/>
              </a:spcAft>
            </a:pPr>
            <a:r>
              <a:rPr sz="1300" b="1">
                <a:solidFill>
                  <a:srgbClr val="1E3A5F"/>
                </a:solidFill>
                <a:latin typeface="Calibri"/>
              </a:rPr>
              <a:t>▸ </a:t>
            </a:r>
            <a:r>
              <a:rPr sz="1300">
                <a:solidFill>
                  <a:srgbClr val="1A1A1A"/>
                </a:solidFill>
                <a:latin typeface="Calibri"/>
              </a:rPr>
              <a:t>Wizard activeren &amp; afmaken</a:t>
            </a:r>
          </a:p>
          <a:p>
            <a:pPr algn="l">
              <a:lnSpc>
                <a:spcPct val="130000"/>
              </a:lnSpc>
              <a:spcAft>
                <a:spcPts val="600"/>
              </a:spcAft>
            </a:pPr>
            <a:r>
              <a:rPr sz="1300" b="1">
                <a:solidFill>
                  <a:srgbClr val="1E3A5F"/>
                </a:solidFill>
                <a:latin typeface="Calibri"/>
              </a:rPr>
              <a:t>▸ </a:t>
            </a:r>
            <a:r>
              <a:rPr sz="1300">
                <a:solidFill>
                  <a:srgbClr val="1A1A1A"/>
                </a:solidFill>
                <a:latin typeface="Calibri"/>
              </a:rPr>
              <a:t>CSV Import &amp; Export alles</a:t>
            </a:r>
          </a:p>
        </p:txBody>
      </p:sp>
      <p:sp>
        <p:nvSpPr>
          <p:cNvPr id="16" name="Rounded Rectangle 15"/>
          <p:cNvSpPr/>
          <p:nvPr/>
        </p:nvSpPr>
        <p:spPr>
          <a:xfrm>
            <a:off x="4198467" y="1280160"/>
            <a:ext cx="3794760" cy="73152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98467" y="1280160"/>
            <a:ext cx="3794760" cy="731520"/>
          </a:xfrm>
          <a:prstGeom prst="rect">
            <a:avLst/>
          </a:prstGeom>
          <a:noFill/>
        </p:spPr>
        <p:txBody>
          <a:bodyPr wrap="square" lIns="45720" rIns="45720" tIns="18288" bIns="18288" anchor="ctr">
            <a:spAutoFit/>
          </a:bodyPr>
          <a:lstStyle/>
          <a:p>
            <a:pPr algn="ctr">
              <a:lnSpc>
                <a:spcPct val="120000"/>
              </a:lnSpc>
            </a:pPr>
            <a:r>
              <a:rPr sz="2400" b="1">
                <a:solidFill>
                  <a:srgbClr val="FFFFFF"/>
                </a:solidFill>
                <a:latin typeface="Calibri"/>
              </a:rPr>
              <a:t>EMPLOYEE</a:t>
            </a:r>
          </a:p>
        </p:txBody>
      </p:sp>
      <p:sp>
        <p:nvSpPr>
          <p:cNvPr id="18" name="Rounded Rectangle 17"/>
          <p:cNvSpPr/>
          <p:nvPr/>
        </p:nvSpPr>
        <p:spPr>
          <a:xfrm>
            <a:off x="4198467" y="2103120"/>
            <a:ext cx="3794760" cy="42062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72787" y="2286000"/>
            <a:ext cx="3246120" cy="3931920"/>
          </a:xfrm>
          <a:prstGeom prst="rect">
            <a:avLst/>
          </a:prstGeom>
          <a:noFill/>
        </p:spPr>
        <p:txBody>
          <a:bodyPr wrap="square">
            <a:spAutoFit/>
          </a:bodyPr>
          <a:lstStyle/>
          <a:p>
            <a:pPr algn="l">
              <a:lnSpc>
                <a:spcPct val="130000"/>
              </a:lnSpc>
              <a:spcAft>
                <a:spcPts val="600"/>
              </a:spcAft>
            </a:pPr>
            <a:r>
              <a:rPr sz="1300" b="1">
                <a:solidFill>
                  <a:srgbClr val="2E86C1"/>
                </a:solidFill>
                <a:latin typeface="Calibri"/>
              </a:rPr>
              <a:t>▸ </a:t>
            </a:r>
            <a:r>
              <a:rPr sz="1300">
                <a:solidFill>
                  <a:srgbClr val="1A1A1A"/>
                </a:solidFill>
                <a:latin typeface="Calibri"/>
              </a:rPr>
              <a:t>CRUD op Klanten, Trackers, SIMs</a:t>
            </a:r>
          </a:p>
          <a:p>
            <a:pPr algn="l">
              <a:lnSpc>
                <a:spcPct val="130000"/>
              </a:lnSpc>
              <a:spcAft>
                <a:spcPts val="600"/>
              </a:spcAft>
            </a:pPr>
            <a:r>
              <a:rPr sz="1300" b="1">
                <a:solidFill>
                  <a:srgbClr val="2E86C1"/>
                </a:solidFill>
                <a:latin typeface="Calibri"/>
              </a:rPr>
              <a:t>▸ </a:t>
            </a:r>
            <a:r>
              <a:rPr sz="1300">
                <a:solidFill>
                  <a:srgbClr val="1A1A1A"/>
                </a:solidFill>
                <a:latin typeface="Calibri"/>
              </a:rPr>
              <a:t>CRUD op Voertuigen &amp; Producten</a:t>
            </a:r>
          </a:p>
          <a:p>
            <a:pPr algn="l">
              <a:lnSpc>
                <a:spcPct val="130000"/>
              </a:lnSpc>
              <a:spcAft>
                <a:spcPts val="600"/>
              </a:spcAft>
            </a:pPr>
            <a:r>
              <a:rPr sz="1300" b="1">
                <a:solidFill>
                  <a:srgbClr val="2E86C1"/>
                </a:solidFill>
                <a:latin typeface="Calibri"/>
              </a:rPr>
              <a:t>▸ </a:t>
            </a:r>
            <a:r>
              <a:rPr sz="1300">
                <a:solidFill>
                  <a:srgbClr val="1A1A1A"/>
                </a:solidFill>
                <a:latin typeface="Calibri"/>
              </a:rPr>
              <a:t>Abonnementen aanmaken/wijzigen</a:t>
            </a:r>
          </a:p>
          <a:p>
            <a:pPr algn="l">
              <a:lnSpc>
                <a:spcPct val="130000"/>
              </a:lnSpc>
              <a:spcAft>
                <a:spcPts val="600"/>
              </a:spcAft>
            </a:pPr>
            <a:r>
              <a:rPr sz="1300" b="1">
                <a:solidFill>
                  <a:srgbClr val="2E86C1"/>
                </a:solidFill>
                <a:latin typeface="Calibri"/>
              </a:rPr>
              <a:t>▸ </a:t>
            </a:r>
            <a:r>
              <a:rPr sz="1300">
                <a:solidFill>
                  <a:srgbClr val="1A1A1A"/>
                </a:solidFill>
                <a:latin typeface="Calibri"/>
              </a:rPr>
              <a:t>Wizard volgen en activeren</a:t>
            </a:r>
          </a:p>
          <a:p>
            <a:pPr algn="l">
              <a:lnSpc>
                <a:spcPct val="130000"/>
              </a:lnSpc>
              <a:spcAft>
                <a:spcPts val="600"/>
              </a:spcAft>
            </a:pPr>
            <a:r>
              <a:rPr sz="1300" b="1">
                <a:solidFill>
                  <a:srgbClr val="2E86C1"/>
                </a:solidFill>
                <a:latin typeface="Calibri"/>
              </a:rPr>
              <a:t>▸ </a:t>
            </a:r>
            <a:r>
              <a:rPr sz="1300">
                <a:solidFill>
                  <a:srgbClr val="1A1A1A"/>
                </a:solidFill>
                <a:latin typeface="Calibri"/>
              </a:rPr>
              <a:t>Facturen bewerken (verzenden)</a:t>
            </a:r>
          </a:p>
          <a:p>
            <a:pPr algn="l">
              <a:lnSpc>
                <a:spcPct val="130000"/>
              </a:lnSpc>
              <a:spcAft>
                <a:spcPts val="600"/>
              </a:spcAft>
            </a:pPr>
            <a:r>
              <a:rPr sz="1300" b="1">
                <a:solidFill>
                  <a:srgbClr val="2E86C1"/>
                </a:solidFill>
                <a:latin typeface="Calibri"/>
              </a:rPr>
              <a:t>▸ </a:t>
            </a:r>
            <a:r>
              <a:rPr sz="1300">
                <a:solidFill>
                  <a:srgbClr val="1A1A1A"/>
                </a:solidFill>
                <a:latin typeface="Calibri"/>
              </a:rPr>
              <a:t>CSV Import (trackers/sims/klanten)</a:t>
            </a:r>
          </a:p>
          <a:p>
            <a:pPr algn="l">
              <a:lnSpc>
                <a:spcPct val="130000"/>
              </a:lnSpc>
              <a:spcAft>
                <a:spcPts val="600"/>
              </a:spcAft>
            </a:pPr>
            <a:r>
              <a:rPr sz="1300" b="1">
                <a:solidFill>
                  <a:srgbClr val="2E86C1"/>
                </a:solidFill>
                <a:latin typeface="Calibri"/>
              </a:rPr>
              <a:t>▸ </a:t>
            </a:r>
            <a:r>
              <a:rPr sz="1300">
                <a:solidFill>
                  <a:srgbClr val="1A1A1A"/>
                </a:solidFill>
                <a:latin typeface="Calibri"/>
              </a:rPr>
              <a:t>CSV Export (geanonimiseerd)</a:t>
            </a:r>
          </a:p>
          <a:p>
            <a:pPr algn="l">
              <a:lnSpc>
                <a:spcPct val="130000"/>
              </a:lnSpc>
              <a:spcAft>
                <a:spcPts val="600"/>
              </a:spcAft>
            </a:pPr>
            <a:r>
              <a:rPr sz="1300" b="1">
                <a:solidFill>
                  <a:srgbClr val="2E86C1"/>
                </a:solidFill>
                <a:latin typeface="Calibri"/>
              </a:rPr>
              <a:t>▸ </a:t>
            </a:r>
            <a:r>
              <a:rPr sz="1300">
                <a:solidFill>
                  <a:srgbClr val="1A1A1A"/>
                </a:solidFill>
                <a:latin typeface="Calibri"/>
              </a:rPr>
              <a:t>✗ GEEN Gebruikers/Instellingen</a:t>
            </a:r>
          </a:p>
          <a:p>
            <a:pPr algn="l">
              <a:lnSpc>
                <a:spcPct val="130000"/>
              </a:lnSpc>
              <a:spcAft>
                <a:spcPts val="600"/>
              </a:spcAft>
            </a:pPr>
            <a:r>
              <a:rPr sz="1300" b="1">
                <a:solidFill>
                  <a:srgbClr val="2E86C1"/>
                </a:solidFill>
                <a:latin typeface="Calibri"/>
              </a:rPr>
              <a:t>▸ </a:t>
            </a:r>
            <a:r>
              <a:rPr sz="1300">
                <a:solidFill>
                  <a:srgbClr val="1A1A1A"/>
                </a:solidFill>
                <a:latin typeface="Calibri"/>
              </a:rPr>
              <a:t>✗ GEEN delete (verwijderen)</a:t>
            </a:r>
          </a:p>
        </p:txBody>
      </p:sp>
      <p:sp>
        <p:nvSpPr>
          <p:cNvPr id="20" name="Rounded Rectangle 19"/>
          <p:cNvSpPr/>
          <p:nvPr/>
        </p:nvSpPr>
        <p:spPr>
          <a:xfrm>
            <a:off x="8176107" y="1280160"/>
            <a:ext cx="3794760" cy="73152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6107" y="1280160"/>
            <a:ext cx="3794760" cy="731520"/>
          </a:xfrm>
          <a:prstGeom prst="rect">
            <a:avLst/>
          </a:prstGeom>
          <a:noFill/>
        </p:spPr>
        <p:txBody>
          <a:bodyPr wrap="square" lIns="45720" rIns="45720" tIns="18288" bIns="18288" anchor="ctr">
            <a:spAutoFit/>
          </a:bodyPr>
          <a:lstStyle/>
          <a:p>
            <a:pPr algn="ctr">
              <a:lnSpc>
                <a:spcPct val="120000"/>
              </a:lnSpc>
            </a:pPr>
            <a:r>
              <a:rPr sz="2400" b="1">
                <a:solidFill>
                  <a:srgbClr val="FFFFFF"/>
                </a:solidFill>
                <a:latin typeface="Calibri"/>
              </a:rPr>
              <a:t>VIEWER</a:t>
            </a:r>
          </a:p>
        </p:txBody>
      </p:sp>
      <p:sp>
        <p:nvSpPr>
          <p:cNvPr id="22" name="Rounded Rectangle 21"/>
          <p:cNvSpPr/>
          <p:nvPr/>
        </p:nvSpPr>
        <p:spPr>
          <a:xfrm>
            <a:off x="8176107" y="2103120"/>
            <a:ext cx="3794760" cy="42062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50427" y="2286000"/>
            <a:ext cx="3246120" cy="3931920"/>
          </a:xfrm>
          <a:prstGeom prst="rect">
            <a:avLst/>
          </a:prstGeom>
          <a:noFill/>
        </p:spPr>
        <p:txBody>
          <a:bodyPr wrap="square">
            <a:spAutoFit/>
          </a:bodyPr>
          <a:lstStyle/>
          <a:p>
            <a:pPr algn="l">
              <a:lnSpc>
                <a:spcPct val="130000"/>
              </a:lnSpc>
              <a:spcAft>
                <a:spcPts val="600"/>
              </a:spcAft>
            </a:pPr>
            <a:r>
              <a:rPr sz="1300" b="1">
                <a:solidFill>
                  <a:srgbClr val="16A34A"/>
                </a:solidFill>
                <a:latin typeface="Calibri"/>
              </a:rPr>
              <a:t>▸ </a:t>
            </a:r>
            <a:r>
              <a:rPr sz="1300">
                <a:solidFill>
                  <a:srgbClr val="1A1A1A"/>
                </a:solidFill>
                <a:latin typeface="Calibri"/>
              </a:rPr>
              <a:t>Alleen-lezen toegang</a:t>
            </a:r>
          </a:p>
          <a:p>
            <a:pPr algn="l">
              <a:lnSpc>
                <a:spcPct val="130000"/>
              </a:lnSpc>
              <a:spcAft>
                <a:spcPts val="600"/>
              </a:spcAft>
            </a:pPr>
            <a:r>
              <a:rPr sz="1300" b="1">
                <a:solidFill>
                  <a:srgbClr val="16A34A"/>
                </a:solidFill>
                <a:latin typeface="Calibri"/>
              </a:rPr>
              <a:t>▸ </a:t>
            </a:r>
            <a:r>
              <a:rPr sz="1300">
                <a:solidFill>
                  <a:srgbClr val="1A1A1A"/>
                </a:solidFill>
                <a:latin typeface="Calibri"/>
              </a:rPr>
              <a:t>Dashboard bekijken</a:t>
            </a:r>
          </a:p>
          <a:p>
            <a:pPr algn="l">
              <a:lnSpc>
                <a:spcPct val="130000"/>
              </a:lnSpc>
              <a:spcAft>
                <a:spcPts val="600"/>
              </a:spcAft>
            </a:pPr>
            <a:r>
              <a:rPr sz="1300" b="1">
                <a:solidFill>
                  <a:srgbClr val="16A34A"/>
                </a:solidFill>
                <a:latin typeface="Calibri"/>
              </a:rPr>
              <a:t>▸ </a:t>
            </a:r>
            <a:r>
              <a:rPr sz="1300">
                <a:solidFill>
                  <a:srgbClr val="1A1A1A"/>
                </a:solidFill>
                <a:latin typeface="Calibri"/>
              </a:rPr>
              <a:t>Klanten/Trackers/SIMS raadplegen</a:t>
            </a:r>
          </a:p>
          <a:p>
            <a:pPr algn="l">
              <a:lnSpc>
                <a:spcPct val="130000"/>
              </a:lnSpc>
              <a:spcAft>
                <a:spcPts val="600"/>
              </a:spcAft>
            </a:pPr>
            <a:r>
              <a:rPr sz="1300" b="1">
                <a:solidFill>
                  <a:srgbClr val="16A34A"/>
                </a:solidFill>
                <a:latin typeface="Calibri"/>
              </a:rPr>
              <a:t>▸ </a:t>
            </a:r>
            <a:r>
              <a:rPr sz="1300">
                <a:solidFill>
                  <a:srgbClr val="1A1A1A"/>
                </a:solidFill>
                <a:latin typeface="Calibri"/>
              </a:rPr>
              <a:t>Abonnementen en facturen bekijken</a:t>
            </a:r>
          </a:p>
          <a:p>
            <a:pPr algn="l">
              <a:lnSpc>
                <a:spcPct val="130000"/>
              </a:lnSpc>
              <a:spcAft>
                <a:spcPts val="600"/>
              </a:spcAft>
            </a:pPr>
            <a:r>
              <a:rPr sz="1300" b="1">
                <a:solidFill>
                  <a:srgbClr val="16A34A"/>
                </a:solidFill>
                <a:latin typeface="Calibri"/>
              </a:rPr>
              <a:t>▸ </a:t>
            </a:r>
            <a:r>
              <a:rPr sz="1300">
                <a:solidFill>
                  <a:srgbClr val="1A1A1A"/>
                </a:solidFill>
                <a:latin typeface="Calibri"/>
              </a:rPr>
              <a:t>Audit log inzien</a:t>
            </a:r>
          </a:p>
          <a:p>
            <a:pPr algn="l">
              <a:lnSpc>
                <a:spcPct val="130000"/>
              </a:lnSpc>
              <a:spcAft>
                <a:spcPts val="600"/>
              </a:spcAft>
            </a:pPr>
            <a:r>
              <a:rPr sz="1300" b="1">
                <a:solidFill>
                  <a:srgbClr val="16A34A"/>
                </a:solidFill>
                <a:latin typeface="Calibri"/>
              </a:rPr>
              <a:t>▸ </a:t>
            </a:r>
            <a:r>
              <a:rPr sz="1300">
                <a:solidFill>
                  <a:srgbClr val="1A1A1A"/>
                </a:solidFill>
                <a:latin typeface="Calibri"/>
              </a:rPr>
              <a:t>Zoeken en filteren</a:t>
            </a:r>
          </a:p>
          <a:p>
            <a:pPr algn="l">
              <a:lnSpc>
                <a:spcPct val="130000"/>
              </a:lnSpc>
              <a:spcAft>
                <a:spcPts val="600"/>
              </a:spcAft>
            </a:pPr>
            <a:r>
              <a:rPr sz="1300" b="1">
                <a:solidFill>
                  <a:srgbClr val="16A34A"/>
                </a:solidFill>
                <a:latin typeface="Calibri"/>
              </a:rPr>
              <a:t>▸ </a:t>
            </a:r>
            <a:r>
              <a:rPr sz="1300">
                <a:solidFill>
                  <a:srgbClr val="1A1A1A"/>
                </a:solidFill>
                <a:latin typeface="Calibri"/>
              </a:rPr>
              <a:t>✗ GEEN wijzigingen</a:t>
            </a:r>
          </a:p>
          <a:p>
            <a:pPr algn="l">
              <a:lnSpc>
                <a:spcPct val="130000"/>
              </a:lnSpc>
              <a:spcAft>
                <a:spcPts val="600"/>
              </a:spcAft>
            </a:pPr>
            <a:r>
              <a:rPr sz="1300" b="1">
                <a:solidFill>
                  <a:srgbClr val="16A34A"/>
                </a:solidFill>
                <a:latin typeface="Calibri"/>
              </a:rPr>
              <a:t>▸ </a:t>
            </a:r>
            <a:r>
              <a:rPr sz="1300">
                <a:solidFill>
                  <a:srgbClr val="1A1A1A"/>
                </a:solidFill>
                <a:latin typeface="Calibri"/>
              </a:rPr>
              <a:t>✗ GEEN wizard/activaties</a:t>
            </a:r>
          </a:p>
          <a:p>
            <a:pPr algn="l">
              <a:lnSpc>
                <a:spcPct val="130000"/>
              </a:lnSpc>
              <a:spcAft>
                <a:spcPts val="600"/>
              </a:spcAft>
            </a:pPr>
            <a:r>
              <a:rPr sz="1300" b="1">
                <a:solidFill>
                  <a:srgbClr val="16A34A"/>
                </a:solidFill>
                <a:latin typeface="Calibri"/>
              </a:rPr>
              <a:t>▸ </a:t>
            </a:r>
            <a:r>
              <a:rPr sz="1300">
                <a:solidFill>
                  <a:srgbClr val="1A1A1A"/>
                </a:solidFill>
                <a:latin typeface="Calibri"/>
              </a:rPr>
              <a:t>✗ GEEN import/export</a:t>
            </a:r>
          </a:p>
        </p:txBody>
      </p:sp>
      <p:sp>
        <p:nvSpPr>
          <p:cNvPr id="24" name="Rounded Rectangle 23"/>
          <p:cNvSpPr/>
          <p:nvPr/>
        </p:nvSpPr>
        <p:spPr>
          <a:xfrm>
            <a:off x="457200" y="6263640"/>
            <a:ext cx="11292840" cy="41148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281928"/>
            <a:ext cx="10972800" cy="365760"/>
          </a:xfrm>
          <a:prstGeom prst="rect">
            <a:avLst/>
          </a:prstGeom>
          <a:noFill/>
        </p:spPr>
        <p:txBody>
          <a:bodyPr wrap="square" lIns="45720" rIns="45720" tIns="18288" bIns="18288" anchor="t">
            <a:spAutoFit/>
          </a:bodyPr>
          <a:lstStyle/>
          <a:p>
            <a:pPr algn="l">
              <a:lnSpc>
                <a:spcPct val="120000"/>
              </a:lnSpc>
            </a:pPr>
            <a:r>
              <a:rPr sz="1200" b="0">
                <a:solidFill>
                  <a:srgbClr val="1A1A1A"/>
                </a:solidFill>
                <a:latin typeface="Calibri"/>
              </a:rPr>
              <a:t>💡 Alle Server Actions worden expliciet beveiligd via `withAuth()` wrapper. Toegang zonder juiste rol → foutcode 403 (Permission Denied).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Dashboard &amp; Navigatie</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Het startscherm, de zijbalk en snelzoeken</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6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280160"/>
            <a:ext cx="2377440" cy="50749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417320"/>
            <a:ext cx="2194560" cy="347472"/>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53896"/>
            <a:ext cx="2011680" cy="274320"/>
          </a:xfrm>
          <a:prstGeom prst="rect">
            <a:avLst/>
          </a:prstGeom>
          <a:noFill/>
        </p:spPr>
        <p:txBody>
          <a:bodyPr wrap="square" lIns="45720" rIns="45720" tIns="18288" bIns="18288" anchor="t">
            <a:spAutoFit/>
          </a:bodyPr>
          <a:lstStyle/>
          <a:p>
            <a:pPr algn="l">
              <a:lnSpc>
                <a:spcPct val="120000"/>
              </a:lnSpc>
            </a:pPr>
            <a:r>
              <a:rPr sz="1150" b="1">
                <a:solidFill>
                  <a:srgbClr val="FFFFFF"/>
                </a:solidFill>
                <a:latin typeface="Calibri"/>
              </a:rPr>
              <a:t>📊  Dashboard</a:t>
            </a:r>
          </a:p>
        </p:txBody>
      </p:sp>
      <p:sp>
        <p:nvSpPr>
          <p:cNvPr id="15" name="TextBox 14"/>
          <p:cNvSpPr txBox="1"/>
          <p:nvPr/>
        </p:nvSpPr>
        <p:spPr>
          <a:xfrm>
            <a:off x="594360" y="1847088"/>
            <a:ext cx="2011680" cy="274320"/>
          </a:xfrm>
          <a:prstGeom prst="rect">
            <a:avLst/>
          </a:prstGeom>
          <a:noFill/>
        </p:spPr>
        <p:txBody>
          <a:bodyPr wrap="square" lIns="45720" rIns="45720" tIns="18288" bIns="18288" anchor="t">
            <a:spAutoFit/>
          </a:bodyPr>
          <a:lstStyle/>
          <a:p>
            <a:pPr algn="l">
              <a:lnSpc>
                <a:spcPct val="120000"/>
              </a:lnSpc>
            </a:pPr>
            <a:r>
              <a:rPr sz="1150" b="0">
                <a:solidFill>
                  <a:srgbClr val="A9B4CA"/>
                </a:solidFill>
                <a:latin typeface="Calibri"/>
              </a:rPr>
              <a:t>🚚  Activaties</a:t>
            </a:r>
          </a:p>
        </p:txBody>
      </p:sp>
      <p:sp>
        <p:nvSpPr>
          <p:cNvPr id="16" name="TextBox 15"/>
          <p:cNvSpPr txBox="1"/>
          <p:nvPr/>
        </p:nvSpPr>
        <p:spPr>
          <a:xfrm>
            <a:off x="594360" y="2240280"/>
            <a:ext cx="2011680" cy="274320"/>
          </a:xfrm>
          <a:prstGeom prst="rect">
            <a:avLst/>
          </a:prstGeom>
          <a:noFill/>
        </p:spPr>
        <p:txBody>
          <a:bodyPr wrap="square" lIns="45720" rIns="45720" tIns="18288" bIns="18288" anchor="t">
            <a:spAutoFit/>
          </a:bodyPr>
          <a:lstStyle/>
          <a:p>
            <a:pPr algn="l">
              <a:lnSpc>
                <a:spcPct val="120000"/>
              </a:lnSpc>
            </a:pPr>
            <a:r>
              <a:rPr sz="1150" b="0">
                <a:solidFill>
                  <a:srgbClr val="A9B4CA"/>
                </a:solidFill>
                <a:latin typeface="Calibri"/>
              </a:rPr>
              <a:t>📋  Abonnementen</a:t>
            </a:r>
          </a:p>
        </p:txBody>
      </p:sp>
      <p:sp>
        <p:nvSpPr>
          <p:cNvPr id="17" name="TextBox 16"/>
          <p:cNvSpPr txBox="1"/>
          <p:nvPr/>
        </p:nvSpPr>
        <p:spPr>
          <a:xfrm>
            <a:off x="594360" y="2633472"/>
            <a:ext cx="2011680" cy="274320"/>
          </a:xfrm>
          <a:prstGeom prst="rect">
            <a:avLst/>
          </a:prstGeom>
          <a:noFill/>
        </p:spPr>
        <p:txBody>
          <a:bodyPr wrap="square" lIns="45720" rIns="45720" tIns="18288" bIns="18288" anchor="t">
            <a:spAutoFit/>
          </a:bodyPr>
          <a:lstStyle/>
          <a:p>
            <a:pPr algn="l">
              <a:lnSpc>
                <a:spcPct val="120000"/>
              </a:lnSpc>
            </a:pPr>
            <a:r>
              <a:rPr sz="1150" b="0">
                <a:solidFill>
                  <a:srgbClr val="A9B4CA"/>
                </a:solidFill>
                <a:latin typeface="Calibri"/>
              </a:rPr>
              <a:t>🏢  Klanten</a:t>
            </a:r>
          </a:p>
        </p:txBody>
      </p:sp>
      <p:sp>
        <p:nvSpPr>
          <p:cNvPr id="18" name="TextBox 17"/>
          <p:cNvSpPr txBox="1"/>
          <p:nvPr/>
        </p:nvSpPr>
        <p:spPr>
          <a:xfrm>
            <a:off x="594360" y="3026664"/>
            <a:ext cx="2011680" cy="274320"/>
          </a:xfrm>
          <a:prstGeom prst="rect">
            <a:avLst/>
          </a:prstGeom>
          <a:noFill/>
        </p:spPr>
        <p:txBody>
          <a:bodyPr wrap="square" lIns="45720" rIns="45720" tIns="18288" bIns="18288" anchor="t">
            <a:spAutoFit/>
          </a:bodyPr>
          <a:lstStyle/>
          <a:p>
            <a:pPr algn="l">
              <a:lnSpc>
                <a:spcPct val="120000"/>
              </a:lnSpc>
            </a:pPr>
            <a:r>
              <a:rPr sz="1150" b="0">
                <a:solidFill>
                  <a:srgbClr val="A9B4CA"/>
                </a:solidFill>
                <a:latin typeface="Calibri"/>
              </a:rPr>
              <a:t>📡  Trackers</a:t>
            </a:r>
          </a:p>
        </p:txBody>
      </p:sp>
      <p:sp>
        <p:nvSpPr>
          <p:cNvPr id="19" name="TextBox 18"/>
          <p:cNvSpPr txBox="1"/>
          <p:nvPr/>
        </p:nvSpPr>
        <p:spPr>
          <a:xfrm>
            <a:off x="594360" y="3419856"/>
            <a:ext cx="2011680" cy="274320"/>
          </a:xfrm>
          <a:prstGeom prst="rect">
            <a:avLst/>
          </a:prstGeom>
          <a:noFill/>
        </p:spPr>
        <p:txBody>
          <a:bodyPr wrap="square" lIns="45720" rIns="45720" tIns="18288" bIns="18288" anchor="t">
            <a:spAutoFit/>
          </a:bodyPr>
          <a:lstStyle/>
          <a:p>
            <a:pPr algn="l">
              <a:lnSpc>
                <a:spcPct val="120000"/>
              </a:lnSpc>
            </a:pPr>
            <a:r>
              <a:rPr sz="1150" b="0">
                <a:solidFill>
                  <a:srgbClr val="A9B4CA"/>
                </a:solidFill>
                <a:latin typeface="Calibri"/>
              </a:rPr>
              <a:t>💳  SIM-kaarten</a:t>
            </a:r>
          </a:p>
        </p:txBody>
      </p:sp>
      <p:sp>
        <p:nvSpPr>
          <p:cNvPr id="20" name="TextBox 19"/>
          <p:cNvSpPr txBox="1"/>
          <p:nvPr/>
        </p:nvSpPr>
        <p:spPr>
          <a:xfrm>
            <a:off x="594360" y="3813048"/>
            <a:ext cx="2011680" cy="274320"/>
          </a:xfrm>
          <a:prstGeom prst="rect">
            <a:avLst/>
          </a:prstGeom>
          <a:noFill/>
        </p:spPr>
        <p:txBody>
          <a:bodyPr wrap="square" lIns="45720" rIns="45720" tIns="18288" bIns="18288" anchor="t">
            <a:spAutoFit/>
          </a:bodyPr>
          <a:lstStyle/>
          <a:p>
            <a:pPr algn="l">
              <a:lnSpc>
                <a:spcPct val="120000"/>
              </a:lnSpc>
            </a:pPr>
            <a:r>
              <a:rPr sz="1150" b="0">
                <a:solidFill>
                  <a:srgbClr val="A9B4CA"/>
                </a:solidFill>
                <a:latin typeface="Calibri"/>
              </a:rPr>
              <a:t>🚗  Voertuigen</a:t>
            </a:r>
          </a:p>
        </p:txBody>
      </p:sp>
      <p:sp>
        <p:nvSpPr>
          <p:cNvPr id="21" name="TextBox 20"/>
          <p:cNvSpPr txBox="1"/>
          <p:nvPr/>
        </p:nvSpPr>
        <p:spPr>
          <a:xfrm>
            <a:off x="594360" y="4206240"/>
            <a:ext cx="2011680" cy="274320"/>
          </a:xfrm>
          <a:prstGeom prst="rect">
            <a:avLst/>
          </a:prstGeom>
          <a:noFill/>
        </p:spPr>
        <p:txBody>
          <a:bodyPr wrap="square" lIns="45720" rIns="45720" tIns="18288" bIns="18288" anchor="t">
            <a:spAutoFit/>
          </a:bodyPr>
          <a:lstStyle/>
          <a:p>
            <a:pPr algn="l">
              <a:lnSpc>
                <a:spcPct val="120000"/>
              </a:lnSpc>
            </a:pPr>
            <a:r>
              <a:rPr sz="1150" b="0">
                <a:solidFill>
                  <a:srgbClr val="A9B4CA"/>
                </a:solidFill>
                <a:latin typeface="Calibri"/>
              </a:rPr>
              <a:t>📦  Producten</a:t>
            </a:r>
          </a:p>
        </p:txBody>
      </p:sp>
      <p:sp>
        <p:nvSpPr>
          <p:cNvPr id="22" name="TextBox 21"/>
          <p:cNvSpPr txBox="1"/>
          <p:nvPr/>
        </p:nvSpPr>
        <p:spPr>
          <a:xfrm>
            <a:off x="594360" y="4599432"/>
            <a:ext cx="2011680" cy="274320"/>
          </a:xfrm>
          <a:prstGeom prst="rect">
            <a:avLst/>
          </a:prstGeom>
          <a:noFill/>
        </p:spPr>
        <p:txBody>
          <a:bodyPr wrap="square" lIns="45720" rIns="45720" tIns="18288" bIns="18288" anchor="t">
            <a:spAutoFit/>
          </a:bodyPr>
          <a:lstStyle/>
          <a:p>
            <a:pPr algn="l">
              <a:lnSpc>
                <a:spcPct val="120000"/>
              </a:lnSpc>
            </a:pPr>
            <a:r>
              <a:rPr sz="1150" b="0">
                <a:solidFill>
                  <a:srgbClr val="A9B4CA"/>
                </a:solidFill>
                <a:latin typeface="Calibri"/>
              </a:rPr>
              <a:t>🧾  Facturen</a:t>
            </a:r>
          </a:p>
        </p:txBody>
      </p:sp>
      <p:sp>
        <p:nvSpPr>
          <p:cNvPr id="23" name="TextBox 22"/>
          <p:cNvSpPr txBox="1"/>
          <p:nvPr/>
        </p:nvSpPr>
        <p:spPr>
          <a:xfrm>
            <a:off x="594360" y="4992624"/>
            <a:ext cx="2011680" cy="274320"/>
          </a:xfrm>
          <a:prstGeom prst="rect">
            <a:avLst/>
          </a:prstGeom>
          <a:noFill/>
        </p:spPr>
        <p:txBody>
          <a:bodyPr wrap="square" lIns="45720" rIns="45720" tIns="18288" bIns="18288" anchor="t">
            <a:spAutoFit/>
          </a:bodyPr>
          <a:lstStyle/>
          <a:p>
            <a:pPr algn="l">
              <a:lnSpc>
                <a:spcPct val="120000"/>
              </a:lnSpc>
            </a:pPr>
            <a:r>
              <a:rPr sz="1150" b="0">
                <a:solidFill>
                  <a:srgbClr val="A9B4CA"/>
                </a:solidFill>
                <a:latin typeface="Calibri"/>
              </a:rPr>
              <a:t>👤  Gebruikers</a:t>
            </a:r>
          </a:p>
        </p:txBody>
      </p:sp>
      <p:sp>
        <p:nvSpPr>
          <p:cNvPr id="24" name="TextBox 23"/>
          <p:cNvSpPr txBox="1"/>
          <p:nvPr/>
        </p:nvSpPr>
        <p:spPr>
          <a:xfrm>
            <a:off x="594360" y="5385816"/>
            <a:ext cx="2011680" cy="274320"/>
          </a:xfrm>
          <a:prstGeom prst="rect">
            <a:avLst/>
          </a:prstGeom>
          <a:noFill/>
        </p:spPr>
        <p:txBody>
          <a:bodyPr wrap="square" lIns="45720" rIns="45720" tIns="18288" bIns="18288" anchor="t">
            <a:spAutoFit/>
          </a:bodyPr>
          <a:lstStyle/>
          <a:p>
            <a:pPr algn="l">
              <a:lnSpc>
                <a:spcPct val="120000"/>
              </a:lnSpc>
            </a:pPr>
            <a:r>
              <a:rPr sz="1150" b="0">
                <a:solidFill>
                  <a:srgbClr val="A9B4CA"/>
                </a:solidFill>
                <a:latin typeface="Calibri"/>
              </a:rPr>
              <a:t>📜  Audit Log</a:t>
            </a:r>
          </a:p>
        </p:txBody>
      </p:sp>
      <p:sp>
        <p:nvSpPr>
          <p:cNvPr id="25" name="TextBox 24"/>
          <p:cNvSpPr txBox="1"/>
          <p:nvPr/>
        </p:nvSpPr>
        <p:spPr>
          <a:xfrm>
            <a:off x="594360" y="5779008"/>
            <a:ext cx="2011680" cy="274320"/>
          </a:xfrm>
          <a:prstGeom prst="rect">
            <a:avLst/>
          </a:prstGeom>
          <a:noFill/>
        </p:spPr>
        <p:txBody>
          <a:bodyPr wrap="square" lIns="45720" rIns="45720" tIns="18288" bIns="18288" anchor="t">
            <a:spAutoFit/>
          </a:bodyPr>
          <a:lstStyle/>
          <a:p>
            <a:pPr algn="l">
              <a:lnSpc>
                <a:spcPct val="120000"/>
              </a:lnSpc>
            </a:pPr>
            <a:r>
              <a:rPr sz="1150" b="0">
                <a:solidFill>
                  <a:srgbClr val="A9B4CA"/>
                </a:solidFill>
                <a:latin typeface="Calibri"/>
              </a:rPr>
              <a:t>⚙️  Instellingen</a:t>
            </a:r>
          </a:p>
        </p:txBody>
      </p:sp>
      <p:sp>
        <p:nvSpPr>
          <p:cNvPr id="26" name="Rounded Rectangle 25"/>
          <p:cNvSpPr/>
          <p:nvPr/>
        </p:nvSpPr>
        <p:spPr>
          <a:xfrm>
            <a:off x="3017520" y="1280160"/>
            <a:ext cx="2103120" cy="118872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017520" y="1280160"/>
            <a:ext cx="2103120" cy="5486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7520" y="1417320"/>
            <a:ext cx="2103120" cy="548640"/>
          </a:xfrm>
          <a:prstGeom prst="rect">
            <a:avLst/>
          </a:prstGeom>
          <a:noFill/>
        </p:spPr>
        <p:txBody>
          <a:bodyPr wrap="square" lIns="45720" rIns="45720" tIns="18288" bIns="18288" anchor="t">
            <a:spAutoFit/>
          </a:bodyPr>
          <a:lstStyle/>
          <a:p>
            <a:pPr algn="ctr">
              <a:lnSpc>
                <a:spcPct val="120000"/>
              </a:lnSpc>
            </a:pPr>
            <a:r>
              <a:rPr sz="2400" b="1">
                <a:solidFill>
                  <a:srgbClr val="1E3A5F"/>
                </a:solidFill>
                <a:latin typeface="Calibri"/>
              </a:rPr>
              <a:t>42</a:t>
            </a:r>
          </a:p>
        </p:txBody>
      </p:sp>
      <p:sp>
        <p:nvSpPr>
          <p:cNvPr id="29" name="TextBox 28"/>
          <p:cNvSpPr txBox="1"/>
          <p:nvPr/>
        </p:nvSpPr>
        <p:spPr>
          <a:xfrm>
            <a:off x="3017520" y="1965960"/>
            <a:ext cx="2103120" cy="365760"/>
          </a:xfrm>
          <a:prstGeom prst="rect">
            <a:avLst/>
          </a:prstGeom>
          <a:noFill/>
        </p:spPr>
        <p:txBody>
          <a:bodyPr wrap="square" lIns="45720" rIns="45720" tIns="18288" bIns="18288" anchor="t">
            <a:spAutoFit/>
          </a:bodyPr>
          <a:lstStyle/>
          <a:p>
            <a:pPr algn="ctr">
              <a:lnSpc>
                <a:spcPct val="120000"/>
              </a:lnSpc>
            </a:pPr>
            <a:r>
              <a:rPr sz="1050" b="0">
                <a:solidFill>
                  <a:srgbClr val="555555"/>
                </a:solidFill>
                <a:latin typeface="Calibri"/>
              </a:rPr>
              <a:t>Actieve abonnementen</a:t>
            </a:r>
          </a:p>
        </p:txBody>
      </p:sp>
      <p:sp>
        <p:nvSpPr>
          <p:cNvPr id="30" name="Rounded Rectangle 29"/>
          <p:cNvSpPr/>
          <p:nvPr/>
        </p:nvSpPr>
        <p:spPr>
          <a:xfrm>
            <a:off x="5212080" y="1280160"/>
            <a:ext cx="2103120" cy="118872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12080" y="1280160"/>
            <a:ext cx="210312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12080" y="1417320"/>
            <a:ext cx="2103120" cy="548640"/>
          </a:xfrm>
          <a:prstGeom prst="rect">
            <a:avLst/>
          </a:prstGeom>
          <a:noFill/>
        </p:spPr>
        <p:txBody>
          <a:bodyPr wrap="square" lIns="45720" rIns="45720" tIns="18288" bIns="18288" anchor="t">
            <a:spAutoFit/>
          </a:bodyPr>
          <a:lstStyle/>
          <a:p>
            <a:pPr algn="ctr">
              <a:lnSpc>
                <a:spcPct val="120000"/>
              </a:lnSpc>
            </a:pPr>
            <a:r>
              <a:rPr sz="2400" b="1">
                <a:solidFill>
                  <a:srgbClr val="2E86C1"/>
                </a:solidFill>
                <a:latin typeface="Calibri"/>
              </a:rPr>
              <a:t>128</a:t>
            </a:r>
          </a:p>
        </p:txBody>
      </p:sp>
      <p:sp>
        <p:nvSpPr>
          <p:cNvPr id="33" name="TextBox 32"/>
          <p:cNvSpPr txBox="1"/>
          <p:nvPr/>
        </p:nvSpPr>
        <p:spPr>
          <a:xfrm>
            <a:off x="5212080" y="1965960"/>
            <a:ext cx="2103120" cy="365760"/>
          </a:xfrm>
          <a:prstGeom prst="rect">
            <a:avLst/>
          </a:prstGeom>
          <a:noFill/>
        </p:spPr>
        <p:txBody>
          <a:bodyPr wrap="square" lIns="45720" rIns="45720" tIns="18288" bIns="18288" anchor="t">
            <a:spAutoFit/>
          </a:bodyPr>
          <a:lstStyle/>
          <a:p>
            <a:pPr algn="ctr">
              <a:lnSpc>
                <a:spcPct val="120000"/>
              </a:lnSpc>
            </a:pPr>
            <a:r>
              <a:rPr sz="1050" b="0">
                <a:solidFill>
                  <a:srgbClr val="555555"/>
                </a:solidFill>
                <a:latin typeface="Calibri"/>
              </a:rPr>
              <a:t>Trackers op voorraad</a:t>
            </a:r>
          </a:p>
        </p:txBody>
      </p:sp>
      <p:sp>
        <p:nvSpPr>
          <p:cNvPr id="34" name="Rounded Rectangle 33"/>
          <p:cNvSpPr/>
          <p:nvPr/>
        </p:nvSpPr>
        <p:spPr>
          <a:xfrm>
            <a:off x="7406640" y="1280160"/>
            <a:ext cx="2103120" cy="118872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06640" y="1280160"/>
            <a:ext cx="2103120" cy="5486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0" y="1417320"/>
            <a:ext cx="2103120" cy="548640"/>
          </a:xfrm>
          <a:prstGeom prst="rect">
            <a:avLst/>
          </a:prstGeom>
          <a:noFill/>
        </p:spPr>
        <p:txBody>
          <a:bodyPr wrap="square" lIns="45720" rIns="45720" tIns="18288" bIns="18288" anchor="t">
            <a:spAutoFit/>
          </a:bodyPr>
          <a:lstStyle/>
          <a:p>
            <a:pPr algn="ctr">
              <a:lnSpc>
                <a:spcPct val="120000"/>
              </a:lnSpc>
            </a:pPr>
            <a:r>
              <a:rPr sz="2400" b="1">
                <a:solidFill>
                  <a:srgbClr val="D97706"/>
                </a:solidFill>
                <a:latin typeface="Calibri"/>
              </a:rPr>
              <a:t>7</a:t>
            </a:r>
          </a:p>
        </p:txBody>
      </p:sp>
      <p:sp>
        <p:nvSpPr>
          <p:cNvPr id="37" name="TextBox 36"/>
          <p:cNvSpPr txBox="1"/>
          <p:nvPr/>
        </p:nvSpPr>
        <p:spPr>
          <a:xfrm>
            <a:off x="7406640" y="1965960"/>
            <a:ext cx="2103120" cy="365760"/>
          </a:xfrm>
          <a:prstGeom prst="rect">
            <a:avLst/>
          </a:prstGeom>
          <a:noFill/>
        </p:spPr>
        <p:txBody>
          <a:bodyPr wrap="square" lIns="45720" rIns="45720" tIns="18288" bIns="18288" anchor="t">
            <a:spAutoFit/>
          </a:bodyPr>
          <a:lstStyle/>
          <a:p>
            <a:pPr algn="ctr">
              <a:lnSpc>
                <a:spcPct val="120000"/>
              </a:lnSpc>
            </a:pPr>
            <a:r>
              <a:rPr sz="1050" b="0">
                <a:solidFill>
                  <a:srgbClr val="555555"/>
                </a:solidFill>
                <a:latin typeface="Calibri"/>
              </a:rPr>
              <a:t>Openstaande activaties</a:t>
            </a:r>
          </a:p>
        </p:txBody>
      </p:sp>
      <p:sp>
        <p:nvSpPr>
          <p:cNvPr id="38" name="Rounded Rectangle 37"/>
          <p:cNvSpPr/>
          <p:nvPr/>
        </p:nvSpPr>
        <p:spPr>
          <a:xfrm>
            <a:off x="9601200" y="1280160"/>
            <a:ext cx="2103120" cy="118872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601200" y="1280160"/>
            <a:ext cx="2103120" cy="5486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0" y="1417320"/>
            <a:ext cx="2103120" cy="548640"/>
          </a:xfrm>
          <a:prstGeom prst="rect">
            <a:avLst/>
          </a:prstGeom>
          <a:noFill/>
        </p:spPr>
        <p:txBody>
          <a:bodyPr wrap="square" lIns="45720" rIns="45720" tIns="18288" bIns="18288" anchor="t">
            <a:spAutoFit/>
          </a:bodyPr>
          <a:lstStyle/>
          <a:p>
            <a:pPr algn="ctr">
              <a:lnSpc>
                <a:spcPct val="120000"/>
              </a:lnSpc>
            </a:pPr>
            <a:r>
              <a:rPr sz="2400" b="1">
                <a:solidFill>
                  <a:srgbClr val="16A34A"/>
                </a:solidFill>
                <a:latin typeface="Calibri"/>
              </a:rPr>
              <a:t>€ 12.450</a:t>
            </a:r>
          </a:p>
        </p:txBody>
      </p:sp>
      <p:sp>
        <p:nvSpPr>
          <p:cNvPr id="41" name="TextBox 40"/>
          <p:cNvSpPr txBox="1"/>
          <p:nvPr/>
        </p:nvSpPr>
        <p:spPr>
          <a:xfrm>
            <a:off x="9601200" y="1965960"/>
            <a:ext cx="2103120" cy="365760"/>
          </a:xfrm>
          <a:prstGeom prst="rect">
            <a:avLst/>
          </a:prstGeom>
          <a:noFill/>
        </p:spPr>
        <p:txBody>
          <a:bodyPr wrap="square" lIns="45720" rIns="45720" tIns="18288" bIns="18288" anchor="t">
            <a:spAutoFit/>
          </a:bodyPr>
          <a:lstStyle/>
          <a:p>
            <a:pPr algn="ctr">
              <a:lnSpc>
                <a:spcPct val="120000"/>
              </a:lnSpc>
            </a:pPr>
            <a:r>
              <a:rPr sz="1050" b="0">
                <a:solidFill>
                  <a:srgbClr val="555555"/>
                </a:solidFill>
                <a:latin typeface="Calibri"/>
              </a:rPr>
              <a:t>Maandomzet (MRR)</a:t>
            </a:r>
          </a:p>
        </p:txBody>
      </p:sp>
      <p:sp>
        <p:nvSpPr>
          <p:cNvPr id="42" name="Rounded Rectangle 41"/>
          <p:cNvSpPr/>
          <p:nvPr/>
        </p:nvSpPr>
        <p:spPr>
          <a:xfrm>
            <a:off x="2926080" y="2651760"/>
            <a:ext cx="886968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0" y="2697480"/>
            <a:ext cx="8321040" cy="365760"/>
          </a:xfrm>
          <a:prstGeom prst="rect">
            <a:avLst/>
          </a:prstGeom>
          <a:noFill/>
        </p:spPr>
        <p:txBody>
          <a:bodyPr wrap="square" lIns="45720" rIns="45720" tIns="18288" bIns="18288" anchor="t">
            <a:spAutoFit/>
          </a:bodyPr>
          <a:lstStyle/>
          <a:p>
            <a:pPr algn="l">
              <a:lnSpc>
                <a:spcPct val="120000"/>
              </a:lnSpc>
            </a:pPr>
            <a:r>
              <a:rPr sz="1400" b="1">
                <a:solidFill>
                  <a:srgbClr val="FFFFFF"/>
                </a:solidFill>
                <a:latin typeface="Calibri"/>
              </a:rPr>
              <a:t>📋 Recente Activaties</a:t>
            </a:r>
          </a:p>
        </p:txBody>
      </p:sp>
      <p:sp>
        <p:nvSpPr>
          <p:cNvPr id="44" name="Rectangle 43"/>
          <p:cNvSpPr/>
          <p:nvPr/>
        </p:nvSpPr>
        <p:spPr>
          <a:xfrm>
            <a:off x="2926080" y="3200400"/>
            <a:ext cx="886968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00400" y="3246120"/>
            <a:ext cx="1463040" cy="274320"/>
          </a:xfrm>
          <a:prstGeom prst="rect">
            <a:avLst/>
          </a:prstGeom>
          <a:noFill/>
        </p:spPr>
        <p:txBody>
          <a:bodyPr wrap="square" lIns="45720" rIns="45720" tIns="18288" bIns="18288" anchor="t">
            <a:spAutoFit/>
          </a:bodyPr>
          <a:lstStyle/>
          <a:p>
            <a:pPr algn="l">
              <a:lnSpc>
                <a:spcPct val="120000"/>
              </a:lnSpc>
            </a:pPr>
            <a:r>
              <a:rPr sz="1100" b="1">
                <a:solidFill>
                  <a:srgbClr val="1E3A5F"/>
                </a:solidFill>
                <a:latin typeface="Calibri"/>
              </a:rPr>
              <a:t>Order</a:t>
            </a:r>
          </a:p>
        </p:txBody>
      </p:sp>
      <p:sp>
        <p:nvSpPr>
          <p:cNvPr id="46" name="TextBox 45"/>
          <p:cNvSpPr txBox="1"/>
          <p:nvPr/>
        </p:nvSpPr>
        <p:spPr>
          <a:xfrm>
            <a:off x="4663440" y="3246120"/>
            <a:ext cx="2560320" cy="274320"/>
          </a:xfrm>
          <a:prstGeom prst="rect">
            <a:avLst/>
          </a:prstGeom>
          <a:noFill/>
        </p:spPr>
        <p:txBody>
          <a:bodyPr wrap="square" lIns="45720" rIns="45720" tIns="18288" bIns="18288" anchor="t">
            <a:spAutoFit/>
          </a:bodyPr>
          <a:lstStyle/>
          <a:p>
            <a:pPr algn="l">
              <a:lnSpc>
                <a:spcPct val="120000"/>
              </a:lnSpc>
            </a:pPr>
            <a:r>
              <a:rPr sz="1100" b="1">
                <a:solidFill>
                  <a:srgbClr val="1E3A5F"/>
                </a:solidFill>
                <a:latin typeface="Calibri"/>
              </a:rPr>
              <a:t>Klant</a:t>
            </a:r>
          </a:p>
        </p:txBody>
      </p:sp>
      <p:sp>
        <p:nvSpPr>
          <p:cNvPr id="47" name="TextBox 46"/>
          <p:cNvSpPr txBox="1"/>
          <p:nvPr/>
        </p:nvSpPr>
        <p:spPr>
          <a:xfrm>
            <a:off x="7223760" y="3246120"/>
            <a:ext cx="1645920" cy="274320"/>
          </a:xfrm>
          <a:prstGeom prst="rect">
            <a:avLst/>
          </a:prstGeom>
          <a:noFill/>
        </p:spPr>
        <p:txBody>
          <a:bodyPr wrap="square" lIns="45720" rIns="45720" tIns="18288" bIns="18288" anchor="t">
            <a:spAutoFit/>
          </a:bodyPr>
          <a:lstStyle/>
          <a:p>
            <a:pPr algn="l">
              <a:lnSpc>
                <a:spcPct val="120000"/>
              </a:lnSpc>
            </a:pPr>
            <a:r>
              <a:rPr sz="1100" b="1">
                <a:solidFill>
                  <a:srgbClr val="1E3A5F"/>
                </a:solidFill>
                <a:latin typeface="Calibri"/>
              </a:rPr>
              <a:t>Tracker</a:t>
            </a:r>
          </a:p>
        </p:txBody>
      </p:sp>
      <p:sp>
        <p:nvSpPr>
          <p:cNvPr id="48" name="TextBox 47"/>
          <p:cNvSpPr txBox="1"/>
          <p:nvPr/>
        </p:nvSpPr>
        <p:spPr>
          <a:xfrm>
            <a:off x="8869680" y="3246120"/>
            <a:ext cx="1371600" cy="274320"/>
          </a:xfrm>
          <a:prstGeom prst="rect">
            <a:avLst/>
          </a:prstGeom>
          <a:noFill/>
        </p:spPr>
        <p:txBody>
          <a:bodyPr wrap="square" lIns="45720" rIns="45720" tIns="18288" bIns="18288" anchor="t">
            <a:spAutoFit/>
          </a:bodyPr>
          <a:lstStyle/>
          <a:p>
            <a:pPr algn="l">
              <a:lnSpc>
                <a:spcPct val="120000"/>
              </a:lnSpc>
            </a:pPr>
            <a:r>
              <a:rPr sz="1100" b="1">
                <a:solidFill>
                  <a:srgbClr val="1E3A5F"/>
                </a:solidFill>
                <a:latin typeface="Calibri"/>
              </a:rPr>
              <a:t>SIM</a:t>
            </a:r>
          </a:p>
        </p:txBody>
      </p:sp>
      <p:sp>
        <p:nvSpPr>
          <p:cNvPr id="49" name="TextBox 48"/>
          <p:cNvSpPr txBox="1"/>
          <p:nvPr/>
        </p:nvSpPr>
        <p:spPr>
          <a:xfrm>
            <a:off x="10241280" y="3246120"/>
            <a:ext cx="1554480" cy="274320"/>
          </a:xfrm>
          <a:prstGeom prst="rect">
            <a:avLst/>
          </a:prstGeom>
          <a:noFill/>
        </p:spPr>
        <p:txBody>
          <a:bodyPr wrap="square" lIns="45720" rIns="45720" tIns="18288" bIns="18288" anchor="t">
            <a:spAutoFit/>
          </a:bodyPr>
          <a:lstStyle/>
          <a:p>
            <a:pPr algn="l">
              <a:lnSpc>
                <a:spcPct val="120000"/>
              </a:lnSpc>
            </a:pPr>
            <a:r>
              <a:rPr sz="1100" b="1">
                <a:solidFill>
                  <a:srgbClr val="1E3A5F"/>
                </a:solidFill>
                <a:latin typeface="Calibri"/>
              </a:rPr>
              <a:t>Status</a:t>
            </a:r>
          </a:p>
        </p:txBody>
      </p:sp>
      <p:sp>
        <p:nvSpPr>
          <p:cNvPr id="50" name="TextBox 49"/>
          <p:cNvSpPr txBox="1"/>
          <p:nvPr/>
        </p:nvSpPr>
        <p:spPr>
          <a:xfrm>
            <a:off x="3200400" y="3639312"/>
            <a:ext cx="146304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ACT-2026-00124</a:t>
            </a:r>
          </a:p>
        </p:txBody>
      </p:sp>
      <p:sp>
        <p:nvSpPr>
          <p:cNvPr id="51" name="TextBox 50"/>
          <p:cNvSpPr txBox="1"/>
          <p:nvPr/>
        </p:nvSpPr>
        <p:spPr>
          <a:xfrm>
            <a:off x="4663440" y="3639312"/>
            <a:ext cx="25603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Van der Logistics B.V.</a:t>
            </a:r>
          </a:p>
        </p:txBody>
      </p:sp>
      <p:sp>
        <p:nvSpPr>
          <p:cNvPr id="52" name="TextBox 51"/>
          <p:cNvSpPr txBox="1"/>
          <p:nvPr/>
        </p:nvSpPr>
        <p:spPr>
          <a:xfrm>
            <a:off x="7223760" y="3639312"/>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TRK-00101-ST</a:t>
            </a:r>
          </a:p>
        </p:txBody>
      </p:sp>
      <p:sp>
        <p:nvSpPr>
          <p:cNvPr id="53" name="TextBox 52"/>
          <p:cNvSpPr txBox="1"/>
          <p:nvPr/>
        </p:nvSpPr>
        <p:spPr>
          <a:xfrm>
            <a:off x="8869680" y="3639312"/>
            <a:ext cx="137160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89310...</a:t>
            </a:r>
          </a:p>
        </p:txBody>
      </p:sp>
      <p:sp>
        <p:nvSpPr>
          <p:cNvPr id="54" name="Rounded Rectangle 53"/>
          <p:cNvSpPr/>
          <p:nvPr/>
        </p:nvSpPr>
        <p:spPr>
          <a:xfrm>
            <a:off x="10241280" y="3593592"/>
            <a:ext cx="1097280" cy="32004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241280" y="3593592"/>
            <a:ext cx="1097280" cy="320040"/>
          </a:xfrm>
          <a:prstGeom prst="rect">
            <a:avLst/>
          </a:prstGeom>
          <a:noFill/>
        </p:spPr>
        <p:txBody>
          <a:bodyPr wrap="square" lIns="45720" rIns="45720" tIns="18288" bIns="18288" anchor="ctr">
            <a:spAutoFit/>
          </a:bodyPr>
          <a:lstStyle/>
          <a:p>
            <a:pPr algn="ctr">
              <a:lnSpc>
                <a:spcPct val="120000"/>
              </a:lnSpc>
            </a:pPr>
            <a:r>
              <a:rPr sz="1100" b="1">
                <a:solidFill>
                  <a:srgbClr val="FFFFFF"/>
                </a:solidFill>
                <a:latin typeface="Calibri"/>
              </a:rPr>
              <a:t>COMPLETED</a:t>
            </a:r>
          </a:p>
        </p:txBody>
      </p:sp>
      <p:sp>
        <p:nvSpPr>
          <p:cNvPr id="56" name="Rectangle 55"/>
          <p:cNvSpPr/>
          <p:nvPr/>
        </p:nvSpPr>
        <p:spPr>
          <a:xfrm>
            <a:off x="2926080" y="3941064"/>
            <a:ext cx="886968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200400" y="4005072"/>
            <a:ext cx="146304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ACT-2026-00123</a:t>
            </a:r>
          </a:p>
        </p:txBody>
      </p:sp>
      <p:sp>
        <p:nvSpPr>
          <p:cNvPr id="58" name="TextBox 57"/>
          <p:cNvSpPr txBox="1"/>
          <p:nvPr/>
        </p:nvSpPr>
        <p:spPr>
          <a:xfrm>
            <a:off x="4663440" y="4005072"/>
            <a:ext cx="25603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Jansen Transport</a:t>
            </a:r>
          </a:p>
        </p:txBody>
      </p:sp>
      <p:sp>
        <p:nvSpPr>
          <p:cNvPr id="59" name="TextBox 58"/>
          <p:cNvSpPr txBox="1"/>
          <p:nvPr/>
        </p:nvSpPr>
        <p:spPr>
          <a:xfrm>
            <a:off x="7223760" y="4005072"/>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TRK-00098-ST</a:t>
            </a:r>
          </a:p>
        </p:txBody>
      </p:sp>
      <p:sp>
        <p:nvSpPr>
          <p:cNvPr id="60" name="TextBox 59"/>
          <p:cNvSpPr txBox="1"/>
          <p:nvPr/>
        </p:nvSpPr>
        <p:spPr>
          <a:xfrm>
            <a:off x="8869680" y="4005072"/>
            <a:ext cx="137160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89310...</a:t>
            </a:r>
          </a:p>
        </p:txBody>
      </p:sp>
      <p:sp>
        <p:nvSpPr>
          <p:cNvPr id="61" name="Rounded Rectangle 60"/>
          <p:cNvSpPr/>
          <p:nvPr/>
        </p:nvSpPr>
        <p:spPr>
          <a:xfrm>
            <a:off x="10241280" y="3959352"/>
            <a:ext cx="1097280" cy="32004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241280" y="3959352"/>
            <a:ext cx="1097280" cy="320040"/>
          </a:xfrm>
          <a:prstGeom prst="rect">
            <a:avLst/>
          </a:prstGeom>
          <a:noFill/>
        </p:spPr>
        <p:txBody>
          <a:bodyPr wrap="square" lIns="45720" rIns="45720" tIns="18288" bIns="18288" anchor="ctr">
            <a:spAutoFit/>
          </a:bodyPr>
          <a:lstStyle/>
          <a:p>
            <a:pPr algn="ctr">
              <a:lnSpc>
                <a:spcPct val="120000"/>
              </a:lnSpc>
            </a:pPr>
            <a:r>
              <a:rPr sz="1100" b="1">
                <a:solidFill>
                  <a:srgbClr val="FFFFFF"/>
                </a:solidFill>
                <a:latin typeface="Calibri"/>
              </a:rPr>
              <a:t>COMPLETED</a:t>
            </a:r>
          </a:p>
        </p:txBody>
      </p:sp>
      <p:sp>
        <p:nvSpPr>
          <p:cNvPr id="63" name="Rectangle 62"/>
          <p:cNvSpPr/>
          <p:nvPr/>
        </p:nvSpPr>
        <p:spPr>
          <a:xfrm>
            <a:off x="2926080" y="4306824"/>
            <a:ext cx="886968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200400" y="4370832"/>
            <a:ext cx="146304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ACT-2026-00122</a:t>
            </a:r>
          </a:p>
        </p:txBody>
      </p:sp>
      <p:sp>
        <p:nvSpPr>
          <p:cNvPr id="65" name="TextBox 64"/>
          <p:cNvSpPr txBox="1"/>
          <p:nvPr/>
        </p:nvSpPr>
        <p:spPr>
          <a:xfrm>
            <a:off x="4663440" y="4370832"/>
            <a:ext cx="25603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FleetCo Holding</a:t>
            </a:r>
          </a:p>
        </p:txBody>
      </p:sp>
      <p:sp>
        <p:nvSpPr>
          <p:cNvPr id="66" name="TextBox 65"/>
          <p:cNvSpPr txBox="1"/>
          <p:nvPr/>
        </p:nvSpPr>
        <p:spPr>
          <a:xfrm>
            <a:off x="7223760" y="4370832"/>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TRK-00095-ST</a:t>
            </a:r>
          </a:p>
        </p:txBody>
      </p:sp>
      <p:sp>
        <p:nvSpPr>
          <p:cNvPr id="67" name="TextBox 66"/>
          <p:cNvSpPr txBox="1"/>
          <p:nvPr/>
        </p:nvSpPr>
        <p:spPr>
          <a:xfrm>
            <a:off x="8869680" y="4370832"/>
            <a:ext cx="137160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89310...</a:t>
            </a:r>
          </a:p>
        </p:txBody>
      </p:sp>
      <p:sp>
        <p:nvSpPr>
          <p:cNvPr id="68" name="Rounded Rectangle 67"/>
          <p:cNvSpPr/>
          <p:nvPr/>
        </p:nvSpPr>
        <p:spPr>
          <a:xfrm>
            <a:off x="10241280" y="4325112"/>
            <a:ext cx="1097280" cy="32004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241280" y="4325112"/>
            <a:ext cx="1097280" cy="320040"/>
          </a:xfrm>
          <a:prstGeom prst="rect">
            <a:avLst/>
          </a:prstGeom>
          <a:noFill/>
        </p:spPr>
        <p:txBody>
          <a:bodyPr wrap="square" lIns="45720" rIns="45720" tIns="18288" bIns="18288" anchor="ctr">
            <a:spAutoFit/>
          </a:bodyPr>
          <a:lstStyle/>
          <a:p>
            <a:pPr algn="ctr">
              <a:lnSpc>
                <a:spcPct val="120000"/>
              </a:lnSpc>
            </a:pPr>
            <a:r>
              <a:rPr sz="1100" b="1">
                <a:solidFill>
                  <a:srgbClr val="FFFFFF"/>
                </a:solidFill>
                <a:latin typeface="Calibri"/>
              </a:rPr>
              <a:t>PROCESSING</a:t>
            </a:r>
          </a:p>
        </p:txBody>
      </p:sp>
      <p:sp>
        <p:nvSpPr>
          <p:cNvPr id="70" name="Rectangle 69"/>
          <p:cNvSpPr/>
          <p:nvPr/>
        </p:nvSpPr>
        <p:spPr>
          <a:xfrm>
            <a:off x="2926080" y="4672584"/>
            <a:ext cx="886968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00400" y="4736592"/>
            <a:ext cx="146304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ACT-2026-00121</a:t>
            </a:r>
          </a:p>
        </p:txBody>
      </p:sp>
      <p:sp>
        <p:nvSpPr>
          <p:cNvPr id="72" name="TextBox 71"/>
          <p:cNvSpPr txBox="1"/>
          <p:nvPr/>
        </p:nvSpPr>
        <p:spPr>
          <a:xfrm>
            <a:off x="4663440" y="4736592"/>
            <a:ext cx="25603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Bakker &amp; Zn</a:t>
            </a:r>
          </a:p>
        </p:txBody>
      </p:sp>
      <p:sp>
        <p:nvSpPr>
          <p:cNvPr id="73" name="TextBox 72"/>
          <p:cNvSpPr txBox="1"/>
          <p:nvPr/>
        </p:nvSpPr>
        <p:spPr>
          <a:xfrm>
            <a:off x="7223760" y="4736592"/>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TRK-00092-ST</a:t>
            </a:r>
          </a:p>
        </p:txBody>
      </p:sp>
      <p:sp>
        <p:nvSpPr>
          <p:cNvPr id="74" name="TextBox 73"/>
          <p:cNvSpPr txBox="1"/>
          <p:nvPr/>
        </p:nvSpPr>
        <p:spPr>
          <a:xfrm>
            <a:off x="8869680" y="4736592"/>
            <a:ext cx="137160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89310...</a:t>
            </a:r>
          </a:p>
        </p:txBody>
      </p:sp>
      <p:sp>
        <p:nvSpPr>
          <p:cNvPr id="75" name="Rounded Rectangle 74"/>
          <p:cNvSpPr/>
          <p:nvPr/>
        </p:nvSpPr>
        <p:spPr>
          <a:xfrm>
            <a:off x="10241280" y="4690872"/>
            <a:ext cx="1097280" cy="32004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241280" y="4690872"/>
            <a:ext cx="1097280" cy="320040"/>
          </a:xfrm>
          <a:prstGeom prst="rect">
            <a:avLst/>
          </a:prstGeom>
          <a:noFill/>
        </p:spPr>
        <p:txBody>
          <a:bodyPr wrap="square" lIns="45720" rIns="45720" tIns="18288" bIns="18288" anchor="ctr">
            <a:spAutoFit/>
          </a:bodyPr>
          <a:lstStyle/>
          <a:p>
            <a:pPr algn="ctr">
              <a:lnSpc>
                <a:spcPct val="120000"/>
              </a:lnSpc>
            </a:pPr>
            <a:r>
              <a:rPr sz="1100" b="1">
                <a:solidFill>
                  <a:srgbClr val="FFFFFF"/>
                </a:solidFill>
                <a:latin typeface="Calibri"/>
              </a:rPr>
              <a:t>READY</a:t>
            </a:r>
          </a:p>
        </p:txBody>
      </p:sp>
      <p:sp>
        <p:nvSpPr>
          <p:cNvPr id="77" name="Rectangle 76"/>
          <p:cNvSpPr/>
          <p:nvPr/>
        </p:nvSpPr>
        <p:spPr>
          <a:xfrm>
            <a:off x="2926080" y="5038344"/>
            <a:ext cx="886968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200400" y="5102352"/>
            <a:ext cx="146304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ACT-2026-00120</a:t>
            </a:r>
          </a:p>
        </p:txBody>
      </p:sp>
      <p:sp>
        <p:nvSpPr>
          <p:cNvPr id="79" name="TextBox 78"/>
          <p:cNvSpPr txBox="1"/>
          <p:nvPr/>
        </p:nvSpPr>
        <p:spPr>
          <a:xfrm>
            <a:off x="4663440" y="5102352"/>
            <a:ext cx="25603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De Vries Expeditie</a:t>
            </a:r>
          </a:p>
        </p:txBody>
      </p:sp>
      <p:sp>
        <p:nvSpPr>
          <p:cNvPr id="80" name="TextBox 79"/>
          <p:cNvSpPr txBox="1"/>
          <p:nvPr/>
        </p:nvSpPr>
        <p:spPr>
          <a:xfrm>
            <a:off x="7223760" y="5102352"/>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TRK-00089-ST</a:t>
            </a:r>
          </a:p>
        </p:txBody>
      </p:sp>
      <p:sp>
        <p:nvSpPr>
          <p:cNvPr id="81" name="TextBox 80"/>
          <p:cNvSpPr txBox="1"/>
          <p:nvPr/>
        </p:nvSpPr>
        <p:spPr>
          <a:xfrm>
            <a:off x="8869680" y="5102352"/>
            <a:ext cx="137160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89310...</a:t>
            </a:r>
          </a:p>
        </p:txBody>
      </p:sp>
      <p:sp>
        <p:nvSpPr>
          <p:cNvPr id="82" name="Rounded Rectangle 81"/>
          <p:cNvSpPr/>
          <p:nvPr/>
        </p:nvSpPr>
        <p:spPr>
          <a:xfrm>
            <a:off x="10241280" y="5056632"/>
            <a:ext cx="1097280" cy="32004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241280" y="5056632"/>
            <a:ext cx="1097280" cy="320040"/>
          </a:xfrm>
          <a:prstGeom prst="rect">
            <a:avLst/>
          </a:prstGeom>
          <a:noFill/>
        </p:spPr>
        <p:txBody>
          <a:bodyPr wrap="square" lIns="45720" rIns="45720" tIns="18288" bIns="18288" anchor="ctr">
            <a:spAutoFit/>
          </a:bodyPr>
          <a:lstStyle/>
          <a:p>
            <a:pPr algn="ctr">
              <a:lnSpc>
                <a:spcPct val="120000"/>
              </a:lnSpc>
            </a:pPr>
            <a:r>
              <a:rPr sz="1100" b="1">
                <a:solidFill>
                  <a:srgbClr val="FFFFFF"/>
                </a:solidFill>
                <a:latin typeface="Calibri"/>
              </a:rPr>
              <a:t>FAILED</a:t>
            </a:r>
          </a:p>
        </p:txBody>
      </p:sp>
      <p:sp>
        <p:nvSpPr>
          <p:cNvPr id="84" name="Rectangle 83"/>
          <p:cNvSpPr/>
          <p:nvPr/>
        </p:nvSpPr>
        <p:spPr>
          <a:xfrm>
            <a:off x="2926080" y="5404104"/>
            <a:ext cx="886968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2926080" y="5623560"/>
            <a:ext cx="8869680" cy="548640"/>
          </a:xfrm>
          <a:prstGeom prst="round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200400" y="5687568"/>
            <a:ext cx="8321040" cy="411480"/>
          </a:xfrm>
          <a:prstGeom prst="rect">
            <a:avLst/>
          </a:prstGeom>
          <a:noFill/>
        </p:spPr>
        <p:txBody>
          <a:bodyPr wrap="square" lIns="45720" rIns="45720" tIns="18288" bIns="18288" anchor="ctr">
            <a:spAutoFit/>
          </a:bodyPr>
          <a:lstStyle/>
          <a:p>
            <a:pPr algn="l">
              <a:lnSpc>
                <a:spcPct val="120000"/>
              </a:lnSpc>
            </a:pPr>
            <a:r>
              <a:rPr sz="1300" b="0">
                <a:solidFill>
                  <a:srgbClr val="1E3A5F"/>
                </a:solidFill>
                <a:latin typeface="Calibri"/>
              </a:rPr>
              <a:t>⌘ Tip: Gebruik Cmd+K (Mac) of Ctrl+K (Windows) voor bliksemsnel zoeken naar Klant, Tracker, SIM, Abonnement of Order!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Hoofdmodules (1/3)</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Klanten (Customer) &amp; Producten</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7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280160"/>
            <a:ext cx="5669280" cy="292608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371600"/>
            <a:ext cx="548640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4475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Klanten (Customers)</a:t>
            </a:r>
          </a:p>
        </p:txBody>
      </p:sp>
      <p:sp>
        <p:nvSpPr>
          <p:cNvPr id="15" name="TextBox 14"/>
          <p:cNvSpPr txBox="1"/>
          <p:nvPr/>
        </p:nvSpPr>
        <p:spPr>
          <a:xfrm>
            <a:off x="594360" y="1965960"/>
            <a:ext cx="5212080" cy="210312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Klantnummer </a:t>
            </a:r>
            <a:r>
              <a:rPr sz="1300">
                <a:solidFill>
                  <a:srgbClr val="1A1A1A"/>
                </a:solidFill>
                <a:latin typeface="Calibri"/>
              </a:rPr>
              <a:t>formaat: K-&lt;JJJJ&gt;-NNNNN (bv. K-2026-00001)</a:t>
            </a:r>
          </a:p>
          <a:p>
            <a:pPr algn="l">
              <a:lnSpc>
                <a:spcPct val="125000"/>
              </a:lnSpc>
              <a:spcAft>
                <a:spcPts val="600"/>
              </a:spcAft>
            </a:pPr>
            <a:r>
              <a:rPr sz="1300" b="1">
                <a:solidFill>
                  <a:srgbClr val="2E86C1"/>
                </a:solidFill>
                <a:latin typeface="Calibri"/>
              </a:rPr>
              <a:t>▸ </a:t>
            </a:r>
            <a:r>
              <a:rPr sz="1300" b="1">
                <a:solidFill>
                  <a:srgbClr val="1A1A1A"/>
                </a:solidFill>
                <a:latin typeface="Calibri"/>
              </a:rPr>
              <a:t>Statussen: </a:t>
            </a:r>
            <a:r>
              <a:rPr sz="1300">
                <a:solidFill>
                  <a:srgbClr val="1A1A1A"/>
                </a:solidFill>
                <a:latin typeface="Calibri"/>
              </a:rPr>
              <a:t>PROSPECT → ACTIVE → SUSPENDED → INACTIVE</a:t>
            </a:r>
          </a:p>
          <a:p>
            <a:pPr algn="l">
              <a:lnSpc>
                <a:spcPct val="125000"/>
              </a:lnSpc>
              <a:spcAft>
                <a:spcPts val="600"/>
              </a:spcAft>
            </a:pPr>
            <a:r>
              <a:rPr sz="1300" b="1">
                <a:solidFill>
                  <a:srgbClr val="2E86C1"/>
                </a:solidFill>
                <a:latin typeface="Calibri"/>
              </a:rPr>
              <a:t>▸ </a:t>
            </a:r>
            <a:r>
              <a:rPr sz="1300" b="1">
                <a:solidFill>
                  <a:srgbClr val="1A1A1A"/>
                </a:solidFill>
                <a:latin typeface="Calibri"/>
              </a:rPr>
              <a:t>Hiërarchie: </a:t>
            </a:r>
            <a:r>
              <a:rPr sz="1300">
                <a:solidFill>
                  <a:srgbClr val="1A1A1A"/>
                </a:solidFill>
                <a:latin typeface="Calibri"/>
              </a:rPr>
              <a:t>hoofdklant + sub-klanten (parentCustomerId)</a:t>
            </a:r>
          </a:p>
          <a:p>
            <a:pPr algn="l">
              <a:lnSpc>
                <a:spcPct val="125000"/>
              </a:lnSpc>
              <a:spcAft>
                <a:spcPts val="600"/>
              </a:spcAft>
            </a:pPr>
            <a:r>
              <a:rPr sz="1300" b="1">
                <a:solidFill>
                  <a:srgbClr val="2E86C1"/>
                </a:solidFill>
                <a:latin typeface="Calibri"/>
              </a:rPr>
              <a:t>▸ </a:t>
            </a:r>
            <a:r>
              <a:rPr sz="1300" b="1">
                <a:solidFill>
                  <a:srgbClr val="1A1A1A"/>
                </a:solidFill>
                <a:latin typeface="Calibri"/>
              </a:rPr>
              <a:t>BTW- </a:t>
            </a:r>
            <a:r>
              <a:rPr sz="1300">
                <a:solidFill>
                  <a:srgbClr val="1A1A1A"/>
                </a:solidFill>
                <a:latin typeface="Calibri"/>
              </a:rPr>
              <a:t>en KvK-nummers opgeslagen</a:t>
            </a:r>
          </a:p>
          <a:p>
            <a:pPr algn="l">
              <a:lnSpc>
                <a:spcPct val="125000"/>
              </a:lnSpc>
              <a:spcAft>
                <a:spcPts val="600"/>
              </a:spcAft>
            </a:pPr>
            <a:r>
              <a:rPr sz="1300" b="1">
                <a:solidFill>
                  <a:srgbClr val="2E86C1"/>
                </a:solidFill>
                <a:latin typeface="Calibri"/>
              </a:rPr>
              <a:t>▸ </a:t>
            </a:r>
            <a:r>
              <a:rPr sz="1300" b="1">
                <a:solidFill>
                  <a:srgbClr val="1A1A1A"/>
                </a:solidFill>
                <a:latin typeface="Calibri"/>
              </a:rPr>
              <a:t>Inserve </a:t>
            </a:r>
            <a:r>
              <a:rPr sz="1300">
                <a:solidFill>
                  <a:srgbClr val="1A1A1A"/>
                </a:solidFill>
                <a:latin typeface="Calibri"/>
              </a:rPr>
              <a:t>integratie: inserveCompanyId (optioneel)</a:t>
            </a:r>
          </a:p>
          <a:p>
            <a:pPr algn="l">
              <a:lnSpc>
                <a:spcPct val="125000"/>
              </a:lnSpc>
              <a:spcAft>
                <a:spcPts val="600"/>
              </a:spcAft>
            </a:pPr>
            <a:r>
              <a:rPr sz="1300" b="1">
                <a:solidFill>
                  <a:srgbClr val="2E86C1"/>
                </a:solidFill>
                <a:latin typeface="Calibri"/>
              </a:rPr>
              <a:t>▸ </a:t>
            </a:r>
            <a:r>
              <a:rPr sz="1300" b="1">
                <a:solidFill>
                  <a:srgbClr val="1A1A1A"/>
                </a:solidFill>
                <a:latin typeface="Calibri"/>
              </a:rPr>
              <a:t>Per </a:t>
            </a:r>
            <a:r>
              <a:rPr sz="1300">
                <a:solidFill>
                  <a:srgbClr val="1A1A1A"/>
                </a:solidFill>
                <a:latin typeface="Calibri"/>
              </a:rPr>
              <a:t>klant tabs: Abonnementen, Trackers, SIMs, Voertuigen, Activaties, Geschiedenis</a:t>
            </a:r>
          </a:p>
          <a:p>
            <a:pPr algn="l">
              <a:lnSpc>
                <a:spcPct val="125000"/>
              </a:lnSpc>
              <a:spcAft>
                <a:spcPts val="600"/>
              </a:spcAft>
            </a:pPr>
            <a:r>
              <a:rPr sz="1300" b="1">
                <a:solidFill>
                  <a:srgbClr val="2E86C1"/>
                </a:solidFill>
                <a:latin typeface="Calibri"/>
              </a:rPr>
              <a:t>▸ </a:t>
            </a:r>
            <a:r>
              <a:rPr sz="1300" b="1">
                <a:solidFill>
                  <a:srgbClr val="1A1A1A"/>
                </a:solidFill>
                <a:latin typeface="Calibri"/>
              </a:rPr>
              <a:t>Soft-delete </a:t>
            </a:r>
            <a:r>
              <a:rPr sz="1300">
                <a:solidFill>
                  <a:srgbClr val="1A1A1A"/>
                </a:solidFill>
                <a:latin typeface="Calibri"/>
              </a:rPr>
              <a:t>(deletedAt) – data gaat niet verloren</a:t>
            </a:r>
          </a:p>
        </p:txBody>
      </p:sp>
      <p:sp>
        <p:nvSpPr>
          <p:cNvPr id="16" name="Rounded Rectangle 15"/>
          <p:cNvSpPr/>
          <p:nvPr/>
        </p:nvSpPr>
        <p:spPr>
          <a:xfrm>
            <a:off x="6172200" y="1280160"/>
            <a:ext cx="5669280" cy="292608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1371600"/>
            <a:ext cx="5486400" cy="50292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4475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Producten</a:t>
            </a:r>
          </a:p>
        </p:txBody>
      </p:sp>
      <p:sp>
        <p:nvSpPr>
          <p:cNvPr id="19" name="TextBox 18"/>
          <p:cNvSpPr txBox="1"/>
          <p:nvPr/>
        </p:nvSpPr>
        <p:spPr>
          <a:xfrm>
            <a:off x="6400800" y="1965960"/>
            <a:ext cx="5212080" cy="210312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Unieke </a:t>
            </a:r>
            <a:r>
              <a:rPr sz="1300">
                <a:solidFill>
                  <a:srgbClr val="1A1A1A"/>
                </a:solidFill>
                <a:latin typeface="Calibri"/>
              </a:rPr>
              <a:t>productCode (handmatig te kiezen)</a:t>
            </a:r>
          </a:p>
          <a:p>
            <a:pPr algn="l">
              <a:lnSpc>
                <a:spcPct val="125000"/>
              </a:lnSpc>
              <a:spcAft>
                <a:spcPts val="600"/>
              </a:spcAft>
            </a:pPr>
            <a:r>
              <a:rPr sz="1300" b="1">
                <a:solidFill>
                  <a:srgbClr val="2E86C1"/>
                </a:solidFill>
                <a:latin typeface="Calibri"/>
              </a:rPr>
              <a:t>▸ </a:t>
            </a:r>
            <a:r>
              <a:rPr sz="1300" b="1">
                <a:solidFill>
                  <a:srgbClr val="1A1A1A"/>
                </a:solidFill>
                <a:latin typeface="Calibri"/>
              </a:rPr>
              <a:t>Maandprijs </a:t>
            </a:r>
            <a:r>
              <a:rPr sz="1300">
                <a:solidFill>
                  <a:srgbClr val="1A1A1A"/>
                </a:solidFill>
                <a:latin typeface="Calibri"/>
              </a:rPr>
              <a:t>(€) met 2 decimalen via Decimal(10,2)</a:t>
            </a:r>
          </a:p>
          <a:p>
            <a:pPr algn="l">
              <a:lnSpc>
                <a:spcPct val="125000"/>
              </a:lnSpc>
              <a:spcAft>
                <a:spcPts val="600"/>
              </a:spcAft>
            </a:pPr>
            <a:r>
              <a:rPr sz="1300" b="1">
                <a:solidFill>
                  <a:srgbClr val="2E86C1"/>
                </a:solidFill>
                <a:latin typeface="Calibri"/>
              </a:rPr>
              <a:t>▸ </a:t>
            </a:r>
            <a:r>
              <a:rPr sz="1300" b="1">
                <a:solidFill>
                  <a:srgbClr val="1A1A1A"/>
                </a:solidFill>
                <a:latin typeface="Calibri"/>
              </a:rPr>
              <a:t>BTW-percentage </a:t>
            </a:r>
            <a:r>
              <a:rPr sz="1300">
                <a:solidFill>
                  <a:srgbClr val="1A1A1A"/>
                </a:solidFill>
                <a:latin typeface="Calibri"/>
              </a:rPr>
              <a:t>(standaard 21%)</a:t>
            </a:r>
          </a:p>
          <a:p>
            <a:pPr algn="l">
              <a:lnSpc>
                <a:spcPct val="125000"/>
              </a:lnSpc>
              <a:spcAft>
                <a:spcPts val="600"/>
              </a:spcAft>
            </a:pPr>
            <a:r>
              <a:rPr sz="1300" b="1">
                <a:solidFill>
                  <a:srgbClr val="2E86C1"/>
                </a:solidFill>
                <a:latin typeface="Calibri"/>
              </a:rPr>
              <a:t>▸ </a:t>
            </a:r>
            <a:r>
              <a:rPr sz="1300" b="1">
                <a:solidFill>
                  <a:srgbClr val="1A1A1A"/>
                </a:solidFill>
                <a:latin typeface="Calibri"/>
              </a:rPr>
              <a:t>Actief/inactief </a:t>
            </a:r>
            <a:r>
              <a:rPr sz="1300">
                <a:solidFill>
                  <a:srgbClr val="1A1A1A"/>
                </a:solidFill>
                <a:latin typeface="Calibri"/>
              </a:rPr>
              <a:t>via isActive toggle</a:t>
            </a:r>
          </a:p>
          <a:p>
            <a:pPr algn="l">
              <a:lnSpc>
                <a:spcPct val="125000"/>
              </a:lnSpc>
              <a:spcAft>
                <a:spcPts val="600"/>
              </a:spcAft>
            </a:pPr>
            <a:r>
              <a:rPr sz="1300" b="1">
                <a:solidFill>
                  <a:srgbClr val="2E86C1"/>
                </a:solidFill>
                <a:latin typeface="Calibri"/>
              </a:rPr>
              <a:t>▸ </a:t>
            </a:r>
            <a:r>
              <a:rPr sz="1300" b="1">
                <a:solidFill>
                  <a:srgbClr val="1A1A1A"/>
                </a:solidFill>
                <a:latin typeface="Calibri"/>
              </a:rPr>
              <a:t>Billing </a:t>
            </a:r>
            <a:r>
              <a:rPr sz="1300">
                <a:solidFill>
                  <a:srgbClr val="1A1A1A"/>
                </a:solidFill>
                <a:latin typeface="Calibri"/>
              </a:rPr>
              <a:t>cycles: MONTHLY / QUARTERLY / YEARLY</a:t>
            </a:r>
          </a:p>
          <a:p>
            <a:pPr algn="l">
              <a:lnSpc>
                <a:spcPct val="125000"/>
              </a:lnSpc>
              <a:spcAft>
                <a:spcPts val="600"/>
              </a:spcAft>
            </a:pPr>
            <a:r>
              <a:rPr sz="1300" b="1">
                <a:solidFill>
                  <a:srgbClr val="2E86C1"/>
                </a:solidFill>
                <a:latin typeface="Calibri"/>
              </a:rPr>
              <a:t>▸ </a:t>
            </a:r>
            <a:r>
              <a:rPr sz="1300" b="1">
                <a:solidFill>
                  <a:srgbClr val="1A1A1A"/>
                </a:solidFill>
                <a:latin typeface="Calibri"/>
              </a:rPr>
              <a:t>Inserve </a:t>
            </a:r>
            <a:r>
              <a:rPr sz="1300">
                <a:solidFill>
                  <a:srgbClr val="1A1A1A"/>
                </a:solidFill>
                <a:latin typeface="Calibri"/>
              </a:rPr>
              <a:t>integratie: inserveArticleId (optioneel)</a:t>
            </a:r>
          </a:p>
          <a:p>
            <a:pPr algn="l">
              <a:lnSpc>
                <a:spcPct val="125000"/>
              </a:lnSpc>
              <a:spcAft>
                <a:spcPts val="600"/>
              </a:spcAft>
            </a:pPr>
            <a:r>
              <a:rPr sz="1300" b="1">
                <a:solidFill>
                  <a:srgbClr val="2E86C1"/>
                </a:solidFill>
                <a:latin typeface="Calibri"/>
              </a:rPr>
              <a:t>▸ </a:t>
            </a:r>
            <a:r>
              <a:rPr sz="1300" b="1">
                <a:solidFill>
                  <a:srgbClr val="1A1A1A"/>
                </a:solidFill>
                <a:latin typeface="Calibri"/>
              </a:rPr>
              <a:t>Wordt </a:t>
            </a:r>
            <a:r>
              <a:rPr sz="1300">
                <a:solidFill>
                  <a:srgbClr val="1A1A1A"/>
                </a:solidFill>
                <a:latin typeface="Calibri"/>
              </a:rPr>
              <a:t>gebruikt in abonnementen en activatiewizard</a:t>
            </a:r>
          </a:p>
        </p:txBody>
      </p:sp>
      <p:sp>
        <p:nvSpPr>
          <p:cNvPr id="20" name="Rounded Rectangle 19"/>
          <p:cNvSpPr/>
          <p:nvPr/>
        </p:nvSpPr>
        <p:spPr>
          <a:xfrm>
            <a:off x="1066647" y="4480560"/>
            <a:ext cx="2377440" cy="100584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6647" y="4800600"/>
            <a:ext cx="2377440" cy="411480"/>
          </a:xfrm>
          <a:prstGeom prst="rect">
            <a:avLst/>
          </a:prstGeom>
          <a:noFill/>
        </p:spPr>
        <p:txBody>
          <a:bodyPr wrap="square" lIns="45720" rIns="45720" tIns="18288" bIns="18288" anchor="t">
            <a:spAutoFit/>
          </a:bodyPr>
          <a:lstStyle/>
          <a:p>
            <a:pPr algn="ctr">
              <a:lnSpc>
                <a:spcPct val="120000"/>
              </a:lnSpc>
            </a:pPr>
            <a:r>
              <a:rPr sz="1600" b="1">
                <a:solidFill>
                  <a:srgbClr val="FFFFFF"/>
                </a:solidFill>
                <a:latin typeface="Calibri"/>
              </a:rPr>
              <a:t>PROSPECT</a:t>
            </a:r>
          </a:p>
        </p:txBody>
      </p:sp>
      <p:sp>
        <p:nvSpPr>
          <p:cNvPr id="22" name="Rounded Rectangle 21"/>
          <p:cNvSpPr/>
          <p:nvPr/>
        </p:nvSpPr>
        <p:spPr>
          <a:xfrm>
            <a:off x="3626967" y="4480560"/>
            <a:ext cx="2377440" cy="100584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26967" y="4800600"/>
            <a:ext cx="2377440" cy="411480"/>
          </a:xfrm>
          <a:prstGeom prst="rect">
            <a:avLst/>
          </a:prstGeom>
          <a:noFill/>
        </p:spPr>
        <p:txBody>
          <a:bodyPr wrap="square" lIns="45720" rIns="45720" tIns="18288" bIns="18288" anchor="t">
            <a:spAutoFit/>
          </a:bodyPr>
          <a:lstStyle/>
          <a:p>
            <a:pPr algn="ctr">
              <a:lnSpc>
                <a:spcPct val="120000"/>
              </a:lnSpc>
            </a:pPr>
            <a:r>
              <a:rPr sz="1600" b="1">
                <a:solidFill>
                  <a:srgbClr val="FFFFFF"/>
                </a:solidFill>
                <a:latin typeface="Calibri"/>
              </a:rPr>
              <a:t>ACTIVE</a:t>
            </a:r>
          </a:p>
        </p:txBody>
      </p:sp>
      <p:sp>
        <p:nvSpPr>
          <p:cNvPr id="24" name="Rounded Rectangle 23"/>
          <p:cNvSpPr/>
          <p:nvPr/>
        </p:nvSpPr>
        <p:spPr>
          <a:xfrm>
            <a:off x="6187287" y="4480560"/>
            <a:ext cx="2377440" cy="100584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87287" y="4800600"/>
            <a:ext cx="2377440" cy="411480"/>
          </a:xfrm>
          <a:prstGeom prst="rect">
            <a:avLst/>
          </a:prstGeom>
          <a:noFill/>
        </p:spPr>
        <p:txBody>
          <a:bodyPr wrap="square" lIns="45720" rIns="45720" tIns="18288" bIns="18288" anchor="t">
            <a:spAutoFit/>
          </a:bodyPr>
          <a:lstStyle/>
          <a:p>
            <a:pPr algn="ctr">
              <a:lnSpc>
                <a:spcPct val="120000"/>
              </a:lnSpc>
            </a:pPr>
            <a:r>
              <a:rPr sz="1600" b="1">
                <a:solidFill>
                  <a:srgbClr val="FFFFFF"/>
                </a:solidFill>
                <a:latin typeface="Calibri"/>
              </a:rPr>
              <a:t>SUSPENDED</a:t>
            </a:r>
          </a:p>
        </p:txBody>
      </p:sp>
      <p:sp>
        <p:nvSpPr>
          <p:cNvPr id="26" name="Rounded Rectangle 25"/>
          <p:cNvSpPr/>
          <p:nvPr/>
        </p:nvSpPr>
        <p:spPr>
          <a:xfrm>
            <a:off x="8747607" y="4480560"/>
            <a:ext cx="2377440" cy="1005840"/>
          </a:xfrm>
          <a:prstGeom prst="round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7607" y="4800600"/>
            <a:ext cx="2377440" cy="411480"/>
          </a:xfrm>
          <a:prstGeom prst="rect">
            <a:avLst/>
          </a:prstGeom>
          <a:noFill/>
        </p:spPr>
        <p:txBody>
          <a:bodyPr wrap="square" lIns="45720" rIns="45720" tIns="18288" bIns="18288" anchor="t">
            <a:spAutoFit/>
          </a:bodyPr>
          <a:lstStyle/>
          <a:p>
            <a:pPr algn="ctr">
              <a:lnSpc>
                <a:spcPct val="120000"/>
              </a:lnSpc>
            </a:pPr>
            <a:r>
              <a:rPr sz="1600" b="1">
                <a:solidFill>
                  <a:srgbClr val="FFFFFF"/>
                </a:solidFill>
                <a:latin typeface="Calibri"/>
              </a:rPr>
              <a:t>INACTIVE</a:t>
            </a:r>
          </a:p>
        </p:txBody>
      </p:sp>
      <p:sp>
        <p:nvSpPr>
          <p:cNvPr id="28" name="Rounded Rectangle 27"/>
          <p:cNvSpPr/>
          <p:nvPr/>
        </p:nvSpPr>
        <p:spPr>
          <a:xfrm>
            <a:off x="457200" y="5760720"/>
            <a:ext cx="11277295" cy="27432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779008"/>
            <a:ext cx="11277295" cy="256032"/>
          </a:xfrm>
          <a:prstGeom prst="rect">
            <a:avLst/>
          </a:prstGeom>
          <a:noFill/>
        </p:spPr>
        <p:txBody>
          <a:bodyPr wrap="square" lIns="45720" rIns="45720" tIns="18288" bIns="18288" anchor="t">
            <a:spAutoFit/>
          </a:bodyPr>
          <a:lstStyle/>
          <a:p>
            <a:pPr algn="ctr">
              <a:lnSpc>
                <a:spcPct val="120000"/>
              </a:lnSpc>
            </a:pPr>
            <a:r>
              <a:rPr sz="1100" b="0">
                <a:solidFill>
                  <a:srgbClr val="555555"/>
                </a:solidFill>
                <a:latin typeface="Calibri"/>
              </a:rPr>
              <a:t>⬅️ Klant levenscyclus (van links naar rechts)   |   Inactieve klanten en abonnementen blijven zichtbaar in het archief via soft-delete.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Hoofdmodules (2/3)</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Trackers (GPS) &amp; SIM-kaarten</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8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280160"/>
            <a:ext cx="5669280" cy="32918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371600"/>
            <a:ext cx="548640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4475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Trackers (GPS Hardware)</a:t>
            </a:r>
          </a:p>
        </p:txBody>
      </p:sp>
      <p:sp>
        <p:nvSpPr>
          <p:cNvPr id="15" name="TextBox 14"/>
          <p:cNvSpPr txBox="1"/>
          <p:nvPr/>
        </p:nvSpPr>
        <p:spPr>
          <a:xfrm>
            <a:off x="594360" y="1965960"/>
            <a:ext cx="5212080" cy="246888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Tracker </a:t>
            </a:r>
            <a:r>
              <a:rPr sz="1300">
                <a:solidFill>
                  <a:srgbClr val="1A1A1A"/>
                </a:solidFill>
                <a:latin typeface="Calibri"/>
              </a:rPr>
              <a:t>ID: TRK-&lt;XXXXXX&gt;-ST (bv. TRK-00001-ST)</a:t>
            </a:r>
          </a:p>
          <a:p>
            <a:pPr algn="l">
              <a:lnSpc>
                <a:spcPct val="125000"/>
              </a:lnSpc>
              <a:spcAft>
                <a:spcPts val="600"/>
              </a:spcAft>
            </a:pPr>
            <a:r>
              <a:rPr sz="1300" b="1">
                <a:solidFill>
                  <a:srgbClr val="2E86C1"/>
                </a:solidFill>
                <a:latin typeface="Calibri"/>
              </a:rPr>
              <a:t>▸ </a:t>
            </a:r>
            <a:r>
              <a:rPr sz="1300" b="1">
                <a:solidFill>
                  <a:srgbClr val="1A1A1A"/>
                </a:solidFill>
                <a:latin typeface="Calibri"/>
              </a:rPr>
              <a:t>IMEI: </a:t>
            </a:r>
            <a:r>
              <a:rPr sz="1300">
                <a:solidFill>
                  <a:srgbClr val="1A1A1A"/>
                </a:solidFill>
                <a:latin typeface="Calibri"/>
              </a:rPr>
              <a:t>15 cijfers, Luhn-validatie, weergave 4-4-4-3</a:t>
            </a:r>
          </a:p>
          <a:p>
            <a:pPr algn="l">
              <a:lnSpc>
                <a:spcPct val="125000"/>
              </a:lnSpc>
              <a:spcAft>
                <a:spcPts val="600"/>
              </a:spcAft>
            </a:pPr>
            <a:r>
              <a:rPr sz="1300" b="1">
                <a:solidFill>
                  <a:srgbClr val="2E86C1"/>
                </a:solidFill>
                <a:latin typeface="Calibri"/>
              </a:rPr>
              <a:t>▸ </a:t>
            </a:r>
            <a:r>
              <a:rPr sz="1300" b="1">
                <a:solidFill>
                  <a:srgbClr val="1A1A1A"/>
                </a:solidFill>
                <a:latin typeface="Calibri"/>
              </a:rPr>
              <a:t>Voorbeelden: </a:t>
            </a:r>
            <a:r>
              <a:rPr sz="1300">
                <a:solidFill>
                  <a:srgbClr val="1A1A1A"/>
                </a:solidFill>
                <a:latin typeface="Calibri"/>
              </a:rPr>
              <a:t>4901 5420 3237 518</a:t>
            </a:r>
          </a:p>
          <a:p>
            <a:pPr algn="l">
              <a:lnSpc>
                <a:spcPct val="125000"/>
              </a:lnSpc>
              <a:spcAft>
                <a:spcPts val="600"/>
              </a:spcAft>
            </a:pPr>
            <a:r>
              <a:rPr sz="1300" b="1">
                <a:solidFill>
                  <a:srgbClr val="2E86C1"/>
                </a:solidFill>
                <a:latin typeface="Calibri"/>
              </a:rPr>
              <a:t>▸ </a:t>
            </a:r>
            <a:r>
              <a:rPr sz="1300" b="1">
                <a:solidFill>
                  <a:srgbClr val="1A1A1A"/>
                </a:solidFill>
                <a:latin typeface="Calibri"/>
              </a:rPr>
              <a:t>Uniek </a:t>
            </a:r>
            <a:r>
              <a:rPr sz="1300">
                <a:solidFill>
                  <a:srgbClr val="1A1A1A"/>
                </a:solidFill>
                <a:latin typeface="Calibri"/>
              </a:rPr>
              <a:t>serienummer en IMEI per tracker</a:t>
            </a:r>
          </a:p>
          <a:p>
            <a:pPr algn="l">
              <a:lnSpc>
                <a:spcPct val="125000"/>
              </a:lnSpc>
              <a:spcAft>
                <a:spcPts val="600"/>
              </a:spcAft>
            </a:pPr>
            <a:r>
              <a:rPr sz="1300" b="1">
                <a:solidFill>
                  <a:srgbClr val="2E86C1"/>
                </a:solidFill>
                <a:latin typeface="Calibri"/>
              </a:rPr>
              <a:t>▸ </a:t>
            </a:r>
            <a:r>
              <a:rPr sz="1300" b="1">
                <a:solidFill>
                  <a:srgbClr val="1A1A1A"/>
                </a:solidFill>
                <a:latin typeface="Calibri"/>
              </a:rPr>
              <a:t>Merk, </a:t>
            </a:r>
            <a:r>
              <a:rPr sz="1300">
                <a:solidFill>
                  <a:srgbClr val="1A1A1A"/>
                </a:solidFill>
                <a:latin typeface="Calibri"/>
              </a:rPr>
              <a:t>model, firmwareversie, leverancier</a:t>
            </a:r>
          </a:p>
          <a:p>
            <a:pPr algn="l">
              <a:lnSpc>
                <a:spcPct val="125000"/>
              </a:lnSpc>
              <a:spcAft>
                <a:spcPts val="600"/>
              </a:spcAft>
            </a:pPr>
            <a:r>
              <a:rPr sz="1300" b="1">
                <a:solidFill>
                  <a:srgbClr val="2E86C1"/>
                </a:solidFill>
                <a:latin typeface="Calibri"/>
              </a:rPr>
              <a:t>▸ </a:t>
            </a:r>
            <a:r>
              <a:rPr sz="1300" b="1">
                <a:solidFill>
                  <a:srgbClr val="1A1A1A"/>
                </a:solidFill>
                <a:latin typeface="Calibri"/>
              </a:rPr>
              <a:t>Status: </a:t>
            </a:r>
            <a:r>
              <a:rPr sz="1300">
                <a:solidFill>
                  <a:srgbClr val="1A1A1A"/>
                </a:solidFill>
                <a:latin typeface="Calibri"/>
              </a:rPr>
              <a:t>IN_STOCK, RESERVED, ACTIVE, SUSPENDED, DEFECTIVE, RMA, RETIRED, LOST</a:t>
            </a:r>
          </a:p>
          <a:p>
            <a:pPr algn="l">
              <a:lnSpc>
                <a:spcPct val="125000"/>
              </a:lnSpc>
              <a:spcAft>
                <a:spcPts val="600"/>
              </a:spcAft>
            </a:pPr>
            <a:r>
              <a:rPr sz="1300" b="1">
                <a:solidFill>
                  <a:srgbClr val="2E86C1"/>
                </a:solidFill>
                <a:latin typeface="Calibri"/>
              </a:rPr>
              <a:t>▸ </a:t>
            </a:r>
            <a:r>
              <a:rPr sz="1300" b="1">
                <a:solidFill>
                  <a:srgbClr val="1A1A1A"/>
                </a:solidFill>
                <a:latin typeface="Calibri"/>
              </a:rPr>
              <a:t>Soft-delete </a:t>
            </a:r>
            <a:r>
              <a:rPr sz="1300">
                <a:solidFill>
                  <a:srgbClr val="1A1A1A"/>
                </a:solidFill>
                <a:latin typeface="Calibri"/>
              </a:rPr>
              <a:t>– voorraad blijft traceerbaar</a:t>
            </a:r>
          </a:p>
          <a:p>
            <a:pPr algn="l">
              <a:lnSpc>
                <a:spcPct val="125000"/>
              </a:lnSpc>
              <a:spcAft>
                <a:spcPts val="600"/>
              </a:spcAft>
            </a:pPr>
            <a:r>
              <a:rPr sz="1300" b="1">
                <a:solidFill>
                  <a:srgbClr val="2E86C1"/>
                </a:solidFill>
                <a:latin typeface="Calibri"/>
              </a:rPr>
              <a:t>▸ </a:t>
            </a:r>
            <a:r>
              <a:rPr sz="1300" b="1">
                <a:solidFill>
                  <a:srgbClr val="1A1A1A"/>
                </a:solidFill>
                <a:latin typeface="Calibri"/>
              </a:rPr>
              <a:t>Auto-normalisatie </a:t>
            </a:r>
            <a:r>
              <a:rPr sz="1300">
                <a:solidFill>
                  <a:srgbClr val="1A1A1A"/>
                </a:solidFill>
                <a:latin typeface="Calibri"/>
              </a:rPr>
              <a:t>(streepjes/spaties verwijderd)</a:t>
            </a:r>
          </a:p>
        </p:txBody>
      </p:sp>
      <p:sp>
        <p:nvSpPr>
          <p:cNvPr id="16" name="Rounded Rectangle 15"/>
          <p:cNvSpPr/>
          <p:nvPr/>
        </p:nvSpPr>
        <p:spPr>
          <a:xfrm>
            <a:off x="6172200" y="1280160"/>
            <a:ext cx="5669280" cy="32918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1371600"/>
            <a:ext cx="5486400" cy="50292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4475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SIM-kaarten (M2M/IoT)</a:t>
            </a:r>
          </a:p>
        </p:txBody>
      </p:sp>
      <p:sp>
        <p:nvSpPr>
          <p:cNvPr id="19" name="TextBox 18"/>
          <p:cNvSpPr txBox="1"/>
          <p:nvPr/>
        </p:nvSpPr>
        <p:spPr>
          <a:xfrm>
            <a:off x="6400800" y="1965960"/>
            <a:ext cx="5212080" cy="246888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ICCID: </a:t>
            </a:r>
            <a:r>
              <a:rPr sz="1300">
                <a:solidFill>
                  <a:srgbClr val="1A1A1A"/>
                </a:solidFill>
                <a:latin typeface="Calibri"/>
              </a:rPr>
              <a:t>19–20 cijfers, MOET beginnen met 89</a:t>
            </a:r>
          </a:p>
          <a:p>
            <a:pPr algn="l">
              <a:lnSpc>
                <a:spcPct val="125000"/>
              </a:lnSpc>
              <a:spcAft>
                <a:spcPts val="600"/>
              </a:spcAft>
            </a:pPr>
            <a:r>
              <a:rPr sz="1300" b="1">
                <a:solidFill>
                  <a:srgbClr val="2E86C1"/>
                </a:solidFill>
                <a:latin typeface="Calibri"/>
              </a:rPr>
              <a:t>▸ </a:t>
            </a:r>
            <a:r>
              <a:rPr sz="1300" b="1">
                <a:solidFill>
                  <a:srgbClr val="1A1A1A"/>
                </a:solidFill>
                <a:latin typeface="Calibri"/>
              </a:rPr>
              <a:t>Optioneel: </a:t>
            </a:r>
            <a:r>
              <a:rPr sz="1300">
                <a:solidFill>
                  <a:srgbClr val="1A1A1A"/>
                </a:solidFill>
                <a:latin typeface="Calibri"/>
              </a:rPr>
              <a:t>MSISDN (telefoonnummer), IMSI</a:t>
            </a:r>
          </a:p>
          <a:p>
            <a:pPr algn="l">
              <a:lnSpc>
                <a:spcPct val="125000"/>
              </a:lnSpc>
              <a:spcAft>
                <a:spcPts val="600"/>
              </a:spcAft>
            </a:pPr>
            <a:r>
              <a:rPr sz="1300" b="1">
                <a:solidFill>
                  <a:srgbClr val="2E86C1"/>
                </a:solidFill>
                <a:latin typeface="Calibri"/>
              </a:rPr>
              <a:t>▸ </a:t>
            </a:r>
            <a:r>
              <a:rPr sz="1300" b="1">
                <a:solidFill>
                  <a:srgbClr val="1A1A1A"/>
                </a:solidFill>
                <a:latin typeface="Calibri"/>
              </a:rPr>
              <a:t>Provider </a:t>
            </a:r>
            <a:r>
              <a:rPr sz="1300">
                <a:solidFill>
                  <a:srgbClr val="1A1A1A"/>
                </a:solidFill>
                <a:latin typeface="Calibri"/>
              </a:rPr>
              <a:t>en SIM-type opgeslagen</a:t>
            </a:r>
          </a:p>
          <a:p>
            <a:pPr algn="l">
              <a:lnSpc>
                <a:spcPct val="125000"/>
              </a:lnSpc>
              <a:spcAft>
                <a:spcPts val="600"/>
              </a:spcAft>
            </a:pPr>
            <a:r>
              <a:rPr sz="1300" b="1">
                <a:solidFill>
                  <a:srgbClr val="2E86C1"/>
                </a:solidFill>
                <a:latin typeface="Calibri"/>
              </a:rPr>
              <a:t>▸ </a:t>
            </a:r>
            <a:r>
              <a:rPr sz="1300" b="1">
                <a:solidFill>
                  <a:srgbClr val="1A1A1A"/>
                </a:solidFill>
                <a:latin typeface="Calibri"/>
              </a:rPr>
              <a:t>APN-configuratie </a:t>
            </a:r>
            <a:r>
              <a:rPr sz="1300">
                <a:solidFill>
                  <a:srgbClr val="1A1A1A"/>
                </a:solidFill>
                <a:latin typeface="Calibri"/>
              </a:rPr>
              <a:t>per SIM</a:t>
            </a:r>
          </a:p>
          <a:p>
            <a:pPr algn="l">
              <a:lnSpc>
                <a:spcPct val="125000"/>
              </a:lnSpc>
              <a:spcAft>
                <a:spcPts val="600"/>
              </a:spcAft>
            </a:pPr>
            <a:r>
              <a:rPr sz="1300" b="1">
                <a:solidFill>
                  <a:srgbClr val="2E86C1"/>
                </a:solidFill>
                <a:latin typeface="Calibri"/>
              </a:rPr>
              <a:t>▸ </a:t>
            </a:r>
            <a:r>
              <a:rPr sz="1300" b="1">
                <a:solidFill>
                  <a:srgbClr val="1A1A1A"/>
                </a:solidFill>
                <a:latin typeface="Calibri"/>
              </a:rPr>
              <a:t>Provider </a:t>
            </a:r>
            <a:r>
              <a:rPr sz="1300">
                <a:solidFill>
                  <a:srgbClr val="1A1A1A"/>
                </a:solidFill>
                <a:latin typeface="Calibri"/>
              </a:rPr>
              <a:t>activerings- en deactiveringsdatum</a:t>
            </a:r>
          </a:p>
          <a:p>
            <a:pPr algn="l">
              <a:lnSpc>
                <a:spcPct val="125000"/>
              </a:lnSpc>
              <a:spcAft>
                <a:spcPts val="600"/>
              </a:spcAft>
            </a:pPr>
            <a:r>
              <a:rPr sz="1300" b="1">
                <a:solidFill>
                  <a:srgbClr val="2E86C1"/>
                </a:solidFill>
                <a:latin typeface="Calibri"/>
              </a:rPr>
              <a:t>▸ </a:t>
            </a:r>
            <a:r>
              <a:rPr sz="1300" b="1">
                <a:solidFill>
                  <a:srgbClr val="1A1A1A"/>
                </a:solidFill>
                <a:latin typeface="Calibri"/>
              </a:rPr>
              <a:t>Status: </a:t>
            </a:r>
            <a:r>
              <a:rPr sz="1300">
                <a:solidFill>
                  <a:srgbClr val="1A1A1A"/>
                </a:solidFill>
                <a:latin typeface="Calibri"/>
              </a:rPr>
              <a:t>IN_STOCK, RESERVED, ACTIVE, SUSPENDED, BLOCKED, CANCELLED, RETIRED</a:t>
            </a:r>
          </a:p>
          <a:p>
            <a:pPr algn="l">
              <a:lnSpc>
                <a:spcPct val="125000"/>
              </a:lnSpc>
              <a:spcAft>
                <a:spcPts val="600"/>
              </a:spcAft>
            </a:pPr>
            <a:r>
              <a:rPr sz="1300" b="1">
                <a:solidFill>
                  <a:srgbClr val="2E86C1"/>
                </a:solidFill>
                <a:latin typeface="Calibri"/>
              </a:rPr>
              <a:t>▸ </a:t>
            </a:r>
            <a:r>
              <a:rPr sz="1300" b="1">
                <a:solidFill>
                  <a:srgbClr val="1A1A1A"/>
                </a:solidFill>
                <a:latin typeface="Calibri"/>
              </a:rPr>
              <a:t>Partial </a:t>
            </a:r>
            <a:r>
              <a:rPr sz="1300">
                <a:solidFill>
                  <a:srgbClr val="1A1A1A"/>
                </a:solidFill>
                <a:latin typeface="Calibri"/>
              </a:rPr>
              <a:t>unique: 1 SIM kan max. 1 actieve assignment hebben</a:t>
            </a:r>
          </a:p>
        </p:txBody>
      </p:sp>
      <p:sp>
        <p:nvSpPr>
          <p:cNvPr id="20" name="Rounded Rectangle 19"/>
          <p:cNvSpPr/>
          <p:nvPr/>
        </p:nvSpPr>
        <p:spPr>
          <a:xfrm>
            <a:off x="380847" y="4754880"/>
            <a:ext cx="2788920" cy="109728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0847" y="4937760"/>
            <a:ext cx="2788920" cy="457200"/>
          </a:xfrm>
          <a:prstGeom prst="rect">
            <a:avLst/>
          </a:prstGeom>
          <a:noFill/>
        </p:spPr>
        <p:txBody>
          <a:bodyPr wrap="square" lIns="45720" rIns="45720" tIns="18288" bIns="18288" anchor="t">
            <a:spAutoFit/>
          </a:bodyPr>
          <a:lstStyle/>
          <a:p>
            <a:pPr algn="ctr">
              <a:lnSpc>
                <a:spcPct val="120000"/>
              </a:lnSpc>
            </a:pPr>
            <a:r>
              <a:rPr sz="1400" b="1">
                <a:solidFill>
                  <a:srgbClr val="FFFFFF"/>
                </a:solidFill>
                <a:latin typeface="Calibri"/>
              </a:rPr>
              <a:t>IN_STOCK</a:t>
            </a:r>
          </a:p>
        </p:txBody>
      </p:sp>
      <p:sp>
        <p:nvSpPr>
          <p:cNvPr id="22" name="TextBox 21"/>
          <p:cNvSpPr txBox="1"/>
          <p:nvPr/>
        </p:nvSpPr>
        <p:spPr>
          <a:xfrm>
            <a:off x="380847" y="5413248"/>
            <a:ext cx="278892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Beschikbaar</a:t>
            </a:r>
          </a:p>
        </p:txBody>
      </p:sp>
      <p:sp>
        <p:nvSpPr>
          <p:cNvPr id="23" name="Rounded Rectangle 22"/>
          <p:cNvSpPr/>
          <p:nvPr/>
        </p:nvSpPr>
        <p:spPr>
          <a:xfrm>
            <a:off x="3261207" y="4754880"/>
            <a:ext cx="2788920" cy="109728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61207" y="4937760"/>
            <a:ext cx="2788920" cy="457200"/>
          </a:xfrm>
          <a:prstGeom prst="rect">
            <a:avLst/>
          </a:prstGeom>
          <a:noFill/>
        </p:spPr>
        <p:txBody>
          <a:bodyPr wrap="square" lIns="45720" rIns="45720" tIns="18288" bIns="18288" anchor="t">
            <a:spAutoFit/>
          </a:bodyPr>
          <a:lstStyle/>
          <a:p>
            <a:pPr algn="ctr">
              <a:lnSpc>
                <a:spcPct val="120000"/>
              </a:lnSpc>
            </a:pPr>
            <a:r>
              <a:rPr sz="1400" b="1">
                <a:solidFill>
                  <a:srgbClr val="FFFFFF"/>
                </a:solidFill>
                <a:latin typeface="Calibri"/>
              </a:rPr>
              <a:t>ACTIVE</a:t>
            </a:r>
          </a:p>
        </p:txBody>
      </p:sp>
      <p:sp>
        <p:nvSpPr>
          <p:cNvPr id="25" name="TextBox 24"/>
          <p:cNvSpPr txBox="1"/>
          <p:nvPr/>
        </p:nvSpPr>
        <p:spPr>
          <a:xfrm>
            <a:off x="3261207" y="5413248"/>
            <a:ext cx="278892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In gebruik</a:t>
            </a:r>
          </a:p>
        </p:txBody>
      </p:sp>
      <p:sp>
        <p:nvSpPr>
          <p:cNvPr id="26" name="Rounded Rectangle 25"/>
          <p:cNvSpPr/>
          <p:nvPr/>
        </p:nvSpPr>
        <p:spPr>
          <a:xfrm>
            <a:off x="6141567" y="4754880"/>
            <a:ext cx="2788920" cy="109728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41567" y="4937760"/>
            <a:ext cx="2788920" cy="457200"/>
          </a:xfrm>
          <a:prstGeom prst="rect">
            <a:avLst/>
          </a:prstGeom>
          <a:noFill/>
        </p:spPr>
        <p:txBody>
          <a:bodyPr wrap="square" lIns="45720" rIns="45720" tIns="18288" bIns="18288" anchor="t">
            <a:spAutoFit/>
          </a:bodyPr>
          <a:lstStyle/>
          <a:p>
            <a:pPr algn="ctr">
              <a:lnSpc>
                <a:spcPct val="120000"/>
              </a:lnSpc>
            </a:pPr>
            <a:r>
              <a:rPr sz="1400" b="1">
                <a:solidFill>
                  <a:srgbClr val="FFFFFF"/>
                </a:solidFill>
                <a:latin typeface="Calibri"/>
              </a:rPr>
              <a:t>DEFECT / RMA</a:t>
            </a:r>
          </a:p>
        </p:txBody>
      </p:sp>
      <p:sp>
        <p:nvSpPr>
          <p:cNvPr id="28" name="TextBox 27"/>
          <p:cNvSpPr txBox="1"/>
          <p:nvPr/>
        </p:nvSpPr>
        <p:spPr>
          <a:xfrm>
            <a:off x="6141567" y="5413248"/>
            <a:ext cx="278892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Reparatie</a:t>
            </a:r>
          </a:p>
        </p:txBody>
      </p:sp>
      <p:sp>
        <p:nvSpPr>
          <p:cNvPr id="29" name="Rounded Rectangle 28"/>
          <p:cNvSpPr/>
          <p:nvPr/>
        </p:nvSpPr>
        <p:spPr>
          <a:xfrm>
            <a:off x="9021927" y="4754880"/>
            <a:ext cx="2788920" cy="1097280"/>
          </a:xfrm>
          <a:prstGeom prst="round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21927" y="4937760"/>
            <a:ext cx="2788920" cy="457200"/>
          </a:xfrm>
          <a:prstGeom prst="rect">
            <a:avLst/>
          </a:prstGeom>
          <a:noFill/>
        </p:spPr>
        <p:txBody>
          <a:bodyPr wrap="square" lIns="45720" rIns="45720" tIns="18288" bIns="18288" anchor="t">
            <a:spAutoFit/>
          </a:bodyPr>
          <a:lstStyle/>
          <a:p>
            <a:pPr algn="ctr">
              <a:lnSpc>
                <a:spcPct val="120000"/>
              </a:lnSpc>
            </a:pPr>
            <a:r>
              <a:rPr sz="1400" b="1">
                <a:solidFill>
                  <a:srgbClr val="FFFFFF"/>
                </a:solidFill>
                <a:latin typeface="Calibri"/>
              </a:rPr>
              <a:t>RETIRED / LOST</a:t>
            </a:r>
          </a:p>
        </p:txBody>
      </p:sp>
      <p:sp>
        <p:nvSpPr>
          <p:cNvPr id="31" name="TextBox 30"/>
          <p:cNvSpPr txBox="1"/>
          <p:nvPr/>
        </p:nvSpPr>
        <p:spPr>
          <a:xfrm>
            <a:off x="9021927" y="5413248"/>
            <a:ext cx="278892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Uit omloop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Hoofdmodules (3/3)</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Voertuigen &amp; Abonnementen</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9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280160"/>
            <a:ext cx="5669280" cy="50292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371600"/>
            <a:ext cx="548640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4475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Voertuigen (Vehicles)</a:t>
            </a:r>
          </a:p>
        </p:txBody>
      </p:sp>
      <p:sp>
        <p:nvSpPr>
          <p:cNvPr id="15" name="TextBox 14"/>
          <p:cNvSpPr txBox="1"/>
          <p:nvPr/>
        </p:nvSpPr>
        <p:spPr>
          <a:xfrm>
            <a:off x="594360" y="1965960"/>
            <a:ext cx="5212080" cy="420624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Altijd </a:t>
            </a:r>
            <a:r>
              <a:rPr sz="1300">
                <a:solidFill>
                  <a:srgbClr val="1A1A1A"/>
                </a:solidFill>
                <a:latin typeface="Calibri"/>
              </a:rPr>
              <a:t>gekoppeld aan 1 klant (verplicht)</a:t>
            </a:r>
          </a:p>
          <a:p>
            <a:pPr algn="l">
              <a:lnSpc>
                <a:spcPct val="125000"/>
              </a:lnSpc>
              <a:spcAft>
                <a:spcPts val="600"/>
              </a:spcAft>
            </a:pPr>
            <a:r>
              <a:rPr sz="1300" b="1">
                <a:solidFill>
                  <a:srgbClr val="2E86C1"/>
                </a:solidFill>
                <a:latin typeface="Calibri"/>
              </a:rPr>
              <a:t>▸ </a:t>
            </a:r>
            <a:r>
              <a:rPr sz="1300" b="1">
                <a:solidFill>
                  <a:srgbClr val="1A1A1A"/>
                </a:solidFill>
                <a:latin typeface="Calibri"/>
              </a:rPr>
              <a:t>Kenteken: </a:t>
            </a:r>
            <a:r>
              <a:rPr sz="1300">
                <a:solidFill>
                  <a:srgbClr val="1A1A1A"/>
                </a:solidFill>
                <a:latin typeface="Calibri"/>
              </a:rPr>
              <a:t>optioneel, UNIEK indien ingevuld</a:t>
            </a:r>
          </a:p>
          <a:p>
            <a:pPr algn="l">
              <a:lnSpc>
                <a:spcPct val="125000"/>
              </a:lnSpc>
              <a:spcAft>
                <a:spcPts val="600"/>
              </a:spcAft>
            </a:pPr>
            <a:r>
              <a:rPr sz="1300" b="1">
                <a:solidFill>
                  <a:srgbClr val="2E86C1"/>
                </a:solidFill>
                <a:latin typeface="Calibri"/>
              </a:rPr>
              <a:t>▸ </a:t>
            </a:r>
            <a:r>
              <a:rPr sz="1300" b="1">
                <a:solidFill>
                  <a:srgbClr val="1A1A1A"/>
                </a:solidFill>
                <a:latin typeface="Calibri"/>
              </a:rPr>
              <a:t>VIN </a:t>
            </a:r>
            <a:r>
              <a:rPr sz="1300">
                <a:solidFill>
                  <a:srgbClr val="1A1A1A"/>
                </a:solidFill>
                <a:latin typeface="Calibri"/>
              </a:rPr>
              <a:t>(chassisnummer): 17 tekens, UNIEK indien ingevuld</a:t>
            </a:r>
          </a:p>
          <a:p>
            <a:pPr algn="l">
              <a:lnSpc>
                <a:spcPct val="125000"/>
              </a:lnSpc>
              <a:spcAft>
                <a:spcPts val="600"/>
              </a:spcAft>
            </a:pPr>
            <a:r>
              <a:rPr sz="1300" b="1">
                <a:solidFill>
                  <a:srgbClr val="2E86C1"/>
                </a:solidFill>
                <a:latin typeface="Calibri"/>
              </a:rPr>
              <a:t>▸ </a:t>
            </a:r>
            <a:r>
              <a:rPr sz="1300" b="1">
                <a:solidFill>
                  <a:srgbClr val="1A1A1A"/>
                </a:solidFill>
                <a:latin typeface="Calibri"/>
              </a:rPr>
              <a:t>Merk </a:t>
            </a:r>
            <a:r>
              <a:rPr sz="1300">
                <a:solidFill>
                  <a:srgbClr val="1A1A1A"/>
                </a:solidFill>
                <a:latin typeface="Calibri"/>
              </a:rPr>
              <a:t>en model vrij in te vullen</a:t>
            </a:r>
          </a:p>
          <a:p>
            <a:pPr algn="l">
              <a:lnSpc>
                <a:spcPct val="125000"/>
              </a:lnSpc>
              <a:spcAft>
                <a:spcPts val="600"/>
              </a:spcAft>
            </a:pPr>
            <a:r>
              <a:rPr sz="1300" b="1">
                <a:solidFill>
                  <a:srgbClr val="2E86C1"/>
                </a:solidFill>
                <a:latin typeface="Calibri"/>
              </a:rPr>
              <a:t>▸ </a:t>
            </a:r>
            <a:r>
              <a:rPr sz="1300" b="1">
                <a:solidFill>
                  <a:srgbClr val="1A1A1A"/>
                </a:solidFill>
                <a:latin typeface="Calibri"/>
              </a:rPr>
              <a:t>Koppeling </a:t>
            </a:r>
            <a:r>
              <a:rPr sz="1300">
                <a:solidFill>
                  <a:srgbClr val="1A1A1A"/>
                </a:solidFill>
                <a:latin typeface="Calibri"/>
              </a:rPr>
              <a:t>met trackers via TrackerAssignment</a:t>
            </a:r>
          </a:p>
          <a:p>
            <a:pPr algn="l">
              <a:lnSpc>
                <a:spcPct val="125000"/>
              </a:lnSpc>
              <a:spcAft>
                <a:spcPts val="600"/>
              </a:spcAft>
            </a:pPr>
            <a:r>
              <a:rPr sz="1300" b="1">
                <a:solidFill>
                  <a:srgbClr val="2E86C1"/>
                </a:solidFill>
                <a:latin typeface="Calibri"/>
              </a:rPr>
              <a:t>▸ </a:t>
            </a:r>
            <a:r>
              <a:rPr sz="1300" b="1">
                <a:solidFill>
                  <a:srgbClr val="1A1A1A"/>
                </a:solidFill>
                <a:latin typeface="Calibri"/>
              </a:rPr>
              <a:t>Per </a:t>
            </a:r>
            <a:r>
              <a:rPr sz="1300">
                <a:solidFill>
                  <a:srgbClr val="1A1A1A"/>
                </a:solidFill>
                <a:latin typeface="Calibri"/>
              </a:rPr>
              <a:t>voertuig: historische tracker-koppelingen zichtbaar</a:t>
            </a:r>
          </a:p>
          <a:p>
            <a:pPr algn="l">
              <a:lnSpc>
                <a:spcPct val="125000"/>
              </a:lnSpc>
              <a:spcAft>
                <a:spcPts val="600"/>
              </a:spcAft>
            </a:pPr>
            <a:r>
              <a:rPr sz="1300" b="1">
                <a:solidFill>
                  <a:srgbClr val="2E86C1"/>
                </a:solidFill>
                <a:latin typeface="Calibri"/>
              </a:rPr>
              <a:t>▸ </a:t>
            </a:r>
            <a:r>
              <a:rPr sz="1300" b="1">
                <a:solidFill>
                  <a:srgbClr val="1A1A1A"/>
                </a:solidFill>
                <a:latin typeface="Calibri"/>
              </a:rPr>
              <a:t>Acties: </a:t>
            </a:r>
            <a:r>
              <a:rPr sz="1300">
                <a:solidFill>
                  <a:srgbClr val="1A1A1A"/>
                </a:solidFill>
                <a:latin typeface="Calibri"/>
              </a:rPr>
              <a:t>Nieuwe, Bewerken, Soft-delete</a:t>
            </a:r>
          </a:p>
          <a:p>
            <a:pPr algn="l">
              <a:lnSpc>
                <a:spcPct val="125000"/>
              </a:lnSpc>
              <a:spcAft>
                <a:spcPts val="600"/>
              </a:spcAft>
            </a:pPr>
            <a:r>
              <a:rPr sz="1300" b="1">
                <a:solidFill>
                  <a:srgbClr val="2E86C1"/>
                </a:solidFill>
                <a:latin typeface="Calibri"/>
              </a:rPr>
              <a:t>▸ </a:t>
            </a:r>
            <a:r>
              <a:rPr sz="1300" b="1">
                <a:solidFill>
                  <a:srgbClr val="1A1A1A"/>
                </a:solidFill>
                <a:latin typeface="Calibri"/>
              </a:rPr>
              <a:t>In </a:t>
            </a:r>
            <a:r>
              <a:rPr sz="1300">
                <a:solidFill>
                  <a:srgbClr val="1A1A1A"/>
                </a:solidFill>
                <a:latin typeface="Calibri"/>
              </a:rPr>
              <a:t>de wizard: optioneel toewijzen aan tracker</a:t>
            </a:r>
          </a:p>
        </p:txBody>
      </p:sp>
      <p:sp>
        <p:nvSpPr>
          <p:cNvPr id="16" name="Rounded Rectangle 15"/>
          <p:cNvSpPr/>
          <p:nvPr/>
        </p:nvSpPr>
        <p:spPr>
          <a:xfrm>
            <a:off x="6172200" y="1280160"/>
            <a:ext cx="5669280" cy="50292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1371600"/>
            <a:ext cx="5486400" cy="50292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4475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Abonnementen (Subscriptions)</a:t>
            </a:r>
          </a:p>
        </p:txBody>
      </p:sp>
      <p:sp>
        <p:nvSpPr>
          <p:cNvPr id="19" name="TextBox 18"/>
          <p:cNvSpPr txBox="1"/>
          <p:nvPr/>
        </p:nvSpPr>
        <p:spPr>
          <a:xfrm>
            <a:off x="6400800" y="1965960"/>
            <a:ext cx="5212080" cy="420624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Nummerformaat: </a:t>
            </a:r>
            <a:r>
              <a:rPr sz="1300">
                <a:solidFill>
                  <a:srgbClr val="1A1A1A"/>
                </a:solidFill>
                <a:latin typeface="Calibri"/>
              </a:rPr>
              <a:t>SUB-&lt;JJJJ&gt;-NNNNN (bv. SUB-2026-000001)</a:t>
            </a:r>
          </a:p>
          <a:p>
            <a:pPr algn="l">
              <a:lnSpc>
                <a:spcPct val="125000"/>
              </a:lnSpc>
              <a:spcAft>
                <a:spcPts val="600"/>
              </a:spcAft>
            </a:pPr>
            <a:r>
              <a:rPr sz="1300" b="1">
                <a:solidFill>
                  <a:srgbClr val="2E86C1"/>
                </a:solidFill>
                <a:latin typeface="Calibri"/>
              </a:rPr>
              <a:t>▸ </a:t>
            </a:r>
            <a:r>
              <a:rPr sz="1300" b="1">
                <a:solidFill>
                  <a:srgbClr val="1A1A1A"/>
                </a:solidFill>
                <a:latin typeface="Calibri"/>
              </a:rPr>
              <a:t>Koppeling: </a:t>
            </a:r>
            <a:r>
              <a:rPr sz="1300">
                <a:solidFill>
                  <a:srgbClr val="1A1A1A"/>
                </a:solidFill>
                <a:latin typeface="Calibri"/>
              </a:rPr>
              <a:t>1 Klant + 1 Product</a:t>
            </a:r>
          </a:p>
          <a:p>
            <a:pPr algn="l">
              <a:lnSpc>
                <a:spcPct val="125000"/>
              </a:lnSpc>
              <a:spcAft>
                <a:spcPts val="600"/>
              </a:spcAft>
            </a:pPr>
            <a:r>
              <a:rPr sz="1300" b="1">
                <a:solidFill>
                  <a:srgbClr val="2E86C1"/>
                </a:solidFill>
                <a:latin typeface="Calibri"/>
              </a:rPr>
              <a:t>▸ </a:t>
            </a:r>
            <a:r>
              <a:rPr sz="1300" b="1">
                <a:solidFill>
                  <a:srgbClr val="1A1A1A"/>
                </a:solidFill>
                <a:latin typeface="Calibri"/>
              </a:rPr>
              <a:t>Periode: </a:t>
            </a:r>
            <a:r>
              <a:rPr sz="1300">
                <a:solidFill>
                  <a:srgbClr val="1A1A1A"/>
                </a:solidFill>
                <a:latin typeface="Calibri"/>
              </a:rPr>
              <a:t>startDate + optioneel endDate</a:t>
            </a:r>
          </a:p>
          <a:p>
            <a:pPr algn="l">
              <a:lnSpc>
                <a:spcPct val="125000"/>
              </a:lnSpc>
              <a:spcAft>
                <a:spcPts val="600"/>
              </a:spcAft>
            </a:pPr>
            <a:r>
              <a:rPr sz="1300" b="1">
                <a:solidFill>
                  <a:srgbClr val="2E86C1"/>
                </a:solidFill>
                <a:latin typeface="Calibri"/>
              </a:rPr>
              <a:t>▸ </a:t>
            </a:r>
            <a:r>
              <a:rPr sz="1300" b="1">
                <a:solidFill>
                  <a:srgbClr val="1A1A1A"/>
                </a:solidFill>
                <a:latin typeface="Calibri"/>
              </a:rPr>
              <a:t>Maandprijs: </a:t>
            </a:r>
            <a:r>
              <a:rPr sz="1300">
                <a:solidFill>
                  <a:srgbClr val="1A1A1A"/>
                </a:solidFill>
                <a:latin typeface="Calibri"/>
              </a:rPr>
              <a:t>afzonderlijk opgeslagen (wijzigbaar per abo)</a:t>
            </a:r>
          </a:p>
          <a:p>
            <a:pPr algn="l">
              <a:lnSpc>
                <a:spcPct val="125000"/>
              </a:lnSpc>
              <a:spcAft>
                <a:spcPts val="600"/>
              </a:spcAft>
            </a:pPr>
            <a:r>
              <a:rPr sz="1300" b="1">
                <a:solidFill>
                  <a:srgbClr val="2E86C1"/>
                </a:solidFill>
                <a:latin typeface="Calibri"/>
              </a:rPr>
              <a:t>▸ </a:t>
            </a:r>
            <a:r>
              <a:rPr sz="1300" b="1">
                <a:solidFill>
                  <a:srgbClr val="1A1A1A"/>
                </a:solidFill>
                <a:latin typeface="Calibri"/>
              </a:rPr>
              <a:t>Facturatiecyclus: </a:t>
            </a:r>
            <a:r>
              <a:rPr sz="1300">
                <a:solidFill>
                  <a:srgbClr val="1A1A1A"/>
                </a:solidFill>
                <a:latin typeface="Calibri"/>
              </a:rPr>
              <a:t>MONTHLY / QUARTERLY / YEARLY</a:t>
            </a:r>
          </a:p>
          <a:p>
            <a:pPr algn="l">
              <a:lnSpc>
                <a:spcPct val="125000"/>
              </a:lnSpc>
              <a:spcAft>
                <a:spcPts val="600"/>
              </a:spcAft>
            </a:pPr>
            <a:r>
              <a:rPr sz="1300" b="1">
                <a:solidFill>
                  <a:srgbClr val="2E86C1"/>
                </a:solidFill>
                <a:latin typeface="Calibri"/>
              </a:rPr>
              <a:t>▸ </a:t>
            </a:r>
            <a:r>
              <a:rPr sz="1300" b="1">
                <a:solidFill>
                  <a:srgbClr val="1A1A1A"/>
                </a:solidFill>
                <a:latin typeface="Calibri"/>
              </a:rPr>
              <a:t>Status: </a:t>
            </a:r>
            <a:r>
              <a:rPr sz="1300">
                <a:solidFill>
                  <a:srgbClr val="1A1A1A"/>
                </a:solidFill>
                <a:latin typeface="Calibri"/>
              </a:rPr>
              <a:t>DRAFT → PENDING_ACTIVATION → ACTIVE → SUSPENDED → CANCELLED / TERMINATED</a:t>
            </a:r>
          </a:p>
          <a:p>
            <a:pPr algn="l">
              <a:lnSpc>
                <a:spcPct val="125000"/>
              </a:lnSpc>
              <a:spcAft>
                <a:spcPts val="600"/>
              </a:spcAft>
            </a:pPr>
            <a:r>
              <a:rPr sz="1300" b="1">
                <a:solidFill>
                  <a:srgbClr val="2E86C1"/>
                </a:solidFill>
                <a:latin typeface="Calibri"/>
              </a:rPr>
              <a:t>▸ </a:t>
            </a:r>
            <a:r>
              <a:rPr sz="1300" b="1">
                <a:solidFill>
                  <a:srgbClr val="1A1A1A"/>
                </a:solidFill>
                <a:latin typeface="Calibri"/>
              </a:rPr>
              <a:t>Acties: </a:t>
            </a:r>
            <a:r>
              <a:rPr sz="1300">
                <a:solidFill>
                  <a:srgbClr val="1A1A1A"/>
                </a:solidFill>
                <a:latin typeface="Calibri"/>
              </a:rPr>
              <a:t>Suspend, Resume, Annuleren, Beëindigen</a:t>
            </a:r>
          </a:p>
          <a:p>
            <a:pPr algn="l">
              <a:lnSpc>
                <a:spcPct val="125000"/>
              </a:lnSpc>
              <a:spcAft>
                <a:spcPts val="600"/>
              </a:spcAft>
            </a:pPr>
            <a:r>
              <a:rPr sz="1300" b="1">
                <a:solidFill>
                  <a:srgbClr val="2E86C1"/>
                </a:solidFill>
                <a:latin typeface="Calibri"/>
              </a:rPr>
              <a:t>▸ </a:t>
            </a:r>
            <a:r>
              <a:rPr sz="1300" b="1">
                <a:solidFill>
                  <a:srgbClr val="1A1A1A"/>
                </a:solidFill>
                <a:latin typeface="Calibri"/>
              </a:rPr>
              <a:t>Acties: </a:t>
            </a:r>
            <a:r>
              <a:rPr sz="1300">
                <a:solidFill>
                  <a:srgbClr val="1A1A1A"/>
                </a:solidFill>
                <a:latin typeface="Calibri"/>
              </a:rPr>
              <a:t>Tracker Vervangen, SIM Vervangen, Ontkoppelen</a:t>
            </a:r>
          </a:p>
        </p:txBody>
      </p:sp>
      <p:sp>
        <p:nvSpPr>
          <p:cNvPr id="20" name="Rounded Rectangle 19"/>
          <p:cNvSpPr/>
          <p:nvPr/>
        </p:nvSpPr>
        <p:spPr>
          <a:xfrm>
            <a:off x="449427" y="4709160"/>
            <a:ext cx="2148840" cy="502920"/>
          </a:xfrm>
          <a:prstGeom prst="round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427" y="4800600"/>
            <a:ext cx="2148840" cy="320040"/>
          </a:xfrm>
          <a:prstGeom prst="rect">
            <a:avLst/>
          </a:prstGeom>
          <a:noFill/>
        </p:spPr>
        <p:txBody>
          <a:bodyPr wrap="square" lIns="45720" rIns="45720" tIns="18288" bIns="18288" anchor="t">
            <a:spAutoFit/>
          </a:bodyPr>
          <a:lstStyle/>
          <a:p>
            <a:pPr algn="ctr">
              <a:lnSpc>
                <a:spcPct val="120000"/>
              </a:lnSpc>
            </a:pPr>
            <a:r>
              <a:rPr sz="1150" b="1">
                <a:solidFill>
                  <a:srgbClr val="FFFFFF"/>
                </a:solidFill>
                <a:latin typeface="Calibri"/>
              </a:rPr>
              <a:t>DRAFT</a:t>
            </a:r>
          </a:p>
        </p:txBody>
      </p:sp>
      <p:sp>
        <p:nvSpPr>
          <p:cNvPr id="22" name="TextBox 21"/>
          <p:cNvSpPr txBox="1"/>
          <p:nvPr/>
        </p:nvSpPr>
        <p:spPr>
          <a:xfrm>
            <a:off x="2579979" y="4663440"/>
            <a:ext cx="182880" cy="594360"/>
          </a:xfrm>
          <a:prstGeom prst="rect">
            <a:avLst/>
          </a:prstGeom>
          <a:noFill/>
        </p:spPr>
        <p:txBody>
          <a:bodyPr wrap="square" lIns="45720" rIns="45720" tIns="18288" bIns="18288" anchor="ctr">
            <a:spAutoFit/>
          </a:bodyPr>
          <a:lstStyle/>
          <a:p>
            <a:pPr algn="ctr">
              <a:lnSpc>
                <a:spcPct val="120000"/>
              </a:lnSpc>
            </a:pPr>
            <a:r>
              <a:rPr sz="2200" b="1">
                <a:solidFill>
                  <a:srgbClr val="E86C00"/>
                </a:solidFill>
                <a:latin typeface="Calibri"/>
              </a:rPr>
              <a:t>➜</a:t>
            </a:r>
          </a:p>
        </p:txBody>
      </p:sp>
      <p:sp>
        <p:nvSpPr>
          <p:cNvPr id="23" name="Rounded Rectangle 22"/>
          <p:cNvSpPr/>
          <p:nvPr/>
        </p:nvSpPr>
        <p:spPr>
          <a:xfrm>
            <a:off x="2735427" y="4709160"/>
            <a:ext cx="214884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35427" y="4800600"/>
            <a:ext cx="2148840" cy="320040"/>
          </a:xfrm>
          <a:prstGeom prst="rect">
            <a:avLst/>
          </a:prstGeom>
          <a:noFill/>
        </p:spPr>
        <p:txBody>
          <a:bodyPr wrap="square" lIns="45720" rIns="45720" tIns="18288" bIns="18288" anchor="t">
            <a:spAutoFit/>
          </a:bodyPr>
          <a:lstStyle/>
          <a:p>
            <a:pPr algn="ctr">
              <a:lnSpc>
                <a:spcPct val="120000"/>
              </a:lnSpc>
            </a:pPr>
            <a:r>
              <a:rPr sz="1150" b="1">
                <a:solidFill>
                  <a:srgbClr val="FFFFFF"/>
                </a:solidFill>
                <a:latin typeface="Calibri"/>
              </a:rPr>
              <a:t>PENDING_ACTIVATION</a:t>
            </a:r>
          </a:p>
        </p:txBody>
      </p:sp>
      <p:sp>
        <p:nvSpPr>
          <p:cNvPr id="25" name="TextBox 24"/>
          <p:cNvSpPr txBox="1"/>
          <p:nvPr/>
        </p:nvSpPr>
        <p:spPr>
          <a:xfrm>
            <a:off x="4865979" y="4663440"/>
            <a:ext cx="182880" cy="594360"/>
          </a:xfrm>
          <a:prstGeom prst="rect">
            <a:avLst/>
          </a:prstGeom>
          <a:noFill/>
        </p:spPr>
        <p:txBody>
          <a:bodyPr wrap="square" lIns="45720" rIns="45720" tIns="18288" bIns="18288" anchor="ctr">
            <a:spAutoFit/>
          </a:bodyPr>
          <a:lstStyle/>
          <a:p>
            <a:pPr algn="ctr">
              <a:lnSpc>
                <a:spcPct val="120000"/>
              </a:lnSpc>
            </a:pPr>
            <a:r>
              <a:rPr sz="2200" b="1">
                <a:solidFill>
                  <a:srgbClr val="E86C00"/>
                </a:solidFill>
                <a:latin typeface="Calibri"/>
              </a:rPr>
              <a:t>➜</a:t>
            </a:r>
          </a:p>
        </p:txBody>
      </p:sp>
      <p:sp>
        <p:nvSpPr>
          <p:cNvPr id="26" name="Rounded Rectangle 25"/>
          <p:cNvSpPr/>
          <p:nvPr/>
        </p:nvSpPr>
        <p:spPr>
          <a:xfrm>
            <a:off x="5021427" y="4709160"/>
            <a:ext cx="2148840" cy="50292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1427" y="4800600"/>
            <a:ext cx="2148840" cy="320040"/>
          </a:xfrm>
          <a:prstGeom prst="rect">
            <a:avLst/>
          </a:prstGeom>
          <a:noFill/>
        </p:spPr>
        <p:txBody>
          <a:bodyPr wrap="square" lIns="45720" rIns="45720" tIns="18288" bIns="18288" anchor="t">
            <a:spAutoFit/>
          </a:bodyPr>
          <a:lstStyle/>
          <a:p>
            <a:pPr algn="ctr">
              <a:lnSpc>
                <a:spcPct val="120000"/>
              </a:lnSpc>
            </a:pPr>
            <a:r>
              <a:rPr sz="1150" b="1">
                <a:solidFill>
                  <a:srgbClr val="FFFFFF"/>
                </a:solidFill>
                <a:latin typeface="Calibri"/>
              </a:rPr>
              <a:t>ACTIVE</a:t>
            </a:r>
          </a:p>
        </p:txBody>
      </p:sp>
      <p:sp>
        <p:nvSpPr>
          <p:cNvPr id="28" name="TextBox 27"/>
          <p:cNvSpPr txBox="1"/>
          <p:nvPr/>
        </p:nvSpPr>
        <p:spPr>
          <a:xfrm>
            <a:off x="7151979" y="4663440"/>
            <a:ext cx="182880" cy="594360"/>
          </a:xfrm>
          <a:prstGeom prst="rect">
            <a:avLst/>
          </a:prstGeom>
          <a:noFill/>
        </p:spPr>
        <p:txBody>
          <a:bodyPr wrap="square" lIns="45720" rIns="45720" tIns="18288" bIns="18288" anchor="ctr">
            <a:spAutoFit/>
          </a:bodyPr>
          <a:lstStyle/>
          <a:p>
            <a:pPr algn="ctr">
              <a:lnSpc>
                <a:spcPct val="120000"/>
              </a:lnSpc>
            </a:pPr>
            <a:r>
              <a:rPr sz="2200" b="1">
                <a:solidFill>
                  <a:srgbClr val="E86C00"/>
                </a:solidFill>
                <a:latin typeface="Calibri"/>
              </a:rPr>
              <a:t>➜</a:t>
            </a:r>
          </a:p>
        </p:txBody>
      </p:sp>
      <p:sp>
        <p:nvSpPr>
          <p:cNvPr id="29" name="Rounded Rectangle 28"/>
          <p:cNvSpPr/>
          <p:nvPr/>
        </p:nvSpPr>
        <p:spPr>
          <a:xfrm>
            <a:off x="7307427" y="4709160"/>
            <a:ext cx="2148840" cy="50292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07427" y="4800600"/>
            <a:ext cx="2148840" cy="320040"/>
          </a:xfrm>
          <a:prstGeom prst="rect">
            <a:avLst/>
          </a:prstGeom>
          <a:noFill/>
        </p:spPr>
        <p:txBody>
          <a:bodyPr wrap="square" lIns="45720" rIns="45720" tIns="18288" bIns="18288" anchor="t">
            <a:spAutoFit/>
          </a:bodyPr>
          <a:lstStyle/>
          <a:p>
            <a:pPr algn="ctr">
              <a:lnSpc>
                <a:spcPct val="120000"/>
              </a:lnSpc>
            </a:pPr>
            <a:r>
              <a:rPr sz="1150" b="1">
                <a:solidFill>
                  <a:srgbClr val="FFFFFF"/>
                </a:solidFill>
                <a:latin typeface="Calibri"/>
              </a:rPr>
              <a:t>SUSPENDED</a:t>
            </a:r>
          </a:p>
        </p:txBody>
      </p:sp>
      <p:sp>
        <p:nvSpPr>
          <p:cNvPr id="31" name="TextBox 30"/>
          <p:cNvSpPr txBox="1"/>
          <p:nvPr/>
        </p:nvSpPr>
        <p:spPr>
          <a:xfrm>
            <a:off x="9437979" y="4663440"/>
            <a:ext cx="182880" cy="594360"/>
          </a:xfrm>
          <a:prstGeom prst="rect">
            <a:avLst/>
          </a:prstGeom>
          <a:noFill/>
        </p:spPr>
        <p:txBody>
          <a:bodyPr wrap="square" lIns="45720" rIns="45720" tIns="18288" bIns="18288" anchor="ctr">
            <a:spAutoFit/>
          </a:bodyPr>
          <a:lstStyle/>
          <a:p>
            <a:pPr algn="ctr">
              <a:lnSpc>
                <a:spcPct val="120000"/>
              </a:lnSpc>
            </a:pPr>
            <a:r>
              <a:rPr sz="2200" b="1">
                <a:solidFill>
                  <a:srgbClr val="E86C00"/>
                </a:solidFill>
                <a:latin typeface="Calibri"/>
              </a:rPr>
              <a:t>➜</a:t>
            </a:r>
          </a:p>
        </p:txBody>
      </p:sp>
      <p:sp>
        <p:nvSpPr>
          <p:cNvPr id="32" name="Rounded Rectangle 31"/>
          <p:cNvSpPr/>
          <p:nvPr/>
        </p:nvSpPr>
        <p:spPr>
          <a:xfrm>
            <a:off x="9593427" y="4709160"/>
            <a:ext cx="2148840" cy="50292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93427" y="4800600"/>
            <a:ext cx="2148840" cy="320040"/>
          </a:xfrm>
          <a:prstGeom prst="rect">
            <a:avLst/>
          </a:prstGeom>
          <a:noFill/>
        </p:spPr>
        <p:txBody>
          <a:bodyPr wrap="square" lIns="45720" rIns="45720" tIns="18288" bIns="18288" anchor="t">
            <a:spAutoFit/>
          </a:bodyPr>
          <a:lstStyle/>
          <a:p>
            <a:pPr algn="ctr">
              <a:lnSpc>
                <a:spcPct val="120000"/>
              </a:lnSpc>
            </a:pPr>
            <a:r>
              <a:rPr sz="1150" b="1">
                <a:solidFill>
                  <a:srgbClr val="FFFFFF"/>
                </a:solidFill>
                <a:latin typeface="Calibri"/>
              </a:rPr>
              <a:t>TERMINATED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Activaties: 6-Stappen Wizard</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Transactionele activatie – atomair &amp; veilig</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10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80847" y="1325880"/>
            <a:ext cx="1828800" cy="18288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75207" y="1463040"/>
            <a:ext cx="640080" cy="64008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0847" y="1527048"/>
            <a:ext cx="1828800" cy="548640"/>
          </a:xfrm>
          <a:prstGeom prst="rect">
            <a:avLst/>
          </a:prstGeom>
          <a:noFill/>
        </p:spPr>
        <p:txBody>
          <a:bodyPr wrap="square" lIns="45720" rIns="45720" tIns="18288" bIns="18288" anchor="t">
            <a:spAutoFit/>
          </a:bodyPr>
          <a:lstStyle/>
          <a:p>
            <a:pPr algn="ctr">
              <a:lnSpc>
                <a:spcPct val="120000"/>
              </a:lnSpc>
            </a:pPr>
            <a:r>
              <a:rPr sz="2200" b="1">
                <a:solidFill>
                  <a:srgbClr val="FFFFFF"/>
                </a:solidFill>
                <a:latin typeface="Calibri"/>
              </a:rPr>
              <a:t>1</a:t>
            </a:r>
          </a:p>
        </p:txBody>
      </p:sp>
      <p:sp>
        <p:nvSpPr>
          <p:cNvPr id="15" name="TextBox 14"/>
          <p:cNvSpPr txBox="1"/>
          <p:nvPr/>
        </p:nvSpPr>
        <p:spPr>
          <a:xfrm>
            <a:off x="380847" y="2194560"/>
            <a:ext cx="1828800" cy="365760"/>
          </a:xfrm>
          <a:prstGeom prst="rect">
            <a:avLst/>
          </a:prstGeom>
          <a:noFill/>
        </p:spPr>
        <p:txBody>
          <a:bodyPr wrap="square" lIns="45720" rIns="45720" tIns="18288" bIns="18288" anchor="t">
            <a:spAutoFit/>
          </a:bodyPr>
          <a:lstStyle/>
          <a:p>
            <a:pPr algn="ctr">
              <a:lnSpc>
                <a:spcPct val="120000"/>
              </a:lnSpc>
            </a:pPr>
            <a:r>
              <a:rPr sz="1500" b="1">
                <a:solidFill>
                  <a:srgbClr val="1E3A5F"/>
                </a:solidFill>
                <a:latin typeface="Calibri"/>
              </a:rPr>
              <a:t>Klant</a:t>
            </a:r>
          </a:p>
        </p:txBody>
      </p:sp>
      <p:sp>
        <p:nvSpPr>
          <p:cNvPr id="16" name="TextBox 15"/>
          <p:cNvSpPr txBox="1"/>
          <p:nvPr/>
        </p:nvSpPr>
        <p:spPr>
          <a:xfrm>
            <a:off x="472287" y="2514600"/>
            <a:ext cx="1645920" cy="548640"/>
          </a:xfrm>
          <a:prstGeom prst="rect">
            <a:avLst/>
          </a:prstGeom>
          <a:noFill/>
        </p:spPr>
        <p:txBody>
          <a:bodyPr wrap="square" lIns="45720" rIns="45720" tIns="18288" bIns="18288" anchor="t">
            <a:spAutoFit/>
          </a:bodyPr>
          <a:lstStyle/>
          <a:p>
            <a:pPr algn="ctr">
              <a:lnSpc>
                <a:spcPct val="120000"/>
              </a:lnSpc>
            </a:pPr>
            <a:r>
              <a:rPr sz="1050" b="0">
                <a:solidFill>
                  <a:srgbClr val="555555"/>
                </a:solidFill>
                <a:latin typeface="Calibri"/>
              </a:rPr>
              <a:t>Kies of maak hoofd- en subklant</a:t>
            </a:r>
          </a:p>
        </p:txBody>
      </p:sp>
      <p:sp>
        <p:nvSpPr>
          <p:cNvPr id="17" name="TextBox 16"/>
          <p:cNvSpPr txBox="1"/>
          <p:nvPr/>
        </p:nvSpPr>
        <p:spPr>
          <a:xfrm>
            <a:off x="2136495" y="1965960"/>
            <a:ext cx="237744" cy="548640"/>
          </a:xfrm>
          <a:prstGeom prst="rect">
            <a:avLst/>
          </a:prstGeom>
          <a:noFill/>
        </p:spPr>
        <p:txBody>
          <a:bodyPr wrap="square" lIns="45720" rIns="45720" tIns="18288" bIns="18288" anchor="ctr">
            <a:spAutoFit/>
          </a:bodyPr>
          <a:lstStyle/>
          <a:p>
            <a:pPr algn="ctr">
              <a:lnSpc>
                <a:spcPct val="120000"/>
              </a:lnSpc>
            </a:pPr>
            <a:r>
              <a:rPr sz="2000" b="1">
                <a:solidFill>
                  <a:srgbClr val="E86C00"/>
                </a:solidFill>
                <a:latin typeface="Calibri"/>
              </a:rPr>
              <a:t>→</a:t>
            </a:r>
          </a:p>
        </p:txBody>
      </p:sp>
      <p:sp>
        <p:nvSpPr>
          <p:cNvPr id="18" name="Rounded Rectangle 17"/>
          <p:cNvSpPr/>
          <p:nvPr/>
        </p:nvSpPr>
        <p:spPr>
          <a:xfrm>
            <a:off x="2301087" y="1325880"/>
            <a:ext cx="1828800" cy="18288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895447" y="1463040"/>
            <a:ext cx="640080" cy="64008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01087" y="1527048"/>
            <a:ext cx="1828800" cy="548640"/>
          </a:xfrm>
          <a:prstGeom prst="rect">
            <a:avLst/>
          </a:prstGeom>
          <a:noFill/>
        </p:spPr>
        <p:txBody>
          <a:bodyPr wrap="square" lIns="45720" rIns="45720" tIns="18288" bIns="18288" anchor="t">
            <a:spAutoFit/>
          </a:bodyPr>
          <a:lstStyle/>
          <a:p>
            <a:pPr algn="ctr">
              <a:lnSpc>
                <a:spcPct val="120000"/>
              </a:lnSpc>
            </a:pPr>
            <a:r>
              <a:rPr sz="2200" b="1">
                <a:solidFill>
                  <a:srgbClr val="FFFFFF"/>
                </a:solidFill>
                <a:latin typeface="Calibri"/>
              </a:rPr>
              <a:t>2</a:t>
            </a:r>
          </a:p>
        </p:txBody>
      </p:sp>
      <p:sp>
        <p:nvSpPr>
          <p:cNvPr id="21" name="TextBox 20"/>
          <p:cNvSpPr txBox="1"/>
          <p:nvPr/>
        </p:nvSpPr>
        <p:spPr>
          <a:xfrm>
            <a:off x="2301087" y="2194560"/>
            <a:ext cx="1828800" cy="365760"/>
          </a:xfrm>
          <a:prstGeom prst="rect">
            <a:avLst/>
          </a:prstGeom>
          <a:noFill/>
        </p:spPr>
        <p:txBody>
          <a:bodyPr wrap="square" lIns="45720" rIns="45720" tIns="18288" bIns="18288" anchor="t">
            <a:spAutoFit/>
          </a:bodyPr>
          <a:lstStyle/>
          <a:p>
            <a:pPr algn="ctr">
              <a:lnSpc>
                <a:spcPct val="120000"/>
              </a:lnSpc>
            </a:pPr>
            <a:r>
              <a:rPr sz="1500" b="1">
                <a:solidFill>
                  <a:srgbClr val="1E3A5F"/>
                </a:solidFill>
                <a:latin typeface="Calibri"/>
              </a:rPr>
              <a:t>Product</a:t>
            </a:r>
          </a:p>
        </p:txBody>
      </p:sp>
      <p:sp>
        <p:nvSpPr>
          <p:cNvPr id="22" name="TextBox 21"/>
          <p:cNvSpPr txBox="1"/>
          <p:nvPr/>
        </p:nvSpPr>
        <p:spPr>
          <a:xfrm>
            <a:off x="2392527" y="2514600"/>
            <a:ext cx="1645920" cy="548640"/>
          </a:xfrm>
          <a:prstGeom prst="rect">
            <a:avLst/>
          </a:prstGeom>
          <a:noFill/>
        </p:spPr>
        <p:txBody>
          <a:bodyPr wrap="square" lIns="45720" rIns="45720" tIns="18288" bIns="18288" anchor="t">
            <a:spAutoFit/>
          </a:bodyPr>
          <a:lstStyle/>
          <a:p>
            <a:pPr algn="ctr">
              <a:lnSpc>
                <a:spcPct val="120000"/>
              </a:lnSpc>
            </a:pPr>
            <a:r>
              <a:rPr sz="1050" b="0">
                <a:solidFill>
                  <a:srgbClr val="555555"/>
                </a:solidFill>
                <a:latin typeface="Calibri"/>
              </a:rPr>
              <a:t>Kies abonnementstype en prijs</a:t>
            </a:r>
          </a:p>
        </p:txBody>
      </p:sp>
      <p:sp>
        <p:nvSpPr>
          <p:cNvPr id="23" name="TextBox 22"/>
          <p:cNvSpPr txBox="1"/>
          <p:nvPr/>
        </p:nvSpPr>
        <p:spPr>
          <a:xfrm>
            <a:off x="4056735" y="1965960"/>
            <a:ext cx="237744" cy="548640"/>
          </a:xfrm>
          <a:prstGeom prst="rect">
            <a:avLst/>
          </a:prstGeom>
          <a:noFill/>
        </p:spPr>
        <p:txBody>
          <a:bodyPr wrap="square" lIns="45720" rIns="45720" tIns="18288" bIns="18288" anchor="ctr">
            <a:spAutoFit/>
          </a:bodyPr>
          <a:lstStyle/>
          <a:p>
            <a:pPr algn="ctr">
              <a:lnSpc>
                <a:spcPct val="120000"/>
              </a:lnSpc>
            </a:pPr>
            <a:r>
              <a:rPr sz="2000" b="1">
                <a:solidFill>
                  <a:srgbClr val="E86C00"/>
                </a:solidFill>
                <a:latin typeface="Calibri"/>
              </a:rPr>
              <a:t>→</a:t>
            </a:r>
          </a:p>
        </p:txBody>
      </p:sp>
      <p:sp>
        <p:nvSpPr>
          <p:cNvPr id="24" name="Rounded Rectangle 23"/>
          <p:cNvSpPr/>
          <p:nvPr/>
        </p:nvSpPr>
        <p:spPr>
          <a:xfrm>
            <a:off x="4221327" y="1325880"/>
            <a:ext cx="1828800" cy="18288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15687" y="1463040"/>
            <a:ext cx="640080" cy="64008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21327" y="1527048"/>
            <a:ext cx="1828800" cy="548640"/>
          </a:xfrm>
          <a:prstGeom prst="rect">
            <a:avLst/>
          </a:prstGeom>
          <a:noFill/>
        </p:spPr>
        <p:txBody>
          <a:bodyPr wrap="square" lIns="45720" rIns="45720" tIns="18288" bIns="18288" anchor="t">
            <a:spAutoFit/>
          </a:bodyPr>
          <a:lstStyle/>
          <a:p>
            <a:pPr algn="ctr">
              <a:lnSpc>
                <a:spcPct val="120000"/>
              </a:lnSpc>
            </a:pPr>
            <a:r>
              <a:rPr sz="2200" b="1">
                <a:solidFill>
                  <a:srgbClr val="FFFFFF"/>
                </a:solidFill>
                <a:latin typeface="Calibri"/>
              </a:rPr>
              <a:t>3</a:t>
            </a:r>
          </a:p>
        </p:txBody>
      </p:sp>
      <p:sp>
        <p:nvSpPr>
          <p:cNvPr id="27" name="TextBox 26"/>
          <p:cNvSpPr txBox="1"/>
          <p:nvPr/>
        </p:nvSpPr>
        <p:spPr>
          <a:xfrm>
            <a:off x="4221327" y="2194560"/>
            <a:ext cx="1828800" cy="365760"/>
          </a:xfrm>
          <a:prstGeom prst="rect">
            <a:avLst/>
          </a:prstGeom>
          <a:noFill/>
        </p:spPr>
        <p:txBody>
          <a:bodyPr wrap="square" lIns="45720" rIns="45720" tIns="18288" bIns="18288" anchor="t">
            <a:spAutoFit/>
          </a:bodyPr>
          <a:lstStyle/>
          <a:p>
            <a:pPr algn="ctr">
              <a:lnSpc>
                <a:spcPct val="120000"/>
              </a:lnSpc>
            </a:pPr>
            <a:r>
              <a:rPr sz="1500" b="1">
                <a:solidFill>
                  <a:srgbClr val="1E3A5F"/>
                </a:solidFill>
                <a:latin typeface="Calibri"/>
              </a:rPr>
              <a:t>Tracker</a:t>
            </a:r>
          </a:p>
        </p:txBody>
      </p:sp>
      <p:sp>
        <p:nvSpPr>
          <p:cNvPr id="28" name="TextBox 27"/>
          <p:cNvSpPr txBox="1"/>
          <p:nvPr/>
        </p:nvSpPr>
        <p:spPr>
          <a:xfrm>
            <a:off x="4312767" y="2514600"/>
            <a:ext cx="1645920" cy="548640"/>
          </a:xfrm>
          <a:prstGeom prst="rect">
            <a:avLst/>
          </a:prstGeom>
          <a:noFill/>
        </p:spPr>
        <p:txBody>
          <a:bodyPr wrap="square" lIns="45720" rIns="45720" tIns="18288" bIns="18288" anchor="t">
            <a:spAutoFit/>
          </a:bodyPr>
          <a:lstStyle/>
          <a:p>
            <a:pPr algn="ctr">
              <a:lnSpc>
                <a:spcPct val="120000"/>
              </a:lnSpc>
            </a:pPr>
            <a:r>
              <a:rPr sz="1050" b="0">
                <a:solidFill>
                  <a:srgbClr val="555555"/>
                </a:solidFill>
                <a:latin typeface="Calibri"/>
              </a:rPr>
              <a:t>Kies beschikbare tracker (IN_STOCK)</a:t>
            </a:r>
          </a:p>
        </p:txBody>
      </p:sp>
      <p:sp>
        <p:nvSpPr>
          <p:cNvPr id="29" name="TextBox 28"/>
          <p:cNvSpPr txBox="1"/>
          <p:nvPr/>
        </p:nvSpPr>
        <p:spPr>
          <a:xfrm>
            <a:off x="5976975" y="1965960"/>
            <a:ext cx="237744" cy="548640"/>
          </a:xfrm>
          <a:prstGeom prst="rect">
            <a:avLst/>
          </a:prstGeom>
          <a:noFill/>
        </p:spPr>
        <p:txBody>
          <a:bodyPr wrap="square" lIns="45720" rIns="45720" tIns="18288" bIns="18288" anchor="ctr">
            <a:spAutoFit/>
          </a:bodyPr>
          <a:lstStyle/>
          <a:p>
            <a:pPr algn="ctr">
              <a:lnSpc>
                <a:spcPct val="120000"/>
              </a:lnSpc>
            </a:pPr>
            <a:r>
              <a:rPr sz="2000" b="1">
                <a:solidFill>
                  <a:srgbClr val="E86C00"/>
                </a:solidFill>
                <a:latin typeface="Calibri"/>
              </a:rPr>
              <a:t>→</a:t>
            </a:r>
          </a:p>
        </p:txBody>
      </p:sp>
      <p:sp>
        <p:nvSpPr>
          <p:cNvPr id="30" name="Rounded Rectangle 29"/>
          <p:cNvSpPr/>
          <p:nvPr/>
        </p:nvSpPr>
        <p:spPr>
          <a:xfrm>
            <a:off x="6141567" y="1325880"/>
            <a:ext cx="1828800" cy="18288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735927" y="1463040"/>
            <a:ext cx="640080" cy="64008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41567" y="1527048"/>
            <a:ext cx="1828800" cy="548640"/>
          </a:xfrm>
          <a:prstGeom prst="rect">
            <a:avLst/>
          </a:prstGeom>
          <a:noFill/>
        </p:spPr>
        <p:txBody>
          <a:bodyPr wrap="square" lIns="45720" rIns="45720" tIns="18288" bIns="18288" anchor="t">
            <a:spAutoFit/>
          </a:bodyPr>
          <a:lstStyle/>
          <a:p>
            <a:pPr algn="ctr">
              <a:lnSpc>
                <a:spcPct val="120000"/>
              </a:lnSpc>
            </a:pPr>
            <a:r>
              <a:rPr sz="2200" b="1">
                <a:solidFill>
                  <a:srgbClr val="FFFFFF"/>
                </a:solidFill>
                <a:latin typeface="Calibri"/>
              </a:rPr>
              <a:t>4</a:t>
            </a:r>
          </a:p>
        </p:txBody>
      </p:sp>
      <p:sp>
        <p:nvSpPr>
          <p:cNvPr id="33" name="TextBox 32"/>
          <p:cNvSpPr txBox="1"/>
          <p:nvPr/>
        </p:nvSpPr>
        <p:spPr>
          <a:xfrm>
            <a:off x="6141567" y="2194560"/>
            <a:ext cx="1828800" cy="365760"/>
          </a:xfrm>
          <a:prstGeom prst="rect">
            <a:avLst/>
          </a:prstGeom>
          <a:noFill/>
        </p:spPr>
        <p:txBody>
          <a:bodyPr wrap="square" lIns="45720" rIns="45720" tIns="18288" bIns="18288" anchor="t">
            <a:spAutoFit/>
          </a:bodyPr>
          <a:lstStyle/>
          <a:p>
            <a:pPr algn="ctr">
              <a:lnSpc>
                <a:spcPct val="120000"/>
              </a:lnSpc>
            </a:pPr>
            <a:r>
              <a:rPr sz="1500" b="1">
                <a:solidFill>
                  <a:srgbClr val="1E3A5F"/>
                </a:solidFill>
                <a:latin typeface="Calibri"/>
              </a:rPr>
              <a:t>SIM</a:t>
            </a:r>
          </a:p>
        </p:txBody>
      </p:sp>
      <p:sp>
        <p:nvSpPr>
          <p:cNvPr id="34" name="TextBox 33"/>
          <p:cNvSpPr txBox="1"/>
          <p:nvPr/>
        </p:nvSpPr>
        <p:spPr>
          <a:xfrm>
            <a:off x="6233007" y="2514600"/>
            <a:ext cx="1645920" cy="548640"/>
          </a:xfrm>
          <a:prstGeom prst="rect">
            <a:avLst/>
          </a:prstGeom>
          <a:noFill/>
        </p:spPr>
        <p:txBody>
          <a:bodyPr wrap="square" lIns="45720" rIns="45720" tIns="18288" bIns="18288" anchor="t">
            <a:spAutoFit/>
          </a:bodyPr>
          <a:lstStyle/>
          <a:p>
            <a:pPr algn="ctr">
              <a:lnSpc>
                <a:spcPct val="120000"/>
              </a:lnSpc>
            </a:pPr>
            <a:r>
              <a:rPr sz="1050" b="0">
                <a:solidFill>
                  <a:srgbClr val="555555"/>
                </a:solidFill>
                <a:latin typeface="Calibri"/>
              </a:rPr>
              <a:t>Kies SIM-kaart (IN_STOCK)</a:t>
            </a:r>
          </a:p>
        </p:txBody>
      </p:sp>
      <p:sp>
        <p:nvSpPr>
          <p:cNvPr id="35" name="TextBox 34"/>
          <p:cNvSpPr txBox="1"/>
          <p:nvPr/>
        </p:nvSpPr>
        <p:spPr>
          <a:xfrm>
            <a:off x="7897215" y="1965960"/>
            <a:ext cx="237744" cy="548640"/>
          </a:xfrm>
          <a:prstGeom prst="rect">
            <a:avLst/>
          </a:prstGeom>
          <a:noFill/>
        </p:spPr>
        <p:txBody>
          <a:bodyPr wrap="square" lIns="45720" rIns="45720" tIns="18288" bIns="18288" anchor="ctr">
            <a:spAutoFit/>
          </a:bodyPr>
          <a:lstStyle/>
          <a:p>
            <a:pPr algn="ctr">
              <a:lnSpc>
                <a:spcPct val="120000"/>
              </a:lnSpc>
            </a:pPr>
            <a:r>
              <a:rPr sz="2000" b="1">
                <a:solidFill>
                  <a:srgbClr val="E86C00"/>
                </a:solidFill>
                <a:latin typeface="Calibri"/>
              </a:rPr>
              <a:t>→</a:t>
            </a:r>
          </a:p>
        </p:txBody>
      </p:sp>
      <p:sp>
        <p:nvSpPr>
          <p:cNvPr id="36" name="Rounded Rectangle 35"/>
          <p:cNvSpPr/>
          <p:nvPr/>
        </p:nvSpPr>
        <p:spPr>
          <a:xfrm>
            <a:off x="8061807" y="1325880"/>
            <a:ext cx="1828800" cy="18288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656167" y="1463040"/>
            <a:ext cx="640080" cy="64008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61807" y="1527048"/>
            <a:ext cx="1828800" cy="548640"/>
          </a:xfrm>
          <a:prstGeom prst="rect">
            <a:avLst/>
          </a:prstGeom>
          <a:noFill/>
        </p:spPr>
        <p:txBody>
          <a:bodyPr wrap="square" lIns="45720" rIns="45720" tIns="18288" bIns="18288" anchor="t">
            <a:spAutoFit/>
          </a:bodyPr>
          <a:lstStyle/>
          <a:p>
            <a:pPr algn="ctr">
              <a:lnSpc>
                <a:spcPct val="120000"/>
              </a:lnSpc>
            </a:pPr>
            <a:r>
              <a:rPr sz="2200" b="1">
                <a:solidFill>
                  <a:srgbClr val="FFFFFF"/>
                </a:solidFill>
                <a:latin typeface="Calibri"/>
              </a:rPr>
              <a:t>5</a:t>
            </a:r>
          </a:p>
        </p:txBody>
      </p:sp>
      <p:sp>
        <p:nvSpPr>
          <p:cNvPr id="39" name="TextBox 38"/>
          <p:cNvSpPr txBox="1"/>
          <p:nvPr/>
        </p:nvSpPr>
        <p:spPr>
          <a:xfrm>
            <a:off x="8061807" y="2194560"/>
            <a:ext cx="1828800" cy="365760"/>
          </a:xfrm>
          <a:prstGeom prst="rect">
            <a:avLst/>
          </a:prstGeom>
          <a:noFill/>
        </p:spPr>
        <p:txBody>
          <a:bodyPr wrap="square" lIns="45720" rIns="45720" tIns="18288" bIns="18288" anchor="t">
            <a:spAutoFit/>
          </a:bodyPr>
          <a:lstStyle/>
          <a:p>
            <a:pPr algn="ctr">
              <a:lnSpc>
                <a:spcPct val="120000"/>
              </a:lnSpc>
            </a:pPr>
            <a:r>
              <a:rPr sz="1500" b="1">
                <a:solidFill>
                  <a:srgbClr val="1E3A5F"/>
                </a:solidFill>
                <a:latin typeface="Calibri"/>
              </a:rPr>
              <a:t>Voertuig</a:t>
            </a:r>
          </a:p>
        </p:txBody>
      </p:sp>
      <p:sp>
        <p:nvSpPr>
          <p:cNvPr id="40" name="TextBox 39"/>
          <p:cNvSpPr txBox="1"/>
          <p:nvPr/>
        </p:nvSpPr>
        <p:spPr>
          <a:xfrm>
            <a:off x="8153247" y="2514600"/>
            <a:ext cx="1645920" cy="548640"/>
          </a:xfrm>
          <a:prstGeom prst="rect">
            <a:avLst/>
          </a:prstGeom>
          <a:noFill/>
        </p:spPr>
        <p:txBody>
          <a:bodyPr wrap="square" lIns="45720" rIns="45720" tIns="18288" bIns="18288" anchor="t">
            <a:spAutoFit/>
          </a:bodyPr>
          <a:lstStyle/>
          <a:p>
            <a:pPr algn="ctr">
              <a:lnSpc>
                <a:spcPct val="120000"/>
              </a:lnSpc>
            </a:pPr>
            <a:r>
              <a:rPr sz="1050" b="0">
                <a:solidFill>
                  <a:srgbClr val="555555"/>
                </a:solidFill>
                <a:latin typeface="Calibri"/>
              </a:rPr>
              <a:t>Optioneel: voertuig toekennen</a:t>
            </a:r>
          </a:p>
        </p:txBody>
      </p:sp>
      <p:sp>
        <p:nvSpPr>
          <p:cNvPr id="41" name="TextBox 40"/>
          <p:cNvSpPr txBox="1"/>
          <p:nvPr/>
        </p:nvSpPr>
        <p:spPr>
          <a:xfrm>
            <a:off x="9817455" y="1965960"/>
            <a:ext cx="237744" cy="548640"/>
          </a:xfrm>
          <a:prstGeom prst="rect">
            <a:avLst/>
          </a:prstGeom>
          <a:noFill/>
        </p:spPr>
        <p:txBody>
          <a:bodyPr wrap="square" lIns="45720" rIns="45720" tIns="18288" bIns="18288" anchor="ctr">
            <a:spAutoFit/>
          </a:bodyPr>
          <a:lstStyle/>
          <a:p>
            <a:pPr algn="ctr">
              <a:lnSpc>
                <a:spcPct val="120000"/>
              </a:lnSpc>
            </a:pPr>
            <a:r>
              <a:rPr sz="2000" b="1">
                <a:solidFill>
                  <a:srgbClr val="E86C00"/>
                </a:solidFill>
                <a:latin typeface="Calibri"/>
              </a:rPr>
              <a:t>→</a:t>
            </a:r>
          </a:p>
        </p:txBody>
      </p:sp>
      <p:sp>
        <p:nvSpPr>
          <p:cNvPr id="42" name="Rounded Rectangle 41"/>
          <p:cNvSpPr/>
          <p:nvPr/>
        </p:nvSpPr>
        <p:spPr>
          <a:xfrm>
            <a:off x="9982047" y="1325880"/>
            <a:ext cx="1828800" cy="18288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576407" y="1463040"/>
            <a:ext cx="640080" cy="640080"/>
          </a:xfrm>
          <a:prstGeom prst="ellipse">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82047" y="1527048"/>
            <a:ext cx="1828800" cy="548640"/>
          </a:xfrm>
          <a:prstGeom prst="rect">
            <a:avLst/>
          </a:prstGeom>
          <a:noFill/>
        </p:spPr>
        <p:txBody>
          <a:bodyPr wrap="square" lIns="45720" rIns="45720" tIns="18288" bIns="18288" anchor="t">
            <a:spAutoFit/>
          </a:bodyPr>
          <a:lstStyle/>
          <a:p>
            <a:pPr algn="ctr">
              <a:lnSpc>
                <a:spcPct val="120000"/>
              </a:lnSpc>
            </a:pPr>
            <a:r>
              <a:rPr sz="2200" b="1">
                <a:solidFill>
                  <a:srgbClr val="FFFFFF"/>
                </a:solidFill>
                <a:latin typeface="Calibri"/>
              </a:rPr>
              <a:t>6</a:t>
            </a:r>
          </a:p>
        </p:txBody>
      </p:sp>
      <p:sp>
        <p:nvSpPr>
          <p:cNvPr id="45" name="TextBox 44"/>
          <p:cNvSpPr txBox="1"/>
          <p:nvPr/>
        </p:nvSpPr>
        <p:spPr>
          <a:xfrm>
            <a:off x="9982047" y="2194560"/>
            <a:ext cx="1828800" cy="365760"/>
          </a:xfrm>
          <a:prstGeom prst="rect">
            <a:avLst/>
          </a:prstGeom>
          <a:noFill/>
        </p:spPr>
        <p:txBody>
          <a:bodyPr wrap="square" lIns="45720" rIns="45720" tIns="18288" bIns="18288" anchor="t">
            <a:spAutoFit/>
          </a:bodyPr>
          <a:lstStyle/>
          <a:p>
            <a:pPr algn="ctr">
              <a:lnSpc>
                <a:spcPct val="120000"/>
              </a:lnSpc>
            </a:pPr>
            <a:r>
              <a:rPr sz="1500" b="1">
                <a:solidFill>
                  <a:srgbClr val="1E3A5F"/>
                </a:solidFill>
                <a:latin typeface="Calibri"/>
              </a:rPr>
              <a:t>Controle</a:t>
            </a:r>
          </a:p>
        </p:txBody>
      </p:sp>
      <p:sp>
        <p:nvSpPr>
          <p:cNvPr id="46" name="TextBox 45"/>
          <p:cNvSpPr txBox="1"/>
          <p:nvPr/>
        </p:nvSpPr>
        <p:spPr>
          <a:xfrm>
            <a:off x="10073487" y="2514600"/>
            <a:ext cx="1645920" cy="548640"/>
          </a:xfrm>
          <a:prstGeom prst="rect">
            <a:avLst/>
          </a:prstGeom>
          <a:noFill/>
        </p:spPr>
        <p:txBody>
          <a:bodyPr wrap="square" lIns="45720" rIns="45720" tIns="18288" bIns="18288" anchor="t">
            <a:spAutoFit/>
          </a:bodyPr>
          <a:lstStyle/>
          <a:p>
            <a:pPr algn="ctr">
              <a:lnSpc>
                <a:spcPct val="120000"/>
              </a:lnSpc>
            </a:pPr>
            <a:r>
              <a:rPr sz="1050" b="0">
                <a:solidFill>
                  <a:srgbClr val="555555"/>
                </a:solidFill>
                <a:latin typeface="Calibri"/>
              </a:rPr>
              <a:t>Alles controleren → Activeer nu!</a:t>
            </a:r>
          </a:p>
        </p:txBody>
      </p:sp>
      <p:sp>
        <p:nvSpPr>
          <p:cNvPr id="47" name="TextBox 46"/>
          <p:cNvSpPr txBox="1"/>
          <p:nvPr/>
        </p:nvSpPr>
        <p:spPr>
          <a:xfrm>
            <a:off x="457200" y="3383280"/>
            <a:ext cx="11247120" cy="365760"/>
          </a:xfrm>
          <a:prstGeom prst="rect">
            <a:avLst/>
          </a:prstGeom>
          <a:noFill/>
        </p:spPr>
        <p:txBody>
          <a:bodyPr wrap="square" lIns="45720" rIns="45720" tIns="18288" bIns="18288" anchor="t">
            <a:spAutoFit/>
          </a:bodyPr>
          <a:lstStyle/>
          <a:p>
            <a:pPr algn="l">
              <a:lnSpc>
                <a:spcPct val="120000"/>
              </a:lnSpc>
            </a:pPr>
            <a:r>
              <a:rPr sz="1400" b="1">
                <a:solidFill>
                  <a:srgbClr val="1E3A5F"/>
                </a:solidFill>
                <a:latin typeface="Calibri"/>
              </a:rPr>
              <a:t>Activatie Order Levenscyclus (DRAFT → COMPLETED):</a:t>
            </a:r>
          </a:p>
        </p:txBody>
      </p:sp>
      <p:sp>
        <p:nvSpPr>
          <p:cNvPr id="48" name="Rounded Rectangle 47"/>
          <p:cNvSpPr/>
          <p:nvPr/>
        </p:nvSpPr>
        <p:spPr>
          <a:xfrm>
            <a:off x="426567" y="3794760"/>
            <a:ext cx="1828800" cy="822960"/>
          </a:xfrm>
          <a:prstGeom prst="round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6567" y="3886200"/>
            <a:ext cx="1828800" cy="365760"/>
          </a:xfrm>
          <a:prstGeom prst="rect">
            <a:avLst/>
          </a:prstGeom>
          <a:noFill/>
        </p:spPr>
        <p:txBody>
          <a:bodyPr wrap="square" lIns="45720" rIns="45720" tIns="18288" bIns="18288" anchor="t">
            <a:spAutoFit/>
          </a:bodyPr>
          <a:lstStyle/>
          <a:p>
            <a:pPr algn="ctr">
              <a:lnSpc>
                <a:spcPct val="120000"/>
              </a:lnSpc>
            </a:pPr>
            <a:r>
              <a:rPr sz="1200" b="1">
                <a:solidFill>
                  <a:srgbClr val="FFFFFF"/>
                </a:solidFill>
                <a:latin typeface="Calibri"/>
              </a:rPr>
              <a:t>DRAFT</a:t>
            </a:r>
          </a:p>
        </p:txBody>
      </p:sp>
      <p:sp>
        <p:nvSpPr>
          <p:cNvPr id="50" name="TextBox 49"/>
          <p:cNvSpPr txBox="1"/>
          <p:nvPr/>
        </p:nvSpPr>
        <p:spPr>
          <a:xfrm>
            <a:off x="426567" y="4251960"/>
            <a:ext cx="1828800" cy="320040"/>
          </a:xfrm>
          <a:prstGeom prst="rect">
            <a:avLst/>
          </a:prstGeom>
          <a:noFill/>
        </p:spPr>
        <p:txBody>
          <a:bodyPr wrap="square" lIns="45720" rIns="45720" tIns="18288" bIns="18288" anchor="t">
            <a:spAutoFit/>
          </a:bodyPr>
          <a:lstStyle/>
          <a:p>
            <a:pPr algn="ctr">
              <a:lnSpc>
                <a:spcPct val="120000"/>
              </a:lnSpc>
            </a:pPr>
            <a:r>
              <a:rPr sz="1000" b="0">
                <a:solidFill>
                  <a:srgbClr val="FFFFFF"/>
                </a:solidFill>
                <a:latin typeface="Calibri"/>
              </a:rPr>
              <a:t>Concept</a:t>
            </a:r>
          </a:p>
        </p:txBody>
      </p:sp>
      <p:sp>
        <p:nvSpPr>
          <p:cNvPr id="51" name="Rounded Rectangle 50"/>
          <p:cNvSpPr/>
          <p:nvPr/>
        </p:nvSpPr>
        <p:spPr>
          <a:xfrm>
            <a:off x="2328519" y="3794760"/>
            <a:ext cx="1828800" cy="82296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28519" y="3886200"/>
            <a:ext cx="1828800" cy="365760"/>
          </a:xfrm>
          <a:prstGeom prst="rect">
            <a:avLst/>
          </a:prstGeom>
          <a:noFill/>
        </p:spPr>
        <p:txBody>
          <a:bodyPr wrap="square" lIns="45720" rIns="45720" tIns="18288" bIns="18288" anchor="t">
            <a:spAutoFit/>
          </a:bodyPr>
          <a:lstStyle/>
          <a:p>
            <a:pPr algn="ctr">
              <a:lnSpc>
                <a:spcPct val="120000"/>
              </a:lnSpc>
            </a:pPr>
            <a:r>
              <a:rPr sz="1200" b="1">
                <a:solidFill>
                  <a:srgbClr val="FFFFFF"/>
                </a:solidFill>
                <a:latin typeface="Calibri"/>
              </a:rPr>
              <a:t>READY</a:t>
            </a:r>
          </a:p>
        </p:txBody>
      </p:sp>
      <p:sp>
        <p:nvSpPr>
          <p:cNvPr id="53" name="TextBox 52"/>
          <p:cNvSpPr txBox="1"/>
          <p:nvPr/>
        </p:nvSpPr>
        <p:spPr>
          <a:xfrm>
            <a:off x="2328519" y="4251960"/>
            <a:ext cx="1828800" cy="320040"/>
          </a:xfrm>
          <a:prstGeom prst="rect">
            <a:avLst/>
          </a:prstGeom>
          <a:noFill/>
        </p:spPr>
        <p:txBody>
          <a:bodyPr wrap="square" lIns="45720" rIns="45720" tIns="18288" bIns="18288" anchor="t">
            <a:spAutoFit/>
          </a:bodyPr>
          <a:lstStyle/>
          <a:p>
            <a:pPr algn="ctr">
              <a:lnSpc>
                <a:spcPct val="120000"/>
              </a:lnSpc>
            </a:pPr>
            <a:r>
              <a:rPr sz="1000" b="0">
                <a:solidFill>
                  <a:srgbClr val="FFFFFF"/>
                </a:solidFill>
                <a:latin typeface="Calibri"/>
              </a:rPr>
              <a:t>Klaar</a:t>
            </a:r>
          </a:p>
        </p:txBody>
      </p:sp>
      <p:sp>
        <p:nvSpPr>
          <p:cNvPr id="54" name="Rounded Rectangle 53"/>
          <p:cNvSpPr/>
          <p:nvPr/>
        </p:nvSpPr>
        <p:spPr>
          <a:xfrm>
            <a:off x="4230471" y="3794760"/>
            <a:ext cx="1828800" cy="82296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30471" y="3886200"/>
            <a:ext cx="1828800" cy="365760"/>
          </a:xfrm>
          <a:prstGeom prst="rect">
            <a:avLst/>
          </a:prstGeom>
          <a:noFill/>
        </p:spPr>
        <p:txBody>
          <a:bodyPr wrap="square" lIns="45720" rIns="45720" tIns="18288" bIns="18288" anchor="t">
            <a:spAutoFit/>
          </a:bodyPr>
          <a:lstStyle/>
          <a:p>
            <a:pPr algn="ctr">
              <a:lnSpc>
                <a:spcPct val="120000"/>
              </a:lnSpc>
            </a:pPr>
            <a:r>
              <a:rPr sz="1200" b="1">
                <a:solidFill>
                  <a:srgbClr val="FFFFFF"/>
                </a:solidFill>
                <a:latin typeface="Calibri"/>
              </a:rPr>
              <a:t>PROCESSING</a:t>
            </a:r>
          </a:p>
        </p:txBody>
      </p:sp>
      <p:sp>
        <p:nvSpPr>
          <p:cNvPr id="56" name="TextBox 55"/>
          <p:cNvSpPr txBox="1"/>
          <p:nvPr/>
        </p:nvSpPr>
        <p:spPr>
          <a:xfrm>
            <a:off x="4230471" y="4251960"/>
            <a:ext cx="1828800" cy="320040"/>
          </a:xfrm>
          <a:prstGeom prst="rect">
            <a:avLst/>
          </a:prstGeom>
          <a:noFill/>
        </p:spPr>
        <p:txBody>
          <a:bodyPr wrap="square" lIns="45720" rIns="45720" tIns="18288" bIns="18288" anchor="t">
            <a:spAutoFit/>
          </a:bodyPr>
          <a:lstStyle/>
          <a:p>
            <a:pPr algn="ctr">
              <a:lnSpc>
                <a:spcPct val="120000"/>
              </a:lnSpc>
            </a:pPr>
            <a:r>
              <a:rPr sz="1000" b="0">
                <a:solidFill>
                  <a:srgbClr val="FFFFFF"/>
                </a:solidFill>
                <a:latin typeface="Calibri"/>
              </a:rPr>
              <a:t>Bezig</a:t>
            </a:r>
          </a:p>
        </p:txBody>
      </p:sp>
      <p:sp>
        <p:nvSpPr>
          <p:cNvPr id="57" name="Rounded Rectangle 56"/>
          <p:cNvSpPr/>
          <p:nvPr/>
        </p:nvSpPr>
        <p:spPr>
          <a:xfrm>
            <a:off x="6132423" y="3794760"/>
            <a:ext cx="1828800" cy="8229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32423" y="3886200"/>
            <a:ext cx="1828800" cy="365760"/>
          </a:xfrm>
          <a:prstGeom prst="rect">
            <a:avLst/>
          </a:prstGeom>
          <a:noFill/>
        </p:spPr>
        <p:txBody>
          <a:bodyPr wrap="square" lIns="45720" rIns="45720" tIns="18288" bIns="18288" anchor="t">
            <a:spAutoFit/>
          </a:bodyPr>
          <a:lstStyle/>
          <a:p>
            <a:pPr algn="ctr">
              <a:lnSpc>
                <a:spcPct val="120000"/>
              </a:lnSpc>
            </a:pPr>
            <a:r>
              <a:rPr sz="1200" b="1">
                <a:solidFill>
                  <a:srgbClr val="FFFFFF"/>
                </a:solidFill>
                <a:latin typeface="Calibri"/>
              </a:rPr>
              <a:t>COMPLETED</a:t>
            </a:r>
          </a:p>
        </p:txBody>
      </p:sp>
      <p:sp>
        <p:nvSpPr>
          <p:cNvPr id="59" name="TextBox 58"/>
          <p:cNvSpPr txBox="1"/>
          <p:nvPr/>
        </p:nvSpPr>
        <p:spPr>
          <a:xfrm>
            <a:off x="6132423" y="4251960"/>
            <a:ext cx="1828800" cy="320040"/>
          </a:xfrm>
          <a:prstGeom prst="rect">
            <a:avLst/>
          </a:prstGeom>
          <a:noFill/>
        </p:spPr>
        <p:txBody>
          <a:bodyPr wrap="square" lIns="45720" rIns="45720" tIns="18288" bIns="18288" anchor="t">
            <a:spAutoFit/>
          </a:bodyPr>
          <a:lstStyle/>
          <a:p>
            <a:pPr algn="ctr">
              <a:lnSpc>
                <a:spcPct val="120000"/>
              </a:lnSpc>
            </a:pPr>
            <a:r>
              <a:rPr sz="1000" b="0">
                <a:solidFill>
                  <a:srgbClr val="FFFFFF"/>
                </a:solidFill>
                <a:latin typeface="Calibri"/>
              </a:rPr>
              <a:t>Succes ✓</a:t>
            </a:r>
          </a:p>
        </p:txBody>
      </p:sp>
      <p:sp>
        <p:nvSpPr>
          <p:cNvPr id="60" name="Rounded Rectangle 59"/>
          <p:cNvSpPr/>
          <p:nvPr/>
        </p:nvSpPr>
        <p:spPr>
          <a:xfrm>
            <a:off x="8034375" y="3794760"/>
            <a:ext cx="1828800" cy="82296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034375" y="3886200"/>
            <a:ext cx="1828800" cy="365760"/>
          </a:xfrm>
          <a:prstGeom prst="rect">
            <a:avLst/>
          </a:prstGeom>
          <a:noFill/>
        </p:spPr>
        <p:txBody>
          <a:bodyPr wrap="square" lIns="45720" rIns="45720" tIns="18288" bIns="18288" anchor="t">
            <a:spAutoFit/>
          </a:bodyPr>
          <a:lstStyle/>
          <a:p>
            <a:pPr algn="ctr">
              <a:lnSpc>
                <a:spcPct val="120000"/>
              </a:lnSpc>
            </a:pPr>
            <a:r>
              <a:rPr sz="1200" b="1">
                <a:solidFill>
                  <a:srgbClr val="FFFFFF"/>
                </a:solidFill>
                <a:latin typeface="Calibri"/>
              </a:rPr>
              <a:t>FAILED</a:t>
            </a:r>
          </a:p>
        </p:txBody>
      </p:sp>
      <p:sp>
        <p:nvSpPr>
          <p:cNvPr id="62" name="TextBox 61"/>
          <p:cNvSpPr txBox="1"/>
          <p:nvPr/>
        </p:nvSpPr>
        <p:spPr>
          <a:xfrm>
            <a:off x="8034375" y="4251960"/>
            <a:ext cx="1828800" cy="320040"/>
          </a:xfrm>
          <a:prstGeom prst="rect">
            <a:avLst/>
          </a:prstGeom>
          <a:noFill/>
        </p:spPr>
        <p:txBody>
          <a:bodyPr wrap="square" lIns="45720" rIns="45720" tIns="18288" bIns="18288" anchor="t">
            <a:spAutoFit/>
          </a:bodyPr>
          <a:lstStyle/>
          <a:p>
            <a:pPr algn="ctr">
              <a:lnSpc>
                <a:spcPct val="120000"/>
              </a:lnSpc>
            </a:pPr>
            <a:r>
              <a:rPr sz="1000" b="0">
                <a:solidFill>
                  <a:srgbClr val="FFFFFF"/>
                </a:solidFill>
                <a:latin typeface="Calibri"/>
              </a:rPr>
              <a:t>Fout ✗</a:t>
            </a:r>
          </a:p>
        </p:txBody>
      </p:sp>
      <p:sp>
        <p:nvSpPr>
          <p:cNvPr id="63" name="Rounded Rectangle 62"/>
          <p:cNvSpPr/>
          <p:nvPr/>
        </p:nvSpPr>
        <p:spPr>
          <a:xfrm>
            <a:off x="9936327" y="3794760"/>
            <a:ext cx="1828800" cy="82296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936327" y="3886200"/>
            <a:ext cx="1828800" cy="365760"/>
          </a:xfrm>
          <a:prstGeom prst="rect">
            <a:avLst/>
          </a:prstGeom>
          <a:noFill/>
        </p:spPr>
        <p:txBody>
          <a:bodyPr wrap="square" lIns="45720" rIns="45720" tIns="18288" bIns="18288" anchor="t">
            <a:spAutoFit/>
          </a:bodyPr>
          <a:lstStyle/>
          <a:p>
            <a:pPr algn="ctr">
              <a:lnSpc>
                <a:spcPct val="120000"/>
              </a:lnSpc>
            </a:pPr>
            <a:r>
              <a:rPr sz="1200" b="1">
                <a:solidFill>
                  <a:srgbClr val="FFFFFF"/>
                </a:solidFill>
                <a:latin typeface="Calibri"/>
              </a:rPr>
              <a:t>CANCELLED</a:t>
            </a:r>
          </a:p>
        </p:txBody>
      </p:sp>
      <p:sp>
        <p:nvSpPr>
          <p:cNvPr id="65" name="TextBox 64"/>
          <p:cNvSpPr txBox="1"/>
          <p:nvPr/>
        </p:nvSpPr>
        <p:spPr>
          <a:xfrm>
            <a:off x="9936327" y="4251960"/>
            <a:ext cx="1828800" cy="320040"/>
          </a:xfrm>
          <a:prstGeom prst="rect">
            <a:avLst/>
          </a:prstGeom>
          <a:noFill/>
        </p:spPr>
        <p:txBody>
          <a:bodyPr wrap="square" lIns="45720" rIns="45720" tIns="18288" bIns="18288" anchor="t">
            <a:spAutoFit/>
          </a:bodyPr>
          <a:lstStyle/>
          <a:p>
            <a:pPr algn="ctr">
              <a:lnSpc>
                <a:spcPct val="120000"/>
              </a:lnSpc>
            </a:pPr>
            <a:r>
              <a:rPr sz="1000" b="0">
                <a:solidFill>
                  <a:srgbClr val="FFFFFF"/>
                </a:solidFill>
                <a:latin typeface="Calibri"/>
              </a:rPr>
              <a:t>Geannuleerd</a:t>
            </a:r>
          </a:p>
        </p:txBody>
      </p:sp>
      <p:sp>
        <p:nvSpPr>
          <p:cNvPr id="66" name="Rounded Rectangle 65"/>
          <p:cNvSpPr/>
          <p:nvPr/>
        </p:nvSpPr>
        <p:spPr>
          <a:xfrm>
            <a:off x="365760" y="4800600"/>
            <a:ext cx="11475720" cy="1645920"/>
          </a:xfrm>
          <a:prstGeom prst="roundRect">
            <a:avLst/>
          </a:prstGeom>
          <a:solidFill>
            <a:srgbClr val="ECFDF5"/>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 y="4892040"/>
            <a:ext cx="10972800" cy="365760"/>
          </a:xfrm>
          <a:prstGeom prst="rect">
            <a:avLst/>
          </a:prstGeom>
          <a:noFill/>
        </p:spPr>
        <p:txBody>
          <a:bodyPr wrap="square" lIns="45720" rIns="45720" tIns="18288" bIns="18288" anchor="t">
            <a:spAutoFit/>
          </a:bodyPr>
          <a:lstStyle/>
          <a:p>
            <a:pPr algn="l">
              <a:lnSpc>
                <a:spcPct val="120000"/>
              </a:lnSpc>
            </a:pPr>
            <a:r>
              <a:rPr sz="1400" b="1">
                <a:solidFill>
                  <a:srgbClr val="1E3A5F"/>
                </a:solidFill>
                <a:latin typeface="Calibri"/>
              </a:rPr>
              <a:t>🔒 Transactionele 'Activeer nu' – Stap 6 gebeurt atomair in 1 database-transactie:</a:t>
            </a:r>
          </a:p>
        </p:txBody>
      </p:sp>
      <p:sp>
        <p:nvSpPr>
          <p:cNvPr id="68" name="TextBox 67"/>
          <p:cNvSpPr txBox="1"/>
          <p:nvPr/>
        </p:nvSpPr>
        <p:spPr>
          <a:xfrm>
            <a:off x="731520" y="5303520"/>
            <a:ext cx="10789920" cy="1097280"/>
          </a:xfrm>
          <a:prstGeom prst="rect">
            <a:avLst/>
          </a:prstGeom>
          <a:noFill/>
        </p:spPr>
        <p:txBody>
          <a:bodyPr wrap="square">
            <a:spAutoFit/>
          </a:bodyPr>
          <a:lstStyle/>
          <a:p>
            <a:pPr algn="l">
              <a:lnSpc>
                <a:spcPct val="120000"/>
              </a:lnSpc>
              <a:spcAft>
                <a:spcPts val="600"/>
              </a:spcAft>
            </a:pPr>
            <a:r>
              <a:rPr sz="1200" b="1">
                <a:solidFill>
                  <a:srgbClr val="16A34A"/>
                </a:solidFill>
                <a:latin typeface="Calibri"/>
              </a:rPr>
              <a:t>▸ </a:t>
            </a:r>
            <a:r>
              <a:rPr sz="1200">
                <a:solidFill>
                  <a:srgbClr val="1A1A1A"/>
                </a:solidFill>
                <a:latin typeface="Calibri"/>
              </a:rPr>
              <a:t>Assert: order is READY + tracker/SIM zijn op voorraad (IN_STOCK)</a:t>
            </a:r>
          </a:p>
          <a:p>
            <a:pPr algn="l">
              <a:lnSpc>
                <a:spcPct val="120000"/>
              </a:lnSpc>
              <a:spcAft>
                <a:spcPts val="600"/>
              </a:spcAft>
            </a:pPr>
            <a:r>
              <a:rPr sz="1200" b="1">
                <a:solidFill>
                  <a:srgbClr val="16A34A"/>
                </a:solidFill>
                <a:latin typeface="Calibri"/>
              </a:rPr>
              <a:t>▸ </a:t>
            </a:r>
            <a:r>
              <a:rPr sz="1200">
                <a:solidFill>
                  <a:srgbClr val="1A1A1A"/>
                </a:solidFill>
                <a:latin typeface="Calibri"/>
              </a:rPr>
              <a:t>Aanmaken Subscription (PENDING_ACTIVATION → ACTIVE)</a:t>
            </a:r>
          </a:p>
          <a:p>
            <a:pPr algn="l">
              <a:lnSpc>
                <a:spcPct val="120000"/>
              </a:lnSpc>
              <a:spcAft>
                <a:spcPts val="600"/>
              </a:spcAft>
            </a:pPr>
            <a:r>
              <a:rPr sz="1200" b="1">
                <a:solidFill>
                  <a:srgbClr val="16A34A"/>
                </a:solidFill>
                <a:latin typeface="Calibri"/>
              </a:rPr>
              <a:t>▸ </a:t>
            </a:r>
            <a:r>
              <a:rPr sz="1200">
                <a:solidFill>
                  <a:srgbClr val="1A1A1A"/>
                </a:solidFill>
                <a:latin typeface="Calibri"/>
              </a:rPr>
              <a:t>Tracker: IN_STOCK → ASSIGNED (met unique partial index: geen dubbele assignments!)</a:t>
            </a:r>
          </a:p>
          <a:p>
            <a:pPr algn="l">
              <a:lnSpc>
                <a:spcPct val="120000"/>
              </a:lnSpc>
              <a:spcAft>
                <a:spcPts val="600"/>
              </a:spcAft>
            </a:pPr>
            <a:r>
              <a:rPr sz="1200" b="1">
                <a:solidFill>
                  <a:srgbClr val="16A34A"/>
                </a:solidFill>
                <a:latin typeface="Calibri"/>
              </a:rPr>
              <a:t>▸ </a:t>
            </a:r>
            <a:r>
              <a:rPr sz="1200">
                <a:solidFill>
                  <a:srgbClr val="1A1A1A"/>
                </a:solidFill>
                <a:latin typeface="Calibri"/>
              </a:rPr>
              <a:t>SIM: IN_STOCK → ASSIGNED, ActivationOrder → COMPLETED met completedAt timestamp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Abonnementen Beheren</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Wijzigen, schorsen, vervangen van hardware</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11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325880"/>
            <a:ext cx="5669280" cy="23774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417320"/>
            <a:ext cx="548640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  Abonnement – Detailpagina</a:t>
            </a:r>
          </a:p>
        </p:txBody>
      </p:sp>
      <p:sp>
        <p:nvSpPr>
          <p:cNvPr id="15" name="TextBox 14"/>
          <p:cNvSpPr txBox="1"/>
          <p:nvPr/>
        </p:nvSpPr>
        <p:spPr>
          <a:xfrm>
            <a:off x="594360" y="2011680"/>
            <a:ext cx="5212080" cy="155448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Tab </a:t>
            </a:r>
            <a:r>
              <a:rPr sz="1300">
                <a:solidFill>
                  <a:srgbClr val="1A1A1A"/>
                </a:solidFill>
                <a:latin typeface="Calibri"/>
              </a:rPr>
              <a:t>1: Bewerken (gegevens, prijs, periode)</a:t>
            </a:r>
          </a:p>
          <a:p>
            <a:pPr algn="l">
              <a:lnSpc>
                <a:spcPct val="125000"/>
              </a:lnSpc>
              <a:spcAft>
                <a:spcPts val="600"/>
              </a:spcAft>
            </a:pPr>
            <a:r>
              <a:rPr sz="1300" b="1">
                <a:solidFill>
                  <a:srgbClr val="2E86C1"/>
                </a:solidFill>
                <a:latin typeface="Calibri"/>
              </a:rPr>
              <a:t>▸ </a:t>
            </a:r>
            <a:r>
              <a:rPr sz="1300" b="1">
                <a:solidFill>
                  <a:srgbClr val="1A1A1A"/>
                </a:solidFill>
                <a:latin typeface="Calibri"/>
              </a:rPr>
              <a:t>Tab </a:t>
            </a:r>
            <a:r>
              <a:rPr sz="1300">
                <a:solidFill>
                  <a:srgbClr val="1A1A1A"/>
                </a:solidFill>
                <a:latin typeface="Calibri"/>
              </a:rPr>
              <a:t>2: Tracker (huidig + geschiedenis assignments)</a:t>
            </a:r>
          </a:p>
          <a:p>
            <a:pPr algn="l">
              <a:lnSpc>
                <a:spcPct val="125000"/>
              </a:lnSpc>
              <a:spcAft>
                <a:spcPts val="600"/>
              </a:spcAft>
            </a:pPr>
            <a:r>
              <a:rPr sz="1300" b="1">
                <a:solidFill>
                  <a:srgbClr val="2E86C1"/>
                </a:solidFill>
                <a:latin typeface="Calibri"/>
              </a:rPr>
              <a:t>▸ </a:t>
            </a:r>
            <a:r>
              <a:rPr sz="1300" b="1">
                <a:solidFill>
                  <a:srgbClr val="1A1A1A"/>
                </a:solidFill>
                <a:latin typeface="Calibri"/>
              </a:rPr>
              <a:t>Tab </a:t>
            </a:r>
            <a:r>
              <a:rPr sz="1300">
                <a:solidFill>
                  <a:srgbClr val="1A1A1A"/>
                </a:solidFill>
                <a:latin typeface="Calibri"/>
              </a:rPr>
              <a:t>3: SIM (huidig + geschiedenis assignments)</a:t>
            </a:r>
          </a:p>
          <a:p>
            <a:pPr algn="l">
              <a:lnSpc>
                <a:spcPct val="125000"/>
              </a:lnSpc>
              <a:spcAft>
                <a:spcPts val="600"/>
              </a:spcAft>
            </a:pPr>
            <a:r>
              <a:rPr sz="1300" b="1">
                <a:solidFill>
                  <a:srgbClr val="2E86C1"/>
                </a:solidFill>
                <a:latin typeface="Calibri"/>
              </a:rPr>
              <a:t>▸ </a:t>
            </a:r>
            <a:r>
              <a:rPr sz="1300" b="1">
                <a:solidFill>
                  <a:srgbClr val="1A1A1A"/>
                </a:solidFill>
                <a:latin typeface="Calibri"/>
              </a:rPr>
              <a:t>Tab </a:t>
            </a:r>
            <a:r>
              <a:rPr sz="1300">
                <a:solidFill>
                  <a:srgbClr val="1A1A1A"/>
                </a:solidFill>
                <a:latin typeface="Calibri"/>
              </a:rPr>
              <a:t>4: Facturen (genereer, bekijk PDFs)</a:t>
            </a:r>
          </a:p>
          <a:p>
            <a:pPr algn="l">
              <a:lnSpc>
                <a:spcPct val="125000"/>
              </a:lnSpc>
              <a:spcAft>
                <a:spcPts val="600"/>
              </a:spcAft>
            </a:pPr>
            <a:r>
              <a:rPr sz="1300" b="1">
                <a:solidFill>
                  <a:srgbClr val="2E86C1"/>
                </a:solidFill>
                <a:latin typeface="Calibri"/>
              </a:rPr>
              <a:t>▸ </a:t>
            </a:r>
            <a:r>
              <a:rPr sz="1300" b="1">
                <a:solidFill>
                  <a:srgbClr val="1A1A1A"/>
                </a:solidFill>
                <a:latin typeface="Calibri"/>
              </a:rPr>
              <a:t>Tab </a:t>
            </a:r>
            <a:r>
              <a:rPr sz="1300">
                <a:solidFill>
                  <a:srgbClr val="1A1A1A"/>
                </a:solidFill>
                <a:latin typeface="Calibri"/>
              </a:rPr>
              <a:t>5: Geschiedenis (wijzigingen &amp; audit log)</a:t>
            </a:r>
          </a:p>
        </p:txBody>
      </p:sp>
      <p:sp>
        <p:nvSpPr>
          <p:cNvPr id="16" name="Rounded Rectangle 15"/>
          <p:cNvSpPr/>
          <p:nvPr/>
        </p:nvSpPr>
        <p:spPr>
          <a:xfrm>
            <a:off x="6172200" y="1325880"/>
            <a:ext cx="5669280" cy="23774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1417320"/>
            <a:ext cx="5486400" cy="50292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  Beschikbare Acties</a:t>
            </a:r>
          </a:p>
        </p:txBody>
      </p:sp>
      <p:sp>
        <p:nvSpPr>
          <p:cNvPr id="19" name="TextBox 18"/>
          <p:cNvSpPr txBox="1"/>
          <p:nvPr/>
        </p:nvSpPr>
        <p:spPr>
          <a:xfrm>
            <a:off x="6400800" y="2011680"/>
            <a:ext cx="5212080" cy="155448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 </a:t>
            </a:r>
            <a:r>
              <a:rPr sz="1300">
                <a:solidFill>
                  <a:srgbClr val="1A1A1A"/>
                </a:solidFill>
                <a:latin typeface="Calibri"/>
              </a:rPr>
              <a:t>Suspend – tijdelijk pauzeren (niet factureren)</a:t>
            </a:r>
          </a:p>
          <a:p>
            <a:pPr algn="l">
              <a:lnSpc>
                <a:spcPct val="125000"/>
              </a:lnSpc>
              <a:spcAft>
                <a:spcPts val="600"/>
              </a:spcAft>
            </a:pPr>
            <a:r>
              <a:rPr sz="1300" b="1">
                <a:solidFill>
                  <a:srgbClr val="2E86C1"/>
                </a:solidFill>
                <a:latin typeface="Calibri"/>
              </a:rPr>
              <a:t>▸ </a:t>
            </a:r>
            <a:r>
              <a:rPr sz="1300" b="1">
                <a:solidFill>
                  <a:srgbClr val="1A1A1A"/>
                </a:solidFill>
                <a:latin typeface="Calibri"/>
              </a:rPr>
              <a:t>▶️ </a:t>
            </a:r>
            <a:r>
              <a:rPr sz="1300">
                <a:solidFill>
                  <a:srgbClr val="1A1A1A"/>
                </a:solidFill>
                <a:latin typeface="Calibri"/>
              </a:rPr>
              <a:t>Resume – hervatten na opschorting</a:t>
            </a:r>
          </a:p>
          <a:p>
            <a:pPr algn="l">
              <a:lnSpc>
                <a:spcPct val="125000"/>
              </a:lnSpc>
              <a:spcAft>
                <a:spcPts val="600"/>
              </a:spcAft>
            </a:pPr>
            <a:r>
              <a:rPr sz="1300" b="1">
                <a:solidFill>
                  <a:srgbClr val="2E86C1"/>
                </a:solidFill>
                <a:latin typeface="Calibri"/>
              </a:rPr>
              <a:t>▸ </a:t>
            </a:r>
            <a:r>
              <a:rPr sz="1300" b="1">
                <a:solidFill>
                  <a:srgbClr val="1A1A1A"/>
                </a:solidFill>
                <a:latin typeface="Calibri"/>
              </a:rPr>
              <a:t>✖️ </a:t>
            </a:r>
            <a:r>
              <a:rPr sz="1300">
                <a:solidFill>
                  <a:srgbClr val="1A1A1A"/>
                </a:solidFill>
                <a:latin typeface="Calibri"/>
              </a:rPr>
              <a:t>Annuleren – per einddatum beeindigen</a:t>
            </a:r>
          </a:p>
          <a:p>
            <a:pPr algn="l">
              <a:lnSpc>
                <a:spcPct val="125000"/>
              </a:lnSpc>
              <a:spcAft>
                <a:spcPts val="600"/>
              </a:spcAft>
            </a:pPr>
            <a:r>
              <a:rPr sz="1300" b="1">
                <a:solidFill>
                  <a:srgbClr val="2E86C1"/>
                </a:solidFill>
                <a:latin typeface="Calibri"/>
              </a:rPr>
              <a:t>▸ </a:t>
            </a:r>
            <a:r>
              <a:rPr sz="1300" b="1">
                <a:solidFill>
                  <a:srgbClr val="1A1A1A"/>
                </a:solidFill>
                <a:latin typeface="Calibri"/>
              </a:rPr>
              <a:t>🛑 </a:t>
            </a:r>
            <a:r>
              <a:rPr sz="1300">
                <a:solidFill>
                  <a:srgbClr val="1A1A1A"/>
                </a:solidFill>
                <a:latin typeface="Calibri"/>
              </a:rPr>
              <a:t>Beëindigen – onmiddellijk stopzetten</a:t>
            </a:r>
          </a:p>
          <a:p>
            <a:pPr algn="l">
              <a:lnSpc>
                <a:spcPct val="125000"/>
              </a:lnSpc>
              <a:spcAft>
                <a:spcPts val="600"/>
              </a:spcAft>
            </a:pPr>
            <a:r>
              <a:rPr sz="1300" b="1">
                <a:solidFill>
                  <a:srgbClr val="2E86C1"/>
                </a:solidFill>
                <a:latin typeface="Calibri"/>
              </a:rPr>
              <a:t>▸ </a:t>
            </a:r>
            <a:r>
              <a:rPr sz="1300" b="1">
                <a:solidFill>
                  <a:srgbClr val="1A1A1A"/>
                </a:solidFill>
                <a:latin typeface="Calibri"/>
              </a:rPr>
              <a:t>🔄 </a:t>
            </a:r>
            <a:r>
              <a:rPr sz="1300">
                <a:solidFill>
                  <a:srgbClr val="1A1A1A"/>
                </a:solidFill>
                <a:latin typeface="Calibri"/>
              </a:rPr>
              <a:t>Tracker Vervangen – RMA of upgrade</a:t>
            </a:r>
          </a:p>
          <a:p>
            <a:pPr algn="l">
              <a:lnSpc>
                <a:spcPct val="125000"/>
              </a:lnSpc>
              <a:spcAft>
                <a:spcPts val="600"/>
              </a:spcAft>
            </a:pPr>
            <a:r>
              <a:rPr sz="1300" b="1">
                <a:solidFill>
                  <a:srgbClr val="2E86C1"/>
                </a:solidFill>
                <a:latin typeface="Calibri"/>
              </a:rPr>
              <a:t>▸ </a:t>
            </a:r>
            <a:r>
              <a:rPr sz="1300" b="1">
                <a:solidFill>
                  <a:srgbClr val="1A1A1A"/>
                </a:solidFill>
                <a:latin typeface="Calibri"/>
              </a:rPr>
              <a:t>🔄 </a:t>
            </a:r>
            <a:r>
              <a:rPr sz="1300">
                <a:solidFill>
                  <a:srgbClr val="1A1A1A"/>
                </a:solidFill>
                <a:latin typeface="Calibri"/>
              </a:rPr>
              <a:t>SIM Vervangen – nieuwe SIM uitgeven</a:t>
            </a:r>
          </a:p>
        </p:txBody>
      </p:sp>
      <p:sp>
        <p:nvSpPr>
          <p:cNvPr id="20" name="Rounded Rectangle 19"/>
          <p:cNvSpPr/>
          <p:nvPr/>
        </p:nvSpPr>
        <p:spPr>
          <a:xfrm>
            <a:off x="365760" y="3931920"/>
            <a:ext cx="5669280" cy="25146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023360"/>
            <a:ext cx="5303520" cy="457200"/>
          </a:xfrm>
          <a:prstGeom prst="rect">
            <a:avLst/>
          </a:prstGeom>
          <a:noFill/>
        </p:spPr>
        <p:txBody>
          <a:bodyPr wrap="square" lIns="45720" rIns="45720" tIns="18288" bIns="18288" anchor="t">
            <a:spAutoFit/>
          </a:bodyPr>
          <a:lstStyle/>
          <a:p>
            <a:pPr algn="l">
              <a:lnSpc>
                <a:spcPct val="120000"/>
              </a:lnSpc>
            </a:pPr>
            <a:r>
              <a:rPr sz="1600" b="1">
                <a:solidFill>
                  <a:srgbClr val="FFFFFF"/>
                </a:solidFill>
                <a:latin typeface="Calibri"/>
              </a:rPr>
              <a:t>📋 TrackerAssignment – Regels</a:t>
            </a:r>
          </a:p>
        </p:txBody>
      </p:sp>
      <p:sp>
        <p:nvSpPr>
          <p:cNvPr id="22" name="TextBox 21"/>
          <p:cNvSpPr txBox="1"/>
          <p:nvPr/>
        </p:nvSpPr>
        <p:spPr>
          <a:xfrm>
            <a:off x="640080" y="4526280"/>
            <a:ext cx="5120640" cy="1828800"/>
          </a:xfrm>
          <a:prstGeom prst="rect">
            <a:avLst/>
          </a:prstGeom>
          <a:noFill/>
        </p:spPr>
        <p:txBody>
          <a:bodyPr wrap="square">
            <a:spAutoFit/>
          </a:bodyPr>
          <a:lstStyle/>
          <a:p>
            <a:pPr algn="l">
              <a:lnSpc>
                <a:spcPct val="130000"/>
              </a:lnSpc>
              <a:spcAft>
                <a:spcPts val="600"/>
              </a:spcAft>
            </a:pPr>
            <a:r>
              <a:rPr sz="1250" b="1">
                <a:solidFill>
                  <a:srgbClr val="E86C00"/>
                </a:solidFill>
                <a:latin typeface="Calibri"/>
              </a:rPr>
              <a:t>▸ </a:t>
            </a:r>
            <a:r>
              <a:rPr sz="1250">
                <a:solidFill>
                  <a:srgbClr val="FFFFFF"/>
                </a:solidFill>
                <a:latin typeface="Calibri"/>
              </a:rPr>
              <a:t>1 tracker tegelijkertijd ACTIEF (partial unique index)</a:t>
            </a:r>
          </a:p>
          <a:p>
            <a:pPr algn="l">
              <a:lnSpc>
                <a:spcPct val="130000"/>
              </a:lnSpc>
              <a:spcAft>
                <a:spcPts val="600"/>
              </a:spcAft>
            </a:pPr>
            <a:r>
              <a:rPr sz="1250" b="1">
                <a:solidFill>
                  <a:srgbClr val="E86C00"/>
                </a:solidFill>
                <a:latin typeface="Calibri"/>
              </a:rPr>
              <a:t>▸ </a:t>
            </a:r>
            <a:r>
              <a:rPr sz="1250">
                <a:solidFill>
                  <a:srgbClr val="FFFFFF"/>
                </a:solidFill>
                <a:latin typeface="Calibri"/>
              </a:rPr>
              <a:t>Redenen: INITIAL / REPLACEMENT / REMOVED / RMA / UPGRADE</a:t>
            </a:r>
          </a:p>
          <a:p>
            <a:pPr algn="l">
              <a:lnSpc>
                <a:spcPct val="130000"/>
              </a:lnSpc>
              <a:spcAft>
                <a:spcPts val="600"/>
              </a:spcAft>
            </a:pPr>
            <a:r>
              <a:rPr sz="1250" b="1">
                <a:solidFill>
                  <a:srgbClr val="E86C00"/>
                </a:solidFill>
                <a:latin typeface="Calibri"/>
              </a:rPr>
              <a:t>▸ </a:t>
            </a:r>
            <a:r>
              <a:rPr sz="1250">
                <a:solidFill>
                  <a:srgbClr val="FFFFFF"/>
                </a:solidFill>
                <a:latin typeface="Calibri"/>
              </a:rPr>
              <a:t>Altijd: startAt timestamp, endAt leeg = actief</a:t>
            </a:r>
          </a:p>
          <a:p>
            <a:pPr algn="l">
              <a:lnSpc>
                <a:spcPct val="130000"/>
              </a:lnSpc>
              <a:spcAft>
                <a:spcPts val="600"/>
              </a:spcAft>
            </a:pPr>
            <a:r>
              <a:rPr sz="1250" b="1">
                <a:solidFill>
                  <a:srgbClr val="E86C00"/>
                </a:solidFill>
                <a:latin typeface="Calibri"/>
              </a:rPr>
              <a:t>▸ </a:t>
            </a:r>
            <a:r>
              <a:rPr sz="1250">
                <a:solidFill>
                  <a:srgbClr val="FFFFFF"/>
                </a:solidFill>
                <a:latin typeface="Calibri"/>
              </a:rPr>
              <a:t>Vervangen = oude endAt zetten + nieuwe INSERT</a:t>
            </a:r>
          </a:p>
          <a:p>
            <a:pPr algn="l">
              <a:lnSpc>
                <a:spcPct val="130000"/>
              </a:lnSpc>
              <a:spcAft>
                <a:spcPts val="600"/>
              </a:spcAft>
            </a:pPr>
            <a:r>
              <a:rPr sz="1250" b="1">
                <a:solidFill>
                  <a:srgbClr val="E86C00"/>
                </a:solidFill>
                <a:latin typeface="Calibri"/>
              </a:rPr>
              <a:t>▸ </a:t>
            </a:r>
            <a:r>
              <a:rPr sz="1250">
                <a:solidFill>
                  <a:srgbClr val="FFFFFF"/>
                </a:solidFill>
                <a:latin typeface="Calibri"/>
              </a:rPr>
              <a:t>Gemaakt door: userId (wie voerde uit)</a:t>
            </a:r>
          </a:p>
        </p:txBody>
      </p:sp>
      <p:sp>
        <p:nvSpPr>
          <p:cNvPr id="23" name="Rounded Rectangle 22"/>
          <p:cNvSpPr/>
          <p:nvPr/>
        </p:nvSpPr>
        <p:spPr>
          <a:xfrm>
            <a:off x="6172200" y="3931920"/>
            <a:ext cx="5669280" cy="251460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4023360"/>
            <a:ext cx="5303520" cy="457200"/>
          </a:xfrm>
          <a:prstGeom prst="rect">
            <a:avLst/>
          </a:prstGeom>
          <a:noFill/>
        </p:spPr>
        <p:txBody>
          <a:bodyPr wrap="square" lIns="45720" rIns="45720" tIns="18288" bIns="18288" anchor="t">
            <a:spAutoFit/>
          </a:bodyPr>
          <a:lstStyle/>
          <a:p>
            <a:pPr algn="l">
              <a:lnSpc>
                <a:spcPct val="120000"/>
              </a:lnSpc>
            </a:pPr>
            <a:r>
              <a:rPr sz="1600" b="1">
                <a:solidFill>
                  <a:srgbClr val="FFFFFF"/>
                </a:solidFill>
                <a:latin typeface="Calibri"/>
              </a:rPr>
              <a:t>📋 SimAssignment – Regels</a:t>
            </a:r>
          </a:p>
        </p:txBody>
      </p:sp>
      <p:sp>
        <p:nvSpPr>
          <p:cNvPr id="25" name="TextBox 24"/>
          <p:cNvSpPr txBox="1"/>
          <p:nvPr/>
        </p:nvSpPr>
        <p:spPr>
          <a:xfrm>
            <a:off x="6446520" y="4526280"/>
            <a:ext cx="5120640" cy="1828800"/>
          </a:xfrm>
          <a:prstGeom prst="rect">
            <a:avLst/>
          </a:prstGeom>
          <a:noFill/>
        </p:spPr>
        <p:txBody>
          <a:bodyPr wrap="square">
            <a:spAutoFit/>
          </a:bodyPr>
          <a:lstStyle/>
          <a:p>
            <a:pPr algn="l">
              <a:lnSpc>
                <a:spcPct val="130000"/>
              </a:lnSpc>
              <a:spcAft>
                <a:spcPts val="600"/>
              </a:spcAft>
            </a:pPr>
            <a:r>
              <a:rPr sz="1250" b="1">
                <a:solidFill>
                  <a:srgbClr val="E86C00"/>
                </a:solidFill>
                <a:latin typeface="Calibri"/>
              </a:rPr>
              <a:t>▸ </a:t>
            </a:r>
            <a:r>
              <a:rPr sz="1250">
                <a:solidFill>
                  <a:srgbClr val="FFFFFF"/>
                </a:solidFill>
                <a:latin typeface="Calibri"/>
              </a:rPr>
              <a:t>1 SIM maximaal 1 actieve assignment</a:t>
            </a:r>
          </a:p>
          <a:p>
            <a:pPr algn="l">
              <a:lnSpc>
                <a:spcPct val="130000"/>
              </a:lnSpc>
              <a:spcAft>
                <a:spcPts val="600"/>
              </a:spcAft>
            </a:pPr>
            <a:r>
              <a:rPr sz="1250" b="1">
                <a:solidFill>
                  <a:srgbClr val="E86C00"/>
                </a:solidFill>
                <a:latin typeface="Calibri"/>
              </a:rPr>
              <a:t>▸ </a:t>
            </a:r>
            <a:r>
              <a:rPr sz="1250">
                <a:solidFill>
                  <a:srgbClr val="FFFFFF"/>
                </a:solidFill>
                <a:latin typeface="Calibri"/>
              </a:rPr>
              <a:t>Zelfde reden-codering als trackers</a:t>
            </a:r>
          </a:p>
          <a:p>
            <a:pPr algn="l">
              <a:lnSpc>
                <a:spcPct val="130000"/>
              </a:lnSpc>
              <a:spcAft>
                <a:spcPts val="600"/>
              </a:spcAft>
            </a:pPr>
            <a:r>
              <a:rPr sz="1250" b="1">
                <a:solidFill>
                  <a:srgbClr val="E86C00"/>
                </a:solidFill>
                <a:latin typeface="Calibri"/>
              </a:rPr>
              <a:t>▸ </a:t>
            </a:r>
            <a:r>
              <a:rPr sz="1250">
                <a:solidFill>
                  <a:srgbClr val="FFFFFF"/>
                </a:solidFill>
                <a:latin typeface="Calibri"/>
              </a:rPr>
              <a:t>Koppeling met provider (activeringsdatums)</a:t>
            </a:r>
          </a:p>
          <a:p>
            <a:pPr algn="l">
              <a:lnSpc>
                <a:spcPct val="130000"/>
              </a:lnSpc>
              <a:spcAft>
                <a:spcPts val="600"/>
              </a:spcAft>
            </a:pPr>
            <a:r>
              <a:rPr sz="1250" b="1">
                <a:solidFill>
                  <a:srgbClr val="E86C00"/>
                </a:solidFill>
                <a:latin typeface="Calibri"/>
              </a:rPr>
              <a:t>▸ </a:t>
            </a:r>
            <a:r>
              <a:rPr sz="1250">
                <a:solidFill>
                  <a:srgbClr val="FFFFFF"/>
                </a:solidFill>
                <a:latin typeface="Calibri"/>
              </a:rPr>
              <a:t>Bij vervangen: oude SIM -&gt; CANCELLED of RETIRED</a:t>
            </a:r>
          </a:p>
          <a:p>
            <a:pPr algn="l">
              <a:lnSpc>
                <a:spcPct val="130000"/>
              </a:lnSpc>
              <a:spcAft>
                <a:spcPts val="600"/>
              </a:spcAft>
            </a:pPr>
            <a:r>
              <a:rPr sz="1250" b="1">
                <a:solidFill>
                  <a:srgbClr val="E86C00"/>
                </a:solidFill>
                <a:latin typeface="Calibri"/>
              </a:rPr>
              <a:t>▸ </a:t>
            </a:r>
            <a:r>
              <a:rPr sz="1250">
                <a:solidFill>
                  <a:srgbClr val="FFFFFF"/>
                </a:solidFill>
                <a:latin typeface="Calibri"/>
              </a:rPr>
              <a:t>Audit log: UNASSIGN_SIM + ASSIGN_SIM acties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Facturatie (Invoices)</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Automatisch genereren, verzenden en bijhouden</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12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325880"/>
            <a:ext cx="5669280" cy="256032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417320"/>
            <a:ext cx="548640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  Maandelijkse Generatie</a:t>
            </a:r>
          </a:p>
        </p:txBody>
      </p:sp>
      <p:sp>
        <p:nvSpPr>
          <p:cNvPr id="15" name="TextBox 14"/>
          <p:cNvSpPr txBox="1"/>
          <p:nvPr/>
        </p:nvSpPr>
        <p:spPr>
          <a:xfrm>
            <a:off x="594360" y="2011680"/>
            <a:ext cx="5212080" cy="173736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Kies </a:t>
            </a:r>
            <a:r>
              <a:rPr sz="1300">
                <a:solidFill>
                  <a:srgbClr val="1A1A1A"/>
                </a:solidFill>
                <a:latin typeface="Calibri"/>
              </a:rPr>
              <a:t>jaar + maand (bv. september 2026)</a:t>
            </a:r>
          </a:p>
          <a:p>
            <a:pPr algn="l">
              <a:lnSpc>
                <a:spcPct val="125000"/>
              </a:lnSpc>
              <a:spcAft>
                <a:spcPts val="600"/>
              </a:spcAft>
            </a:pPr>
            <a:r>
              <a:rPr sz="1300" b="1">
                <a:solidFill>
                  <a:srgbClr val="2E86C1"/>
                </a:solidFill>
                <a:latin typeface="Calibri"/>
              </a:rPr>
              <a:t>▸ </a:t>
            </a:r>
            <a:r>
              <a:rPr sz="1300" b="1">
                <a:solidFill>
                  <a:srgbClr val="1A1A1A"/>
                </a:solidFill>
                <a:latin typeface="Calibri"/>
              </a:rPr>
              <a:t>Selecteert </a:t>
            </a:r>
            <a:r>
              <a:rPr sz="1300">
                <a:solidFill>
                  <a:srgbClr val="1A1A1A"/>
                </a:solidFill>
                <a:latin typeface="Calibri"/>
              </a:rPr>
              <a:t>automatisch alle ACTIVE + SUSPENDED abonnementen</a:t>
            </a:r>
          </a:p>
          <a:p>
            <a:pPr algn="l">
              <a:lnSpc>
                <a:spcPct val="125000"/>
              </a:lnSpc>
              <a:spcAft>
                <a:spcPts val="600"/>
              </a:spcAft>
            </a:pPr>
            <a:r>
              <a:rPr sz="1300" b="1">
                <a:solidFill>
                  <a:srgbClr val="2E86C1"/>
                </a:solidFill>
                <a:latin typeface="Calibri"/>
              </a:rPr>
              <a:t>▸ </a:t>
            </a:r>
            <a:r>
              <a:rPr sz="1300" b="1">
                <a:solidFill>
                  <a:srgbClr val="1A1A1A"/>
                </a:solidFill>
                <a:latin typeface="Calibri"/>
              </a:rPr>
              <a:t>Per </a:t>
            </a:r>
            <a:r>
              <a:rPr sz="1300">
                <a:solidFill>
                  <a:srgbClr val="1A1A1A"/>
                </a:solidFill>
                <a:latin typeface="Calibri"/>
              </a:rPr>
              <a:t>abonnement: berekening subtotaal + BTW (21%)</a:t>
            </a:r>
          </a:p>
          <a:p>
            <a:pPr algn="l">
              <a:lnSpc>
                <a:spcPct val="125000"/>
              </a:lnSpc>
              <a:spcAft>
                <a:spcPts val="600"/>
              </a:spcAft>
            </a:pPr>
            <a:r>
              <a:rPr sz="1300" b="1">
                <a:solidFill>
                  <a:srgbClr val="2E86C1"/>
                </a:solidFill>
                <a:latin typeface="Calibri"/>
              </a:rPr>
              <a:t>▸ </a:t>
            </a:r>
            <a:r>
              <a:rPr sz="1300" b="1">
                <a:solidFill>
                  <a:srgbClr val="1A1A1A"/>
                </a:solidFill>
                <a:latin typeface="Calibri"/>
              </a:rPr>
              <a:t>Periode: </a:t>
            </a:r>
            <a:r>
              <a:rPr sz="1300">
                <a:solidFill>
                  <a:srgbClr val="1A1A1A"/>
                </a:solidFill>
                <a:latin typeface="Calibri"/>
              </a:rPr>
              <a:t>1e t/m laatste dag van de maand</a:t>
            </a:r>
          </a:p>
          <a:p>
            <a:pPr algn="l">
              <a:lnSpc>
                <a:spcPct val="125000"/>
              </a:lnSpc>
              <a:spcAft>
                <a:spcPts val="600"/>
              </a:spcAft>
            </a:pPr>
            <a:r>
              <a:rPr sz="1300" b="1">
                <a:solidFill>
                  <a:srgbClr val="2E86C1"/>
                </a:solidFill>
                <a:latin typeface="Calibri"/>
              </a:rPr>
              <a:t>▸ </a:t>
            </a:r>
            <a:r>
              <a:rPr sz="1300" b="1">
                <a:solidFill>
                  <a:srgbClr val="1A1A1A"/>
                </a:solidFill>
                <a:latin typeface="Calibri"/>
              </a:rPr>
              <a:t>Issue </a:t>
            </a:r>
            <a:r>
              <a:rPr sz="1300">
                <a:solidFill>
                  <a:srgbClr val="1A1A1A"/>
                </a:solidFill>
                <a:latin typeface="Calibri"/>
              </a:rPr>
              <a:t>date = 1e dag, Due date = +14 werkdagen</a:t>
            </a:r>
          </a:p>
          <a:p>
            <a:pPr algn="l">
              <a:lnSpc>
                <a:spcPct val="125000"/>
              </a:lnSpc>
              <a:spcAft>
                <a:spcPts val="600"/>
              </a:spcAft>
            </a:pPr>
            <a:r>
              <a:rPr sz="1300" b="1">
                <a:solidFill>
                  <a:srgbClr val="2E86C1"/>
                </a:solidFill>
                <a:latin typeface="Calibri"/>
              </a:rPr>
              <a:t>▸ </a:t>
            </a:r>
            <a:r>
              <a:rPr sz="1300" b="1">
                <a:solidFill>
                  <a:srgbClr val="1A1A1A"/>
                </a:solidFill>
                <a:latin typeface="Calibri"/>
              </a:rPr>
              <a:t>Uniek: </a:t>
            </a:r>
            <a:r>
              <a:rPr sz="1300">
                <a:solidFill>
                  <a:srgbClr val="1A1A1A"/>
                </a:solidFill>
                <a:latin typeface="Calibri"/>
              </a:rPr>
              <a:t>per abonnement max 1 factuur per periode</a:t>
            </a:r>
          </a:p>
        </p:txBody>
      </p:sp>
      <p:sp>
        <p:nvSpPr>
          <p:cNvPr id="16" name="Rounded Rectangle 15"/>
          <p:cNvSpPr/>
          <p:nvPr/>
        </p:nvSpPr>
        <p:spPr>
          <a:xfrm>
            <a:off x="6172200" y="1325880"/>
            <a:ext cx="5669280" cy="256032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1417320"/>
            <a:ext cx="5486400" cy="50292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  Factuur Formaat (Nexus)</a:t>
            </a:r>
          </a:p>
        </p:txBody>
      </p:sp>
      <p:sp>
        <p:nvSpPr>
          <p:cNvPr id="19" name="TextBox 18"/>
          <p:cNvSpPr txBox="1"/>
          <p:nvPr/>
        </p:nvSpPr>
        <p:spPr>
          <a:xfrm>
            <a:off x="6400800" y="2011680"/>
            <a:ext cx="5212080" cy="173736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Factuurnummer: </a:t>
            </a:r>
            <a:r>
              <a:rPr sz="1300">
                <a:solidFill>
                  <a:srgbClr val="1A1A1A"/>
                </a:solidFill>
                <a:latin typeface="Calibri"/>
              </a:rPr>
              <a:t>automatisch gegenereerd</a:t>
            </a:r>
          </a:p>
          <a:p>
            <a:pPr algn="l">
              <a:lnSpc>
                <a:spcPct val="125000"/>
              </a:lnSpc>
              <a:spcAft>
                <a:spcPts val="600"/>
              </a:spcAft>
            </a:pPr>
            <a:r>
              <a:rPr sz="1300" b="1">
                <a:solidFill>
                  <a:srgbClr val="2E86C1"/>
                </a:solidFill>
                <a:latin typeface="Calibri"/>
              </a:rPr>
              <a:t>▸ </a:t>
            </a:r>
            <a:r>
              <a:rPr sz="1300" b="1">
                <a:solidFill>
                  <a:srgbClr val="1A1A1A"/>
                </a:solidFill>
                <a:latin typeface="Calibri"/>
              </a:rPr>
              <a:t>Unique: </a:t>
            </a:r>
            <a:r>
              <a:rPr sz="1300">
                <a:solidFill>
                  <a:srgbClr val="1A1A1A"/>
                </a:solidFill>
                <a:latin typeface="Calibri"/>
              </a:rPr>
              <a:t>subscriptionId + periodStart + periodEnd</a:t>
            </a:r>
          </a:p>
          <a:p>
            <a:pPr algn="l">
              <a:lnSpc>
                <a:spcPct val="125000"/>
              </a:lnSpc>
              <a:spcAft>
                <a:spcPts val="600"/>
              </a:spcAft>
            </a:pPr>
            <a:r>
              <a:rPr sz="1300" b="1">
                <a:solidFill>
                  <a:srgbClr val="2E86C1"/>
                </a:solidFill>
                <a:latin typeface="Calibri"/>
              </a:rPr>
              <a:t>▸ </a:t>
            </a:r>
            <a:r>
              <a:rPr sz="1300" b="1">
                <a:solidFill>
                  <a:srgbClr val="1A1A1A"/>
                </a:solidFill>
                <a:latin typeface="Calibri"/>
              </a:rPr>
              <a:t>Velden: </a:t>
            </a:r>
            <a:r>
              <a:rPr sz="1300">
                <a:solidFill>
                  <a:srgbClr val="1A1A1A"/>
                </a:solidFill>
                <a:latin typeface="Calibri"/>
              </a:rPr>
              <a:t>Subtotaal, BTW%, BTW-bedrag, Totaal</a:t>
            </a:r>
          </a:p>
          <a:p>
            <a:pPr algn="l">
              <a:lnSpc>
                <a:spcPct val="125000"/>
              </a:lnSpc>
              <a:spcAft>
                <a:spcPts val="600"/>
              </a:spcAft>
            </a:pPr>
            <a:r>
              <a:rPr sz="1300" b="1">
                <a:solidFill>
                  <a:srgbClr val="2E86C1"/>
                </a:solidFill>
                <a:latin typeface="Calibri"/>
              </a:rPr>
              <a:t>▸ </a:t>
            </a:r>
            <a:r>
              <a:rPr sz="1300" b="1">
                <a:solidFill>
                  <a:srgbClr val="1A1A1A"/>
                </a:solidFill>
                <a:latin typeface="Calibri"/>
              </a:rPr>
              <a:t>Munteenheid: </a:t>
            </a:r>
            <a:r>
              <a:rPr sz="1300">
                <a:solidFill>
                  <a:srgbClr val="1A1A1A"/>
                </a:solidFill>
                <a:latin typeface="Calibri"/>
              </a:rPr>
              <a:t>EUR (€) – Decimal(10,2) precisie</a:t>
            </a:r>
          </a:p>
          <a:p>
            <a:pPr algn="l">
              <a:lnSpc>
                <a:spcPct val="125000"/>
              </a:lnSpc>
              <a:spcAft>
                <a:spcPts val="600"/>
              </a:spcAft>
            </a:pPr>
            <a:r>
              <a:rPr sz="1300" b="1">
                <a:solidFill>
                  <a:srgbClr val="2E86C1"/>
                </a:solidFill>
                <a:latin typeface="Calibri"/>
              </a:rPr>
              <a:t>▸ </a:t>
            </a:r>
            <a:r>
              <a:rPr sz="1300" b="1">
                <a:solidFill>
                  <a:srgbClr val="1A1A1A"/>
                </a:solidFill>
                <a:latin typeface="Calibri"/>
              </a:rPr>
              <a:t>Gekoppeld </a:t>
            </a:r>
            <a:r>
              <a:rPr sz="1300">
                <a:solidFill>
                  <a:srgbClr val="1A1A1A"/>
                </a:solidFill>
                <a:latin typeface="Calibri"/>
              </a:rPr>
              <a:t>aan: 1 Klant + 1 Abonnement</a:t>
            </a:r>
          </a:p>
          <a:p>
            <a:pPr algn="l">
              <a:lnSpc>
                <a:spcPct val="125000"/>
              </a:lnSpc>
              <a:spcAft>
                <a:spcPts val="600"/>
              </a:spcAft>
            </a:pPr>
            <a:r>
              <a:rPr sz="1300" b="1">
                <a:solidFill>
                  <a:srgbClr val="2E86C1"/>
                </a:solidFill>
                <a:latin typeface="Calibri"/>
              </a:rPr>
              <a:t>▸ </a:t>
            </a:r>
            <a:r>
              <a:rPr sz="1300" b="1">
                <a:solidFill>
                  <a:srgbClr val="1A1A1A"/>
                </a:solidFill>
                <a:latin typeface="Calibri"/>
              </a:rPr>
              <a:t>Factuurdata: </a:t>
            </a:r>
            <a:r>
              <a:rPr sz="1300">
                <a:solidFill>
                  <a:srgbClr val="1A1A1A"/>
                </a:solidFill>
                <a:latin typeface="Calibri"/>
              </a:rPr>
              <a:t>issueDate + dueDate (14 dagen netto)</a:t>
            </a:r>
          </a:p>
        </p:txBody>
      </p:sp>
      <p:sp>
        <p:nvSpPr>
          <p:cNvPr id="20" name="TextBox 19"/>
          <p:cNvSpPr txBox="1"/>
          <p:nvPr/>
        </p:nvSpPr>
        <p:spPr>
          <a:xfrm>
            <a:off x="457200" y="4114800"/>
            <a:ext cx="11247120" cy="411480"/>
          </a:xfrm>
          <a:prstGeom prst="rect">
            <a:avLst/>
          </a:prstGeom>
          <a:noFill/>
        </p:spPr>
        <p:txBody>
          <a:bodyPr wrap="square" lIns="45720" rIns="45720" tIns="18288" bIns="18288" anchor="t">
            <a:spAutoFit/>
          </a:bodyPr>
          <a:lstStyle/>
          <a:p>
            <a:pPr algn="l">
              <a:lnSpc>
                <a:spcPct val="120000"/>
              </a:lnSpc>
            </a:pPr>
            <a:r>
              <a:rPr sz="1500" b="1">
                <a:solidFill>
                  <a:srgbClr val="1E3A5F"/>
                </a:solidFill>
                <a:latin typeface="Calibri"/>
              </a:rPr>
              <a:t>Factuur Lifecycle (DRAFT → SENT → PAID):</a:t>
            </a:r>
          </a:p>
        </p:txBody>
      </p:sp>
      <p:sp>
        <p:nvSpPr>
          <p:cNvPr id="21" name="Rounded Rectangle 20"/>
          <p:cNvSpPr/>
          <p:nvPr/>
        </p:nvSpPr>
        <p:spPr>
          <a:xfrm>
            <a:off x="426567" y="4617720"/>
            <a:ext cx="2194560" cy="868680"/>
          </a:xfrm>
          <a:prstGeom prst="round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6567" y="4709160"/>
            <a:ext cx="2194560" cy="365760"/>
          </a:xfrm>
          <a:prstGeom prst="rect">
            <a:avLst/>
          </a:prstGeom>
          <a:noFill/>
        </p:spPr>
        <p:txBody>
          <a:bodyPr wrap="square" lIns="45720" rIns="45720" tIns="18288" bIns="18288" anchor="t">
            <a:spAutoFit/>
          </a:bodyPr>
          <a:lstStyle/>
          <a:p>
            <a:pPr algn="ctr">
              <a:lnSpc>
                <a:spcPct val="120000"/>
              </a:lnSpc>
            </a:pPr>
            <a:r>
              <a:rPr sz="1400" b="1">
                <a:solidFill>
                  <a:srgbClr val="FFFFFF"/>
                </a:solidFill>
                <a:latin typeface="Calibri"/>
              </a:rPr>
              <a:t>DRAFT</a:t>
            </a:r>
          </a:p>
        </p:txBody>
      </p:sp>
      <p:sp>
        <p:nvSpPr>
          <p:cNvPr id="23" name="TextBox 22"/>
          <p:cNvSpPr txBox="1"/>
          <p:nvPr/>
        </p:nvSpPr>
        <p:spPr>
          <a:xfrm>
            <a:off x="426567" y="5074920"/>
            <a:ext cx="219456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Concept</a:t>
            </a:r>
          </a:p>
        </p:txBody>
      </p:sp>
      <p:sp>
        <p:nvSpPr>
          <p:cNvPr id="24" name="TextBox 23"/>
          <p:cNvSpPr txBox="1"/>
          <p:nvPr/>
        </p:nvSpPr>
        <p:spPr>
          <a:xfrm>
            <a:off x="2575407" y="4800600"/>
            <a:ext cx="182880" cy="502920"/>
          </a:xfrm>
          <a:prstGeom prst="rect">
            <a:avLst/>
          </a:prstGeom>
          <a:noFill/>
        </p:spPr>
        <p:txBody>
          <a:bodyPr wrap="square" lIns="45720" rIns="45720" tIns="18288" bIns="18288" anchor="ctr">
            <a:spAutoFit/>
          </a:bodyPr>
          <a:lstStyle/>
          <a:p>
            <a:pPr algn="l">
              <a:lnSpc>
                <a:spcPct val="120000"/>
              </a:lnSpc>
            </a:pPr>
            <a:r>
              <a:rPr sz="1800" b="1">
                <a:solidFill>
                  <a:srgbClr val="E86C00"/>
                </a:solidFill>
                <a:latin typeface="Calibri"/>
              </a:rPr>
              <a:t>→</a:t>
            </a:r>
          </a:p>
        </p:txBody>
      </p:sp>
      <p:sp>
        <p:nvSpPr>
          <p:cNvPr id="25" name="Rounded Rectangle 24"/>
          <p:cNvSpPr/>
          <p:nvPr/>
        </p:nvSpPr>
        <p:spPr>
          <a:xfrm>
            <a:off x="2712567" y="4617720"/>
            <a:ext cx="2194560" cy="86868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12567" y="4709160"/>
            <a:ext cx="2194560" cy="365760"/>
          </a:xfrm>
          <a:prstGeom prst="rect">
            <a:avLst/>
          </a:prstGeom>
          <a:noFill/>
        </p:spPr>
        <p:txBody>
          <a:bodyPr wrap="square" lIns="45720" rIns="45720" tIns="18288" bIns="18288" anchor="t">
            <a:spAutoFit/>
          </a:bodyPr>
          <a:lstStyle/>
          <a:p>
            <a:pPr algn="ctr">
              <a:lnSpc>
                <a:spcPct val="120000"/>
              </a:lnSpc>
            </a:pPr>
            <a:r>
              <a:rPr sz="1400" b="1">
                <a:solidFill>
                  <a:srgbClr val="FFFFFF"/>
                </a:solidFill>
                <a:latin typeface="Calibri"/>
              </a:rPr>
              <a:t>SENT</a:t>
            </a:r>
          </a:p>
        </p:txBody>
      </p:sp>
      <p:sp>
        <p:nvSpPr>
          <p:cNvPr id="27" name="TextBox 26"/>
          <p:cNvSpPr txBox="1"/>
          <p:nvPr/>
        </p:nvSpPr>
        <p:spPr>
          <a:xfrm>
            <a:off x="2712567" y="5074920"/>
            <a:ext cx="219456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Verzonden</a:t>
            </a:r>
          </a:p>
        </p:txBody>
      </p:sp>
      <p:sp>
        <p:nvSpPr>
          <p:cNvPr id="28" name="TextBox 27"/>
          <p:cNvSpPr txBox="1"/>
          <p:nvPr/>
        </p:nvSpPr>
        <p:spPr>
          <a:xfrm>
            <a:off x="4861407" y="4800600"/>
            <a:ext cx="182880" cy="502920"/>
          </a:xfrm>
          <a:prstGeom prst="rect">
            <a:avLst/>
          </a:prstGeom>
          <a:noFill/>
        </p:spPr>
        <p:txBody>
          <a:bodyPr wrap="square" lIns="45720" rIns="45720" tIns="18288" bIns="18288" anchor="ctr">
            <a:spAutoFit/>
          </a:bodyPr>
          <a:lstStyle/>
          <a:p>
            <a:pPr algn="l">
              <a:lnSpc>
                <a:spcPct val="120000"/>
              </a:lnSpc>
            </a:pPr>
            <a:r>
              <a:rPr sz="1800" b="1">
                <a:solidFill>
                  <a:srgbClr val="E86C00"/>
                </a:solidFill>
                <a:latin typeface="Calibri"/>
              </a:rPr>
              <a:t>→</a:t>
            </a:r>
          </a:p>
        </p:txBody>
      </p:sp>
      <p:sp>
        <p:nvSpPr>
          <p:cNvPr id="29" name="Rounded Rectangle 28"/>
          <p:cNvSpPr/>
          <p:nvPr/>
        </p:nvSpPr>
        <p:spPr>
          <a:xfrm>
            <a:off x="4998567" y="4617720"/>
            <a:ext cx="2194560" cy="86868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98567" y="4709160"/>
            <a:ext cx="2194560" cy="365760"/>
          </a:xfrm>
          <a:prstGeom prst="rect">
            <a:avLst/>
          </a:prstGeom>
          <a:noFill/>
        </p:spPr>
        <p:txBody>
          <a:bodyPr wrap="square" lIns="45720" rIns="45720" tIns="18288" bIns="18288" anchor="t">
            <a:spAutoFit/>
          </a:bodyPr>
          <a:lstStyle/>
          <a:p>
            <a:pPr algn="ctr">
              <a:lnSpc>
                <a:spcPct val="120000"/>
              </a:lnSpc>
            </a:pPr>
            <a:r>
              <a:rPr sz="1400" b="1">
                <a:solidFill>
                  <a:srgbClr val="FFFFFF"/>
                </a:solidFill>
                <a:latin typeface="Calibri"/>
              </a:rPr>
              <a:t>PAID</a:t>
            </a:r>
          </a:p>
        </p:txBody>
      </p:sp>
      <p:sp>
        <p:nvSpPr>
          <p:cNvPr id="31" name="TextBox 30"/>
          <p:cNvSpPr txBox="1"/>
          <p:nvPr/>
        </p:nvSpPr>
        <p:spPr>
          <a:xfrm>
            <a:off x="4998567" y="5074920"/>
            <a:ext cx="219456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Betaald ✓</a:t>
            </a:r>
          </a:p>
        </p:txBody>
      </p:sp>
      <p:sp>
        <p:nvSpPr>
          <p:cNvPr id="32" name="TextBox 31"/>
          <p:cNvSpPr txBox="1"/>
          <p:nvPr/>
        </p:nvSpPr>
        <p:spPr>
          <a:xfrm>
            <a:off x="7147407" y="4800600"/>
            <a:ext cx="182880" cy="502920"/>
          </a:xfrm>
          <a:prstGeom prst="rect">
            <a:avLst/>
          </a:prstGeom>
          <a:noFill/>
        </p:spPr>
        <p:txBody>
          <a:bodyPr wrap="square" lIns="45720" rIns="45720" tIns="18288" bIns="18288" anchor="ctr">
            <a:spAutoFit/>
          </a:bodyPr>
          <a:lstStyle/>
          <a:p>
            <a:pPr algn="l">
              <a:lnSpc>
                <a:spcPct val="120000"/>
              </a:lnSpc>
            </a:pPr>
            <a:r>
              <a:rPr sz="1800" b="1">
                <a:solidFill>
                  <a:srgbClr val="E86C00"/>
                </a:solidFill>
                <a:latin typeface="Calibri"/>
              </a:rPr>
              <a:t>→</a:t>
            </a:r>
          </a:p>
        </p:txBody>
      </p:sp>
      <p:sp>
        <p:nvSpPr>
          <p:cNvPr id="33" name="Rounded Rectangle 32"/>
          <p:cNvSpPr/>
          <p:nvPr/>
        </p:nvSpPr>
        <p:spPr>
          <a:xfrm>
            <a:off x="7284567" y="4617720"/>
            <a:ext cx="2194560" cy="8686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84567" y="4709160"/>
            <a:ext cx="2194560" cy="365760"/>
          </a:xfrm>
          <a:prstGeom prst="rect">
            <a:avLst/>
          </a:prstGeom>
          <a:noFill/>
        </p:spPr>
        <p:txBody>
          <a:bodyPr wrap="square" lIns="45720" rIns="45720" tIns="18288" bIns="18288" anchor="t">
            <a:spAutoFit/>
          </a:bodyPr>
          <a:lstStyle/>
          <a:p>
            <a:pPr algn="ctr">
              <a:lnSpc>
                <a:spcPct val="120000"/>
              </a:lnSpc>
            </a:pPr>
            <a:r>
              <a:rPr sz="1400" b="1">
                <a:solidFill>
                  <a:srgbClr val="FFFFFF"/>
                </a:solidFill>
                <a:latin typeface="Calibri"/>
              </a:rPr>
              <a:t>OVERDUE</a:t>
            </a:r>
          </a:p>
        </p:txBody>
      </p:sp>
      <p:sp>
        <p:nvSpPr>
          <p:cNvPr id="35" name="TextBox 34"/>
          <p:cNvSpPr txBox="1"/>
          <p:nvPr/>
        </p:nvSpPr>
        <p:spPr>
          <a:xfrm>
            <a:off x="7284567" y="5074920"/>
            <a:ext cx="219456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Te laat ⚠</a:t>
            </a:r>
          </a:p>
        </p:txBody>
      </p:sp>
      <p:sp>
        <p:nvSpPr>
          <p:cNvPr id="36" name="TextBox 35"/>
          <p:cNvSpPr txBox="1"/>
          <p:nvPr/>
        </p:nvSpPr>
        <p:spPr>
          <a:xfrm>
            <a:off x="9433407" y="4800600"/>
            <a:ext cx="182880" cy="502920"/>
          </a:xfrm>
          <a:prstGeom prst="rect">
            <a:avLst/>
          </a:prstGeom>
          <a:noFill/>
        </p:spPr>
        <p:txBody>
          <a:bodyPr wrap="square" lIns="45720" rIns="45720" tIns="18288" bIns="18288" anchor="ctr">
            <a:spAutoFit/>
          </a:bodyPr>
          <a:lstStyle/>
          <a:p>
            <a:pPr algn="l">
              <a:lnSpc>
                <a:spcPct val="120000"/>
              </a:lnSpc>
            </a:pPr>
            <a:r>
              <a:rPr sz="1800" b="1">
                <a:solidFill>
                  <a:srgbClr val="E86C00"/>
                </a:solidFill>
                <a:latin typeface="Calibri"/>
              </a:rPr>
              <a:t>→</a:t>
            </a:r>
          </a:p>
        </p:txBody>
      </p:sp>
      <p:sp>
        <p:nvSpPr>
          <p:cNvPr id="37" name="Rounded Rectangle 36"/>
          <p:cNvSpPr/>
          <p:nvPr/>
        </p:nvSpPr>
        <p:spPr>
          <a:xfrm>
            <a:off x="9570567" y="4617720"/>
            <a:ext cx="2194560" cy="86868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70567" y="4709160"/>
            <a:ext cx="2194560" cy="365760"/>
          </a:xfrm>
          <a:prstGeom prst="rect">
            <a:avLst/>
          </a:prstGeom>
          <a:noFill/>
        </p:spPr>
        <p:txBody>
          <a:bodyPr wrap="square" lIns="45720" rIns="45720" tIns="18288" bIns="18288" anchor="t">
            <a:spAutoFit/>
          </a:bodyPr>
          <a:lstStyle/>
          <a:p>
            <a:pPr algn="ctr">
              <a:lnSpc>
                <a:spcPct val="120000"/>
              </a:lnSpc>
            </a:pPr>
            <a:r>
              <a:rPr sz="1400" b="1">
                <a:solidFill>
                  <a:srgbClr val="FFFFFF"/>
                </a:solidFill>
                <a:latin typeface="Calibri"/>
              </a:rPr>
              <a:t>CANCELLED</a:t>
            </a:r>
          </a:p>
        </p:txBody>
      </p:sp>
      <p:sp>
        <p:nvSpPr>
          <p:cNvPr id="39" name="TextBox 38"/>
          <p:cNvSpPr txBox="1"/>
          <p:nvPr/>
        </p:nvSpPr>
        <p:spPr>
          <a:xfrm>
            <a:off x="9570567" y="5074920"/>
            <a:ext cx="219456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Geannuleerd</a:t>
            </a:r>
          </a:p>
        </p:txBody>
      </p:sp>
      <p:sp>
        <p:nvSpPr>
          <p:cNvPr id="40" name="Rounded Rectangle 39"/>
          <p:cNvSpPr/>
          <p:nvPr/>
        </p:nvSpPr>
        <p:spPr>
          <a:xfrm>
            <a:off x="457200" y="5715000"/>
            <a:ext cx="11292840" cy="5486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760720"/>
            <a:ext cx="10972800" cy="457200"/>
          </a:xfrm>
          <a:prstGeom prst="rect">
            <a:avLst/>
          </a:prstGeom>
          <a:noFill/>
        </p:spPr>
        <p:txBody>
          <a:bodyPr wrap="square" lIns="45720" rIns="45720" tIns="18288" bIns="18288" anchor="ctr">
            <a:spAutoFit/>
          </a:bodyPr>
          <a:lstStyle/>
          <a:p>
            <a:pPr algn="l">
              <a:lnSpc>
                <a:spcPct val="120000"/>
              </a:lnSpc>
            </a:pPr>
            <a:r>
              <a:rPr sz="1200" b="0">
                <a:solidFill>
                  <a:srgbClr val="1E3A5F"/>
                </a:solidFill>
                <a:latin typeface="Calibri"/>
              </a:rPr>
              <a:t>✅ Resultaat weergave na generatie:  238 in scope  •  235 aangemaakt  •  3 overgeslagen (reeds bestaand)  •  0 fouten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CSV Import &amp; Export</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Data bulksgewijs in- en uitvoeren (Excel-compatibel)</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13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325880"/>
            <a:ext cx="5669280" cy="23774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417320"/>
            <a:ext cx="548640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CSV Export</a:t>
            </a:r>
          </a:p>
        </p:txBody>
      </p:sp>
      <p:sp>
        <p:nvSpPr>
          <p:cNvPr id="15" name="TextBox 14"/>
          <p:cNvSpPr txBox="1"/>
          <p:nvPr/>
        </p:nvSpPr>
        <p:spPr>
          <a:xfrm>
            <a:off x="594360" y="2011680"/>
            <a:ext cx="5212080" cy="155448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Beschikbaar </a:t>
            </a:r>
            <a:r>
              <a:rPr sz="1300">
                <a:solidFill>
                  <a:srgbClr val="1A1A1A"/>
                </a:solidFill>
                <a:latin typeface="Calibri"/>
              </a:rPr>
              <a:t>voor: Klanten, Trackers, SIMs, Voertuigen, Abonnementen, Activaties, Facturen, AuditLog</a:t>
            </a:r>
          </a:p>
          <a:p>
            <a:pPr algn="l">
              <a:lnSpc>
                <a:spcPct val="125000"/>
              </a:lnSpc>
              <a:spcAft>
                <a:spcPts val="600"/>
              </a:spcAft>
            </a:pPr>
            <a:r>
              <a:rPr sz="1300" b="1">
                <a:solidFill>
                  <a:srgbClr val="2E86C1"/>
                </a:solidFill>
                <a:latin typeface="Calibri"/>
              </a:rPr>
              <a:t>▸ </a:t>
            </a:r>
            <a:r>
              <a:rPr sz="1300" b="1">
                <a:solidFill>
                  <a:srgbClr val="1A1A1A"/>
                </a:solidFill>
                <a:latin typeface="Calibri"/>
              </a:rPr>
              <a:t>UTF-8 </a:t>
            </a:r>
            <a:r>
              <a:rPr sz="1300">
                <a:solidFill>
                  <a:srgbClr val="1A1A1A"/>
                </a:solidFill>
                <a:latin typeface="Calibri"/>
              </a:rPr>
              <a:t>BOM + CRLF regeleindes (Excel 100% compatibel)</a:t>
            </a:r>
          </a:p>
          <a:p>
            <a:pPr algn="l">
              <a:lnSpc>
                <a:spcPct val="125000"/>
              </a:lnSpc>
              <a:spcAft>
                <a:spcPts val="600"/>
              </a:spcAft>
            </a:pPr>
            <a:r>
              <a:rPr sz="1300" b="1">
                <a:solidFill>
                  <a:srgbClr val="2E86C1"/>
                </a:solidFill>
                <a:latin typeface="Calibri"/>
              </a:rPr>
              <a:t>▸ </a:t>
            </a:r>
            <a:r>
              <a:rPr sz="1300" b="1">
                <a:solidFill>
                  <a:srgbClr val="1A1A1A"/>
                </a:solidFill>
                <a:latin typeface="Calibri"/>
              </a:rPr>
              <a:t>RFC </a:t>
            </a:r>
            <a:r>
              <a:rPr sz="1300">
                <a:solidFill>
                  <a:srgbClr val="1A1A1A"/>
                </a:solidFill>
                <a:latin typeface="Calibri"/>
              </a:rPr>
              <a:t>4180 compliant: quotes, escapes, trailing CRLF</a:t>
            </a:r>
          </a:p>
          <a:p>
            <a:pPr algn="l">
              <a:lnSpc>
                <a:spcPct val="125000"/>
              </a:lnSpc>
              <a:spcAft>
                <a:spcPts val="600"/>
              </a:spcAft>
            </a:pPr>
            <a:r>
              <a:rPr sz="1300" b="1">
                <a:solidFill>
                  <a:srgbClr val="2E86C1"/>
                </a:solidFill>
                <a:latin typeface="Calibri"/>
              </a:rPr>
              <a:t>▸ </a:t>
            </a:r>
            <a:r>
              <a:rPr sz="1300" b="1">
                <a:solidFill>
                  <a:srgbClr val="1A1A1A"/>
                </a:solidFill>
                <a:latin typeface="Calibri"/>
              </a:rPr>
              <a:t>Datums: </a:t>
            </a:r>
            <a:r>
              <a:rPr sz="1300">
                <a:solidFill>
                  <a:srgbClr val="1A1A1A"/>
                </a:solidFill>
                <a:latin typeface="Calibri"/>
              </a:rPr>
              <a:t>expliciet toISOString() – machineleesbaar</a:t>
            </a:r>
          </a:p>
          <a:p>
            <a:pPr algn="l">
              <a:lnSpc>
                <a:spcPct val="125000"/>
              </a:lnSpc>
              <a:spcAft>
                <a:spcPts val="600"/>
              </a:spcAft>
            </a:pPr>
            <a:r>
              <a:rPr sz="1300" b="1">
                <a:solidFill>
                  <a:srgbClr val="2E86C1"/>
                </a:solidFill>
                <a:latin typeface="Calibri"/>
              </a:rPr>
              <a:t>▸ </a:t>
            </a:r>
            <a:r>
              <a:rPr sz="1300" b="1">
                <a:solidFill>
                  <a:srgbClr val="1A1A1A"/>
                </a:solidFill>
                <a:latin typeface="Calibri"/>
              </a:rPr>
              <a:t>Bestandsnaam: </a:t>
            </a:r>
            <a:r>
              <a:rPr sz="1300">
                <a:solidFill>
                  <a:srgbClr val="1A1A1A"/>
                </a:solidFill>
                <a:latin typeface="Calibri"/>
              </a:rPr>
              <a:t>entiteit-YYYYMMDD-HHMM.csv</a:t>
            </a:r>
          </a:p>
        </p:txBody>
      </p:sp>
      <p:sp>
        <p:nvSpPr>
          <p:cNvPr id="16" name="Rounded Rectangle 15"/>
          <p:cNvSpPr/>
          <p:nvPr/>
        </p:nvSpPr>
        <p:spPr>
          <a:xfrm>
            <a:off x="6172200" y="1325880"/>
            <a:ext cx="5669280" cy="23774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1417320"/>
            <a:ext cx="5486400" cy="50292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CSV Import</a:t>
            </a:r>
          </a:p>
        </p:txBody>
      </p:sp>
      <p:sp>
        <p:nvSpPr>
          <p:cNvPr id="19" name="TextBox 18"/>
          <p:cNvSpPr txBox="1"/>
          <p:nvPr/>
        </p:nvSpPr>
        <p:spPr>
          <a:xfrm>
            <a:off x="6400800" y="2011680"/>
            <a:ext cx="5212080" cy="155448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Beschikbaar </a:t>
            </a:r>
            <a:r>
              <a:rPr sz="1300">
                <a:solidFill>
                  <a:srgbClr val="1A1A1A"/>
                </a:solidFill>
                <a:latin typeface="Calibri"/>
              </a:rPr>
              <a:t>voor: Klanten, Trackers, SIM-kaarten</a:t>
            </a:r>
          </a:p>
          <a:p>
            <a:pPr algn="l">
              <a:lnSpc>
                <a:spcPct val="125000"/>
              </a:lnSpc>
              <a:spcAft>
                <a:spcPts val="600"/>
              </a:spcAft>
            </a:pPr>
            <a:r>
              <a:rPr sz="1300" b="1">
                <a:solidFill>
                  <a:srgbClr val="2E86C1"/>
                </a:solidFill>
                <a:latin typeface="Calibri"/>
              </a:rPr>
              <a:t>▸ </a:t>
            </a:r>
            <a:r>
              <a:rPr sz="1300" b="1">
                <a:solidFill>
                  <a:srgbClr val="1A1A1A"/>
                </a:solidFill>
                <a:latin typeface="Calibri"/>
              </a:rPr>
              <a:t>3-staps </a:t>
            </a:r>
            <a:r>
              <a:rPr sz="1300">
                <a:solidFill>
                  <a:srgbClr val="1A1A1A"/>
                </a:solidFill>
                <a:latin typeface="Calibri"/>
              </a:rPr>
              <a:t>flow: Upload → Preview (aliasing) → Toepassen</a:t>
            </a:r>
          </a:p>
          <a:p>
            <a:pPr algn="l">
              <a:lnSpc>
                <a:spcPct val="125000"/>
              </a:lnSpc>
              <a:spcAft>
                <a:spcPts val="600"/>
              </a:spcAft>
            </a:pPr>
            <a:r>
              <a:rPr sz="1300" b="1">
                <a:solidFill>
                  <a:srgbClr val="2E86C1"/>
                </a:solidFill>
                <a:latin typeface="Calibri"/>
              </a:rPr>
              <a:t>▸ </a:t>
            </a:r>
            <a:r>
              <a:rPr sz="1300" b="1">
                <a:solidFill>
                  <a:srgbClr val="1A1A1A"/>
                </a:solidFill>
                <a:latin typeface="Calibri"/>
              </a:rPr>
              <a:t>Stap </a:t>
            </a:r>
            <a:r>
              <a:rPr sz="1300">
                <a:solidFill>
                  <a:srgbClr val="1A1A1A"/>
                </a:solidFill>
                <a:latin typeface="Calibri"/>
              </a:rPr>
              <a:t>1: CSV uploaden + kolom-aliasing (Excel kolommen mappen)</a:t>
            </a:r>
          </a:p>
          <a:p>
            <a:pPr algn="l">
              <a:lnSpc>
                <a:spcPct val="125000"/>
              </a:lnSpc>
              <a:spcAft>
                <a:spcPts val="600"/>
              </a:spcAft>
            </a:pPr>
            <a:r>
              <a:rPr sz="1300" b="1">
                <a:solidFill>
                  <a:srgbClr val="2E86C1"/>
                </a:solidFill>
                <a:latin typeface="Calibri"/>
              </a:rPr>
              <a:t>▸ </a:t>
            </a:r>
            <a:r>
              <a:rPr sz="1300" b="1">
                <a:solidFill>
                  <a:srgbClr val="1A1A1A"/>
                </a:solidFill>
                <a:latin typeface="Calibri"/>
              </a:rPr>
              <a:t>Stap </a:t>
            </a:r>
            <a:r>
              <a:rPr sz="1300">
                <a:solidFill>
                  <a:srgbClr val="1A1A1A"/>
                </a:solidFill>
                <a:latin typeface="Calibri"/>
              </a:rPr>
              <a:t>2: Preview met statistieken: Totaal / Geldig / Fouten</a:t>
            </a:r>
          </a:p>
          <a:p>
            <a:pPr algn="l">
              <a:lnSpc>
                <a:spcPct val="125000"/>
              </a:lnSpc>
              <a:spcAft>
                <a:spcPts val="600"/>
              </a:spcAft>
            </a:pPr>
            <a:r>
              <a:rPr sz="1300" b="1">
                <a:solidFill>
                  <a:srgbClr val="2E86C1"/>
                </a:solidFill>
                <a:latin typeface="Calibri"/>
              </a:rPr>
              <a:t>▸ </a:t>
            </a:r>
            <a:r>
              <a:rPr sz="1300" b="1">
                <a:solidFill>
                  <a:srgbClr val="1A1A1A"/>
                </a:solidFill>
                <a:latin typeface="Calibri"/>
              </a:rPr>
              <a:t>Stap </a:t>
            </a:r>
            <a:r>
              <a:rPr sz="1300">
                <a:solidFill>
                  <a:srgbClr val="1A1A1A"/>
                </a:solidFill>
                <a:latin typeface="Calibri"/>
              </a:rPr>
              <a:t>3: Per-rij foutrapportage (regel + foutomschrijving)</a:t>
            </a:r>
          </a:p>
        </p:txBody>
      </p:sp>
      <p:sp>
        <p:nvSpPr>
          <p:cNvPr id="20" name="Rounded Rectangle 19"/>
          <p:cNvSpPr/>
          <p:nvPr/>
        </p:nvSpPr>
        <p:spPr>
          <a:xfrm>
            <a:off x="365760" y="3931920"/>
            <a:ext cx="11475720" cy="246888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023360"/>
            <a:ext cx="10972800" cy="365760"/>
          </a:xfrm>
          <a:prstGeom prst="rect">
            <a:avLst/>
          </a:prstGeom>
          <a:noFill/>
        </p:spPr>
        <p:txBody>
          <a:bodyPr wrap="square" lIns="45720" rIns="45720" tIns="18288" bIns="18288" anchor="t">
            <a:spAutoFit/>
          </a:bodyPr>
          <a:lstStyle/>
          <a:p>
            <a:pPr algn="l">
              <a:lnSpc>
                <a:spcPct val="120000"/>
              </a:lnSpc>
            </a:pPr>
            <a:r>
              <a:rPr sz="1400" b="1">
                <a:solidFill>
                  <a:srgbClr val="1E3A5F"/>
                </a:solidFill>
                <a:latin typeface="Calibri"/>
              </a:rPr>
              <a:t>📋 Import Preview – voorbeeldscherm (trackers):</a:t>
            </a:r>
          </a:p>
        </p:txBody>
      </p:sp>
      <p:sp>
        <p:nvSpPr>
          <p:cNvPr id="22" name="Rounded Rectangle 21"/>
          <p:cNvSpPr/>
          <p:nvPr/>
        </p:nvSpPr>
        <p:spPr>
          <a:xfrm>
            <a:off x="1318107" y="4526280"/>
            <a:ext cx="2286000" cy="7315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8107" y="4572000"/>
            <a:ext cx="228600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Totaal</a:t>
            </a:r>
          </a:p>
        </p:txBody>
      </p:sp>
      <p:sp>
        <p:nvSpPr>
          <p:cNvPr id="24" name="TextBox 23"/>
          <p:cNvSpPr txBox="1"/>
          <p:nvPr/>
        </p:nvSpPr>
        <p:spPr>
          <a:xfrm>
            <a:off x="1318107" y="4873752"/>
            <a:ext cx="2286000" cy="365760"/>
          </a:xfrm>
          <a:prstGeom prst="rect">
            <a:avLst/>
          </a:prstGeom>
          <a:noFill/>
        </p:spPr>
        <p:txBody>
          <a:bodyPr wrap="square" lIns="45720" rIns="45720" tIns="18288" bIns="18288" anchor="t">
            <a:spAutoFit/>
          </a:bodyPr>
          <a:lstStyle/>
          <a:p>
            <a:pPr algn="ctr">
              <a:lnSpc>
                <a:spcPct val="120000"/>
              </a:lnSpc>
            </a:pPr>
            <a:r>
              <a:rPr sz="2000" b="1">
                <a:solidFill>
                  <a:srgbClr val="FFFFFF"/>
                </a:solidFill>
                <a:latin typeface="Calibri"/>
              </a:rPr>
              <a:t>124</a:t>
            </a:r>
          </a:p>
        </p:txBody>
      </p:sp>
      <p:sp>
        <p:nvSpPr>
          <p:cNvPr id="25" name="Rounded Rectangle 24"/>
          <p:cNvSpPr/>
          <p:nvPr/>
        </p:nvSpPr>
        <p:spPr>
          <a:xfrm>
            <a:off x="3741267" y="4526280"/>
            <a:ext cx="2286000" cy="73152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41267" y="4572000"/>
            <a:ext cx="228600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Geldig</a:t>
            </a:r>
          </a:p>
        </p:txBody>
      </p:sp>
      <p:sp>
        <p:nvSpPr>
          <p:cNvPr id="27" name="TextBox 26"/>
          <p:cNvSpPr txBox="1"/>
          <p:nvPr/>
        </p:nvSpPr>
        <p:spPr>
          <a:xfrm>
            <a:off x="3741267" y="4873752"/>
            <a:ext cx="2286000" cy="365760"/>
          </a:xfrm>
          <a:prstGeom prst="rect">
            <a:avLst/>
          </a:prstGeom>
          <a:noFill/>
        </p:spPr>
        <p:txBody>
          <a:bodyPr wrap="square" lIns="45720" rIns="45720" tIns="18288" bIns="18288" anchor="t">
            <a:spAutoFit/>
          </a:bodyPr>
          <a:lstStyle/>
          <a:p>
            <a:pPr algn="ctr">
              <a:lnSpc>
                <a:spcPct val="120000"/>
              </a:lnSpc>
            </a:pPr>
            <a:r>
              <a:rPr sz="2000" b="1">
                <a:solidFill>
                  <a:srgbClr val="FFFFFF"/>
                </a:solidFill>
                <a:latin typeface="Calibri"/>
              </a:rPr>
              <a:t>119</a:t>
            </a:r>
          </a:p>
        </p:txBody>
      </p:sp>
      <p:sp>
        <p:nvSpPr>
          <p:cNvPr id="28" name="Rounded Rectangle 27"/>
          <p:cNvSpPr/>
          <p:nvPr/>
        </p:nvSpPr>
        <p:spPr>
          <a:xfrm>
            <a:off x="6164427" y="4526280"/>
            <a:ext cx="2286000" cy="73152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64427" y="4572000"/>
            <a:ext cx="228600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Fouten</a:t>
            </a:r>
          </a:p>
        </p:txBody>
      </p:sp>
      <p:sp>
        <p:nvSpPr>
          <p:cNvPr id="30" name="TextBox 29"/>
          <p:cNvSpPr txBox="1"/>
          <p:nvPr/>
        </p:nvSpPr>
        <p:spPr>
          <a:xfrm>
            <a:off x="6164427" y="4873752"/>
            <a:ext cx="2286000" cy="365760"/>
          </a:xfrm>
          <a:prstGeom prst="rect">
            <a:avLst/>
          </a:prstGeom>
          <a:noFill/>
        </p:spPr>
        <p:txBody>
          <a:bodyPr wrap="square" lIns="45720" rIns="45720" tIns="18288" bIns="18288" anchor="t">
            <a:spAutoFit/>
          </a:bodyPr>
          <a:lstStyle/>
          <a:p>
            <a:pPr algn="ctr">
              <a:lnSpc>
                <a:spcPct val="120000"/>
              </a:lnSpc>
            </a:pPr>
            <a:r>
              <a:rPr sz="2000" b="1">
                <a:solidFill>
                  <a:srgbClr val="FFFFFF"/>
                </a:solidFill>
                <a:latin typeface="Calibri"/>
              </a:rPr>
              <a:t>5</a:t>
            </a:r>
          </a:p>
        </p:txBody>
      </p:sp>
      <p:sp>
        <p:nvSpPr>
          <p:cNvPr id="31" name="Rounded Rectangle 30"/>
          <p:cNvSpPr/>
          <p:nvPr/>
        </p:nvSpPr>
        <p:spPr>
          <a:xfrm>
            <a:off x="8587587" y="4526280"/>
            <a:ext cx="2286000" cy="73152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87587" y="4572000"/>
            <a:ext cx="2286000" cy="365760"/>
          </a:xfrm>
          <a:prstGeom prst="rect">
            <a:avLst/>
          </a:prstGeom>
          <a:noFill/>
        </p:spPr>
        <p:txBody>
          <a:bodyPr wrap="square" lIns="45720" rIns="45720" tIns="18288" bIns="18288" anchor="t">
            <a:spAutoFit/>
          </a:bodyPr>
          <a:lstStyle/>
          <a:p>
            <a:pPr algn="ctr">
              <a:lnSpc>
                <a:spcPct val="120000"/>
              </a:lnSpc>
            </a:pPr>
            <a:r>
              <a:rPr sz="1100" b="0">
                <a:solidFill>
                  <a:srgbClr val="FFFFFF"/>
                </a:solidFill>
                <a:latin typeface="Calibri"/>
              </a:rPr>
              <a:t>Wordt ingevoegd</a:t>
            </a:r>
          </a:p>
        </p:txBody>
      </p:sp>
      <p:sp>
        <p:nvSpPr>
          <p:cNvPr id="33" name="TextBox 32"/>
          <p:cNvSpPr txBox="1"/>
          <p:nvPr/>
        </p:nvSpPr>
        <p:spPr>
          <a:xfrm>
            <a:off x="8587587" y="4873752"/>
            <a:ext cx="2286000" cy="365760"/>
          </a:xfrm>
          <a:prstGeom prst="rect">
            <a:avLst/>
          </a:prstGeom>
          <a:noFill/>
        </p:spPr>
        <p:txBody>
          <a:bodyPr wrap="square" lIns="45720" rIns="45720" tIns="18288" bIns="18288" anchor="t">
            <a:spAutoFit/>
          </a:bodyPr>
          <a:lstStyle/>
          <a:p>
            <a:pPr algn="ctr">
              <a:lnSpc>
                <a:spcPct val="120000"/>
              </a:lnSpc>
            </a:pPr>
            <a:r>
              <a:rPr sz="2000" b="1">
                <a:solidFill>
                  <a:srgbClr val="FFFFFF"/>
                </a:solidFill>
                <a:latin typeface="Calibri"/>
              </a:rPr>
              <a:t>119</a:t>
            </a:r>
          </a:p>
        </p:txBody>
      </p:sp>
      <p:sp>
        <p:nvSpPr>
          <p:cNvPr id="34" name="TextBox 33"/>
          <p:cNvSpPr txBox="1"/>
          <p:nvPr/>
        </p:nvSpPr>
        <p:spPr>
          <a:xfrm>
            <a:off x="548640" y="5440680"/>
            <a:ext cx="4572000" cy="320040"/>
          </a:xfrm>
          <a:prstGeom prst="rect">
            <a:avLst/>
          </a:prstGeom>
          <a:noFill/>
        </p:spPr>
        <p:txBody>
          <a:bodyPr wrap="square" lIns="45720" rIns="45720" tIns="18288" bIns="18288" anchor="t">
            <a:spAutoFit/>
          </a:bodyPr>
          <a:lstStyle/>
          <a:p>
            <a:pPr algn="l">
              <a:lnSpc>
                <a:spcPct val="120000"/>
              </a:lnSpc>
            </a:pPr>
            <a:r>
              <a:rPr sz="1200" b="1">
                <a:solidFill>
                  <a:srgbClr val="DC2626"/>
                </a:solidFill>
                <a:latin typeface="Calibri"/>
              </a:rPr>
              <a:t>⚠  Voorbeeld per-rij foutrapportage:</a:t>
            </a:r>
          </a:p>
        </p:txBody>
      </p:sp>
      <p:sp>
        <p:nvSpPr>
          <p:cNvPr id="35" name="TextBox 34"/>
          <p:cNvSpPr txBox="1"/>
          <p:nvPr/>
        </p:nvSpPr>
        <p:spPr>
          <a:xfrm>
            <a:off x="640080" y="5760720"/>
            <a:ext cx="10972800" cy="914400"/>
          </a:xfrm>
          <a:prstGeom prst="rect">
            <a:avLst/>
          </a:prstGeom>
          <a:noFill/>
        </p:spPr>
        <p:txBody>
          <a:bodyPr wrap="square">
            <a:spAutoFit/>
          </a:bodyPr>
          <a:lstStyle/>
          <a:p>
            <a:pPr algn="l">
              <a:lnSpc>
                <a:spcPct val="115000"/>
              </a:lnSpc>
              <a:spcAft>
                <a:spcPts val="600"/>
              </a:spcAft>
            </a:pPr>
            <a:r>
              <a:rPr sz="1100" b="1">
                <a:solidFill>
                  <a:srgbClr val="DC2626"/>
                </a:solidFill>
                <a:latin typeface="Calibri"/>
              </a:rPr>
              <a:t>▸ </a:t>
            </a:r>
            <a:r>
              <a:rPr sz="1100">
                <a:solidFill>
                  <a:srgbClr val="1A1A1A"/>
                </a:solidFill>
                <a:latin typeface="Calibri"/>
              </a:rPr>
              <a:t>Regel 17: IMEI '49015420323751' ongeldig – moet 15 cijfers zijn</a:t>
            </a:r>
          </a:p>
          <a:p>
            <a:pPr algn="l">
              <a:lnSpc>
                <a:spcPct val="115000"/>
              </a:lnSpc>
              <a:spcAft>
                <a:spcPts val="600"/>
              </a:spcAft>
            </a:pPr>
            <a:r>
              <a:rPr sz="1100" b="1">
                <a:solidFill>
                  <a:srgbClr val="DC2626"/>
                </a:solidFill>
                <a:latin typeface="Calibri"/>
              </a:rPr>
              <a:t>▸ </a:t>
            </a:r>
            <a:r>
              <a:rPr sz="1100">
                <a:solidFill>
                  <a:srgbClr val="1A1A1A"/>
                </a:solidFill>
                <a:latin typeface="Calibri"/>
              </a:rPr>
              <a:t>Regel 29: ICCID '49883...' ongeldig – moet beginnen met 89</a:t>
            </a:r>
          </a:p>
          <a:p>
            <a:pPr algn="l">
              <a:lnSpc>
                <a:spcPct val="115000"/>
              </a:lnSpc>
              <a:spcAft>
                <a:spcPts val="600"/>
              </a:spcAft>
            </a:pPr>
            <a:r>
              <a:rPr sz="1100" b="1">
                <a:solidFill>
                  <a:srgbClr val="DC2626"/>
                </a:solidFill>
                <a:latin typeface="Calibri"/>
              </a:rPr>
              <a:t>▸ </a:t>
            </a:r>
            <a:r>
              <a:rPr sz="1100">
                <a:solidFill>
                  <a:srgbClr val="1A1A1A"/>
                </a:solidFill>
                <a:latin typeface="Calibri"/>
              </a:rPr>
              <a:t>Regel 42: Merk is verplicht (mag niet leeg zijn)</a:t>
            </a:r>
          </a:p>
          <a:p>
            <a:pPr algn="l">
              <a:lnSpc>
                <a:spcPct val="115000"/>
              </a:lnSpc>
              <a:spcAft>
                <a:spcPts val="600"/>
              </a:spcAft>
            </a:pPr>
            <a:r>
              <a:rPr sz="1100" b="1">
                <a:solidFill>
                  <a:srgbClr val="DC2626"/>
                </a:solidFill>
                <a:latin typeface="Calibri"/>
              </a:rPr>
              <a:t>▸ </a:t>
            </a:r>
            <a:r>
              <a:rPr sz="1100">
                <a:solidFill>
                  <a:srgbClr val="1A1A1A"/>
                </a:solidFill>
                <a:latin typeface="Calibri"/>
              </a:rPr>
              <a:t>Regel 67: serialNumber 'TRK-00042-ST' bestaat al (duplicaat)</a:t>
            </a:r>
          </a:p>
          <a:p>
            <a:pPr algn="l">
              <a:lnSpc>
                <a:spcPct val="115000"/>
              </a:lnSpc>
              <a:spcAft>
                <a:spcPts val="600"/>
              </a:spcAft>
            </a:pPr>
            <a:r>
              <a:rPr sz="1100" b="1">
                <a:solidFill>
                  <a:srgbClr val="DC2626"/>
                </a:solidFill>
                <a:latin typeface="Calibri"/>
              </a:rPr>
              <a:t>▸ </a:t>
            </a:r>
            <a:r>
              <a:rPr sz="1100">
                <a:solidFill>
                  <a:srgbClr val="1A1A1A"/>
                </a:solidFill>
                <a:latin typeface="Calibri"/>
              </a:rPr>
              <a:t>Regel 103: firmwareVersion heeft ongeldige tekens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Audit Log &amp; Traceerbaarheid</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Elke wijziging automatisch vastgelegd – inclusief diff</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14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325880"/>
            <a:ext cx="5669280" cy="256032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417320"/>
            <a:ext cx="548640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Hoe werkt de Audit Log?</a:t>
            </a:r>
          </a:p>
        </p:txBody>
      </p:sp>
      <p:sp>
        <p:nvSpPr>
          <p:cNvPr id="15" name="TextBox 14"/>
          <p:cNvSpPr txBox="1"/>
          <p:nvPr/>
        </p:nvSpPr>
        <p:spPr>
          <a:xfrm>
            <a:off x="594360" y="2011680"/>
            <a:ext cx="5212080" cy="173736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Automatisch </a:t>
            </a:r>
            <a:r>
              <a:rPr sz="1300">
                <a:solidFill>
                  <a:srgbClr val="1A1A1A"/>
                </a:solidFill>
                <a:latin typeface="Calibri"/>
              </a:rPr>
              <a:t>per service-call (geen handmatig loggen)</a:t>
            </a:r>
          </a:p>
          <a:p>
            <a:pPr algn="l">
              <a:lnSpc>
                <a:spcPct val="125000"/>
              </a:lnSpc>
              <a:spcAft>
                <a:spcPts val="600"/>
              </a:spcAft>
            </a:pPr>
            <a:r>
              <a:rPr sz="1300" b="1">
                <a:solidFill>
                  <a:srgbClr val="2E86C1"/>
                </a:solidFill>
                <a:latin typeface="Calibri"/>
              </a:rPr>
              <a:t>▸ </a:t>
            </a:r>
            <a:r>
              <a:rPr sz="1300" b="1">
                <a:solidFill>
                  <a:srgbClr val="1A1A1A"/>
                </a:solidFill>
                <a:latin typeface="Calibri"/>
              </a:rPr>
              <a:t>Via </a:t>
            </a:r>
            <a:r>
              <a:rPr sz="1300">
                <a:solidFill>
                  <a:srgbClr val="1A1A1A"/>
                </a:solidFill>
                <a:latin typeface="Calibri"/>
              </a:rPr>
              <a:t>includeDetail() + logAudit() pattern in services</a:t>
            </a:r>
          </a:p>
          <a:p>
            <a:pPr algn="l">
              <a:lnSpc>
                <a:spcPct val="125000"/>
              </a:lnSpc>
              <a:spcAft>
                <a:spcPts val="600"/>
              </a:spcAft>
            </a:pPr>
            <a:r>
              <a:rPr sz="1300" b="1">
                <a:solidFill>
                  <a:srgbClr val="2E86C1"/>
                </a:solidFill>
                <a:latin typeface="Calibri"/>
              </a:rPr>
              <a:t>▸ </a:t>
            </a:r>
            <a:r>
              <a:rPr sz="1300" b="1">
                <a:solidFill>
                  <a:srgbClr val="1A1A1A"/>
                </a:solidFill>
                <a:latin typeface="Calibri"/>
              </a:rPr>
              <a:t>Oude </a:t>
            </a:r>
            <a:r>
              <a:rPr sz="1300">
                <a:solidFill>
                  <a:srgbClr val="1A1A1A"/>
                </a:solidFill>
                <a:latin typeface="Calibri"/>
              </a:rPr>
              <a:t>waarden (oldValues) + Nieuwe waarden (newValues) als JSON</a:t>
            </a:r>
          </a:p>
          <a:p>
            <a:pPr algn="l">
              <a:lnSpc>
                <a:spcPct val="125000"/>
              </a:lnSpc>
              <a:spcAft>
                <a:spcPts val="600"/>
              </a:spcAft>
            </a:pPr>
            <a:r>
              <a:rPr sz="1300" b="1">
                <a:solidFill>
                  <a:srgbClr val="2E86C1"/>
                </a:solidFill>
                <a:latin typeface="Calibri"/>
              </a:rPr>
              <a:t>▸ </a:t>
            </a:r>
            <a:r>
              <a:rPr sz="1300" b="1">
                <a:solidFill>
                  <a:srgbClr val="1A1A1A"/>
                </a:solidFill>
                <a:latin typeface="Calibri"/>
              </a:rPr>
              <a:t>Diff-weergave: </a:t>
            </a:r>
            <a:r>
              <a:rPr sz="1300">
                <a:solidFill>
                  <a:srgbClr val="1A1A1A"/>
                </a:solidFill>
                <a:latin typeface="Calibri"/>
              </a:rPr>
              <a:t>precies wat is gewijzigd per rij</a:t>
            </a:r>
          </a:p>
          <a:p>
            <a:pPr algn="l">
              <a:lnSpc>
                <a:spcPct val="125000"/>
              </a:lnSpc>
              <a:spcAft>
                <a:spcPts val="600"/>
              </a:spcAft>
            </a:pPr>
            <a:r>
              <a:rPr sz="1300" b="1">
                <a:solidFill>
                  <a:srgbClr val="2E86C1"/>
                </a:solidFill>
                <a:latin typeface="Calibri"/>
              </a:rPr>
              <a:t>▸ </a:t>
            </a:r>
            <a:r>
              <a:rPr sz="1300" b="1">
                <a:solidFill>
                  <a:srgbClr val="1A1A1A"/>
                </a:solidFill>
                <a:latin typeface="Calibri"/>
              </a:rPr>
              <a:t>Wie </a:t>
            </a:r>
            <a:r>
              <a:rPr sz="1300">
                <a:solidFill>
                  <a:srgbClr val="1A1A1A"/>
                </a:solidFill>
                <a:latin typeface="Calibri"/>
              </a:rPr>
              <a:t>(userId) • Wanneer (timestamp) • Wat (entity, action)</a:t>
            </a:r>
          </a:p>
          <a:p>
            <a:pPr algn="l">
              <a:lnSpc>
                <a:spcPct val="125000"/>
              </a:lnSpc>
              <a:spcAft>
                <a:spcPts val="600"/>
              </a:spcAft>
            </a:pPr>
            <a:r>
              <a:rPr sz="1300" b="1">
                <a:solidFill>
                  <a:srgbClr val="2E86C1"/>
                </a:solidFill>
                <a:latin typeface="Calibri"/>
              </a:rPr>
              <a:t>▸ </a:t>
            </a:r>
            <a:r>
              <a:rPr sz="1300" b="1">
                <a:solidFill>
                  <a:srgbClr val="1A1A1A"/>
                </a:solidFill>
                <a:latin typeface="Calibri"/>
              </a:rPr>
              <a:t>Globaal </a:t>
            </a:r>
            <a:r>
              <a:rPr sz="1300">
                <a:solidFill>
                  <a:srgbClr val="1A1A1A"/>
                </a:solidFill>
                <a:latin typeface="Calibri"/>
              </a:rPr>
              <a:t>overzicht + per-entiteit Geschiedenis-tab</a:t>
            </a:r>
          </a:p>
        </p:txBody>
      </p:sp>
      <p:sp>
        <p:nvSpPr>
          <p:cNvPr id="16" name="Rounded Rectangle 15"/>
          <p:cNvSpPr/>
          <p:nvPr/>
        </p:nvSpPr>
        <p:spPr>
          <a:xfrm>
            <a:off x="6172200" y="1325880"/>
            <a:ext cx="5669280" cy="256032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1417320"/>
            <a:ext cx="5486400" cy="50292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Geregistreerde Acties (AuditAction)</a:t>
            </a:r>
          </a:p>
        </p:txBody>
      </p:sp>
      <p:sp>
        <p:nvSpPr>
          <p:cNvPr id="19" name="TextBox 18"/>
          <p:cNvSpPr txBox="1"/>
          <p:nvPr/>
        </p:nvSpPr>
        <p:spPr>
          <a:xfrm>
            <a:off x="6400800" y="2011680"/>
            <a:ext cx="5212080" cy="173736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CREATE </a:t>
            </a:r>
            <a:r>
              <a:rPr sz="1300">
                <a:solidFill>
                  <a:srgbClr val="1A1A1A"/>
                </a:solidFill>
                <a:latin typeface="Calibri"/>
              </a:rPr>
              <a:t>/ UPDATE / DELETE – standaard CRUD</a:t>
            </a:r>
          </a:p>
          <a:p>
            <a:pPr algn="l">
              <a:lnSpc>
                <a:spcPct val="125000"/>
              </a:lnSpc>
              <a:spcAft>
                <a:spcPts val="600"/>
              </a:spcAft>
            </a:pPr>
            <a:r>
              <a:rPr sz="1300" b="1">
                <a:solidFill>
                  <a:srgbClr val="2E86C1"/>
                </a:solidFill>
                <a:latin typeface="Calibri"/>
              </a:rPr>
              <a:t>▸ </a:t>
            </a:r>
            <a:r>
              <a:rPr sz="1300" b="1">
                <a:solidFill>
                  <a:srgbClr val="1A1A1A"/>
                </a:solidFill>
                <a:latin typeface="Calibri"/>
              </a:rPr>
              <a:t>ACTIVATE </a:t>
            </a:r>
            <a:r>
              <a:rPr sz="1300">
                <a:solidFill>
                  <a:srgbClr val="1A1A1A"/>
                </a:solidFill>
                <a:latin typeface="Calibri"/>
              </a:rPr>
              <a:t>/ SUSPEND / RESUME – abonnement statussen</a:t>
            </a:r>
          </a:p>
          <a:p>
            <a:pPr algn="l">
              <a:lnSpc>
                <a:spcPct val="125000"/>
              </a:lnSpc>
              <a:spcAft>
                <a:spcPts val="600"/>
              </a:spcAft>
            </a:pPr>
            <a:r>
              <a:rPr sz="1300" b="1">
                <a:solidFill>
                  <a:srgbClr val="2E86C1"/>
                </a:solidFill>
                <a:latin typeface="Calibri"/>
              </a:rPr>
              <a:t>▸ </a:t>
            </a:r>
            <a:r>
              <a:rPr sz="1300" b="1">
                <a:solidFill>
                  <a:srgbClr val="1A1A1A"/>
                </a:solidFill>
                <a:latin typeface="Calibri"/>
              </a:rPr>
              <a:t>CANCEL </a:t>
            </a:r>
            <a:r>
              <a:rPr sz="1300">
                <a:solidFill>
                  <a:srgbClr val="1A1A1A"/>
                </a:solidFill>
                <a:latin typeface="Calibri"/>
              </a:rPr>
              <a:t>/ TERMINATE – beeindigen abonnementen</a:t>
            </a:r>
          </a:p>
          <a:p>
            <a:pPr algn="l">
              <a:lnSpc>
                <a:spcPct val="125000"/>
              </a:lnSpc>
              <a:spcAft>
                <a:spcPts val="600"/>
              </a:spcAft>
            </a:pPr>
            <a:r>
              <a:rPr sz="1300" b="1">
                <a:solidFill>
                  <a:srgbClr val="2E86C1"/>
                </a:solidFill>
                <a:latin typeface="Calibri"/>
              </a:rPr>
              <a:t>▸ </a:t>
            </a:r>
            <a:r>
              <a:rPr sz="1300" b="1">
                <a:solidFill>
                  <a:srgbClr val="1A1A1A"/>
                </a:solidFill>
                <a:latin typeface="Calibri"/>
              </a:rPr>
              <a:t>ASSIGN_TRACKER </a:t>
            </a:r>
            <a:r>
              <a:rPr sz="1300">
                <a:solidFill>
                  <a:srgbClr val="1A1A1A"/>
                </a:solidFill>
                <a:latin typeface="Calibri"/>
              </a:rPr>
              <a:t>/ UNASSIGN_TRACKER – hardware</a:t>
            </a:r>
          </a:p>
          <a:p>
            <a:pPr algn="l">
              <a:lnSpc>
                <a:spcPct val="125000"/>
              </a:lnSpc>
              <a:spcAft>
                <a:spcPts val="600"/>
              </a:spcAft>
            </a:pPr>
            <a:r>
              <a:rPr sz="1300" b="1">
                <a:solidFill>
                  <a:srgbClr val="2E86C1"/>
                </a:solidFill>
                <a:latin typeface="Calibri"/>
              </a:rPr>
              <a:t>▸ </a:t>
            </a:r>
            <a:r>
              <a:rPr sz="1300" b="1">
                <a:solidFill>
                  <a:srgbClr val="1A1A1A"/>
                </a:solidFill>
                <a:latin typeface="Calibri"/>
              </a:rPr>
              <a:t>ASSIGN_SIM </a:t>
            </a:r>
            <a:r>
              <a:rPr sz="1300">
                <a:solidFill>
                  <a:srgbClr val="1A1A1A"/>
                </a:solidFill>
                <a:latin typeface="Calibri"/>
              </a:rPr>
              <a:t>/ UNASSIGN_SIM – sims</a:t>
            </a:r>
          </a:p>
          <a:p>
            <a:pPr algn="l">
              <a:lnSpc>
                <a:spcPct val="125000"/>
              </a:lnSpc>
              <a:spcAft>
                <a:spcPts val="600"/>
              </a:spcAft>
            </a:pPr>
            <a:r>
              <a:rPr sz="1300" b="1">
                <a:solidFill>
                  <a:srgbClr val="2E86C1"/>
                </a:solidFill>
                <a:latin typeface="Calibri"/>
              </a:rPr>
              <a:t>▸ </a:t>
            </a:r>
            <a:r>
              <a:rPr sz="1300" b="1">
                <a:solidFill>
                  <a:srgbClr val="1A1A1A"/>
                </a:solidFill>
                <a:latin typeface="Calibri"/>
              </a:rPr>
              <a:t>REPLACE_TRACKER </a:t>
            </a:r>
            <a:r>
              <a:rPr sz="1300">
                <a:solidFill>
                  <a:srgbClr val="1A1A1A"/>
                </a:solidFill>
                <a:latin typeface="Calibri"/>
              </a:rPr>
              <a:t>/ REPLACE_SIM – vervangingen</a:t>
            </a:r>
          </a:p>
          <a:p>
            <a:pPr algn="l">
              <a:lnSpc>
                <a:spcPct val="125000"/>
              </a:lnSpc>
              <a:spcAft>
                <a:spcPts val="600"/>
              </a:spcAft>
            </a:pPr>
            <a:r>
              <a:rPr sz="1300" b="1">
                <a:solidFill>
                  <a:srgbClr val="2E86C1"/>
                </a:solidFill>
                <a:latin typeface="Calibri"/>
              </a:rPr>
              <a:t>▸ </a:t>
            </a:r>
            <a:r>
              <a:rPr sz="1300" b="1">
                <a:solidFill>
                  <a:srgbClr val="1A1A1A"/>
                </a:solidFill>
                <a:latin typeface="Calibri"/>
              </a:rPr>
              <a:t>COMPLETE_ACTIVATION </a:t>
            </a:r>
            <a:r>
              <a:rPr sz="1300">
                <a:solidFill>
                  <a:srgbClr val="1A1A1A"/>
                </a:solidFill>
                <a:latin typeface="Calibri"/>
              </a:rPr>
              <a:t>/ FAIL_ACTIVATION – wizard</a:t>
            </a:r>
          </a:p>
          <a:p>
            <a:pPr algn="l">
              <a:lnSpc>
                <a:spcPct val="125000"/>
              </a:lnSpc>
              <a:spcAft>
                <a:spcPts val="600"/>
              </a:spcAft>
            </a:pPr>
            <a:r>
              <a:rPr sz="1300" b="1">
                <a:solidFill>
                  <a:srgbClr val="2E86C1"/>
                </a:solidFill>
                <a:latin typeface="Calibri"/>
              </a:rPr>
              <a:t>▸ </a:t>
            </a:r>
            <a:r>
              <a:rPr sz="1300" b="1">
                <a:solidFill>
                  <a:srgbClr val="1A1A1A"/>
                </a:solidFill>
                <a:latin typeface="Calibri"/>
              </a:rPr>
              <a:t>INSERVE_SYNCED </a:t>
            </a:r>
            <a:r>
              <a:rPr sz="1300">
                <a:solidFill>
                  <a:srgbClr val="1A1A1A"/>
                </a:solidFill>
                <a:latin typeface="Calibri"/>
              </a:rPr>
              <a:t>/ INSERVE_SYNC_FAILED – integratie</a:t>
            </a:r>
          </a:p>
        </p:txBody>
      </p:sp>
      <p:sp>
        <p:nvSpPr>
          <p:cNvPr id="20" name="Rounded Rectangle 19"/>
          <p:cNvSpPr/>
          <p:nvPr/>
        </p:nvSpPr>
        <p:spPr>
          <a:xfrm>
            <a:off x="365760" y="4114800"/>
            <a:ext cx="11475720" cy="45720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187952"/>
            <a:ext cx="10972800" cy="320040"/>
          </a:xfrm>
          <a:prstGeom prst="rect">
            <a:avLst/>
          </a:prstGeom>
          <a:noFill/>
        </p:spPr>
        <p:txBody>
          <a:bodyPr wrap="square" lIns="45720" rIns="45720" tIns="18288" bIns="18288" anchor="t">
            <a:spAutoFit/>
          </a:bodyPr>
          <a:lstStyle/>
          <a:p>
            <a:pPr algn="l">
              <a:lnSpc>
                <a:spcPct val="120000"/>
              </a:lnSpc>
            </a:pPr>
            <a:r>
              <a:rPr sz="1400" b="1">
                <a:solidFill>
                  <a:srgbClr val="FFFFFF"/>
                </a:solidFill>
                <a:latin typeface="Calibri"/>
              </a:rPr>
              <a:t>🗂 Voorbeeld: Recente Audit Log regels</a:t>
            </a:r>
          </a:p>
        </p:txBody>
      </p:sp>
      <p:sp>
        <p:nvSpPr>
          <p:cNvPr id="22" name="Rectangle 21"/>
          <p:cNvSpPr/>
          <p:nvPr/>
        </p:nvSpPr>
        <p:spPr>
          <a:xfrm>
            <a:off x="365760" y="4663440"/>
            <a:ext cx="11475720"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718304"/>
            <a:ext cx="1645920" cy="274320"/>
          </a:xfrm>
          <a:prstGeom prst="rect">
            <a:avLst/>
          </a:prstGeom>
          <a:noFill/>
        </p:spPr>
        <p:txBody>
          <a:bodyPr wrap="square" lIns="45720" rIns="45720" tIns="18288" bIns="18288" anchor="t">
            <a:spAutoFit/>
          </a:bodyPr>
          <a:lstStyle/>
          <a:p>
            <a:pPr algn="l">
              <a:lnSpc>
                <a:spcPct val="120000"/>
              </a:lnSpc>
            </a:pPr>
            <a:r>
              <a:rPr sz="1100" b="1">
                <a:solidFill>
                  <a:srgbClr val="1E3A5F"/>
                </a:solidFill>
                <a:latin typeface="Calibri"/>
              </a:rPr>
              <a:t>Tijdstip</a:t>
            </a:r>
          </a:p>
        </p:txBody>
      </p:sp>
      <p:sp>
        <p:nvSpPr>
          <p:cNvPr id="24" name="TextBox 23"/>
          <p:cNvSpPr txBox="1"/>
          <p:nvPr/>
        </p:nvSpPr>
        <p:spPr>
          <a:xfrm>
            <a:off x="2194560" y="4718304"/>
            <a:ext cx="1645920" cy="274320"/>
          </a:xfrm>
          <a:prstGeom prst="rect">
            <a:avLst/>
          </a:prstGeom>
          <a:noFill/>
        </p:spPr>
        <p:txBody>
          <a:bodyPr wrap="square" lIns="45720" rIns="45720" tIns="18288" bIns="18288" anchor="t">
            <a:spAutoFit/>
          </a:bodyPr>
          <a:lstStyle/>
          <a:p>
            <a:pPr algn="l">
              <a:lnSpc>
                <a:spcPct val="120000"/>
              </a:lnSpc>
            </a:pPr>
            <a:r>
              <a:rPr sz="1100" b="1">
                <a:solidFill>
                  <a:srgbClr val="1E3A5F"/>
                </a:solidFill>
                <a:latin typeface="Calibri"/>
              </a:rPr>
              <a:t>Gebruiker</a:t>
            </a:r>
          </a:p>
        </p:txBody>
      </p:sp>
      <p:sp>
        <p:nvSpPr>
          <p:cNvPr id="25" name="TextBox 24"/>
          <p:cNvSpPr txBox="1"/>
          <p:nvPr/>
        </p:nvSpPr>
        <p:spPr>
          <a:xfrm>
            <a:off x="3840480" y="4718304"/>
            <a:ext cx="2011680" cy="274320"/>
          </a:xfrm>
          <a:prstGeom prst="rect">
            <a:avLst/>
          </a:prstGeom>
          <a:noFill/>
        </p:spPr>
        <p:txBody>
          <a:bodyPr wrap="square" lIns="45720" rIns="45720" tIns="18288" bIns="18288" anchor="t">
            <a:spAutoFit/>
          </a:bodyPr>
          <a:lstStyle/>
          <a:p>
            <a:pPr algn="l">
              <a:lnSpc>
                <a:spcPct val="120000"/>
              </a:lnSpc>
            </a:pPr>
            <a:r>
              <a:rPr sz="1100" b="1">
                <a:solidFill>
                  <a:srgbClr val="1E3A5F"/>
                </a:solidFill>
                <a:latin typeface="Calibri"/>
              </a:rPr>
              <a:t>Actie</a:t>
            </a:r>
          </a:p>
        </p:txBody>
      </p:sp>
      <p:sp>
        <p:nvSpPr>
          <p:cNvPr id="26" name="TextBox 25"/>
          <p:cNvSpPr txBox="1"/>
          <p:nvPr/>
        </p:nvSpPr>
        <p:spPr>
          <a:xfrm>
            <a:off x="5852160" y="4718304"/>
            <a:ext cx="2011680" cy="274320"/>
          </a:xfrm>
          <a:prstGeom prst="rect">
            <a:avLst/>
          </a:prstGeom>
          <a:noFill/>
        </p:spPr>
        <p:txBody>
          <a:bodyPr wrap="square" lIns="45720" rIns="45720" tIns="18288" bIns="18288" anchor="t">
            <a:spAutoFit/>
          </a:bodyPr>
          <a:lstStyle/>
          <a:p>
            <a:pPr algn="l">
              <a:lnSpc>
                <a:spcPct val="120000"/>
              </a:lnSpc>
            </a:pPr>
            <a:r>
              <a:rPr sz="1100" b="1">
                <a:solidFill>
                  <a:srgbClr val="1E3A5F"/>
                </a:solidFill>
                <a:latin typeface="Calibri"/>
              </a:rPr>
              <a:t>Entiteit</a:t>
            </a:r>
          </a:p>
        </p:txBody>
      </p:sp>
      <p:sp>
        <p:nvSpPr>
          <p:cNvPr id="27" name="TextBox 26"/>
          <p:cNvSpPr txBox="1"/>
          <p:nvPr/>
        </p:nvSpPr>
        <p:spPr>
          <a:xfrm>
            <a:off x="7863840" y="4718304"/>
            <a:ext cx="3840480" cy="274320"/>
          </a:xfrm>
          <a:prstGeom prst="rect">
            <a:avLst/>
          </a:prstGeom>
          <a:noFill/>
        </p:spPr>
        <p:txBody>
          <a:bodyPr wrap="square" lIns="45720" rIns="45720" tIns="18288" bIns="18288" anchor="t">
            <a:spAutoFit/>
          </a:bodyPr>
          <a:lstStyle/>
          <a:p>
            <a:pPr algn="l">
              <a:lnSpc>
                <a:spcPct val="120000"/>
              </a:lnSpc>
            </a:pPr>
            <a:r>
              <a:rPr sz="1100" b="1">
                <a:solidFill>
                  <a:srgbClr val="1E3A5F"/>
                </a:solidFill>
                <a:latin typeface="Calibri"/>
              </a:rPr>
              <a:t>Details (Diff)</a:t>
            </a:r>
          </a:p>
        </p:txBody>
      </p:sp>
      <p:sp>
        <p:nvSpPr>
          <p:cNvPr id="28" name="TextBox 27"/>
          <p:cNvSpPr txBox="1"/>
          <p:nvPr/>
        </p:nvSpPr>
        <p:spPr>
          <a:xfrm>
            <a:off x="548640" y="5093208"/>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17-09 14:23</a:t>
            </a:r>
          </a:p>
        </p:txBody>
      </p:sp>
      <p:sp>
        <p:nvSpPr>
          <p:cNvPr id="29" name="TextBox 28"/>
          <p:cNvSpPr txBox="1"/>
          <p:nvPr/>
        </p:nvSpPr>
        <p:spPr>
          <a:xfrm>
            <a:off x="2194560" y="5093208"/>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admin@nexus</a:t>
            </a:r>
          </a:p>
        </p:txBody>
      </p:sp>
      <p:sp>
        <p:nvSpPr>
          <p:cNvPr id="30" name="Rounded Rectangle 29"/>
          <p:cNvSpPr/>
          <p:nvPr/>
        </p:nvSpPr>
        <p:spPr>
          <a:xfrm>
            <a:off x="3840480" y="5056632"/>
            <a:ext cx="1645920" cy="27432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0" y="5056632"/>
            <a:ext cx="1645920" cy="274320"/>
          </a:xfrm>
          <a:prstGeom prst="rect">
            <a:avLst/>
          </a:prstGeom>
          <a:noFill/>
        </p:spPr>
        <p:txBody>
          <a:bodyPr wrap="square" lIns="45720" rIns="45720" tIns="18288" bIns="18288" anchor="ctr">
            <a:spAutoFit/>
          </a:bodyPr>
          <a:lstStyle/>
          <a:p>
            <a:pPr algn="ctr">
              <a:lnSpc>
                <a:spcPct val="120000"/>
              </a:lnSpc>
            </a:pPr>
            <a:r>
              <a:rPr sz="1100" b="1">
                <a:solidFill>
                  <a:srgbClr val="FFFFFF"/>
                </a:solidFill>
                <a:latin typeface="Calibri"/>
              </a:rPr>
              <a:t>UPDATE</a:t>
            </a:r>
          </a:p>
        </p:txBody>
      </p:sp>
      <p:sp>
        <p:nvSpPr>
          <p:cNvPr id="32" name="TextBox 31"/>
          <p:cNvSpPr txBox="1"/>
          <p:nvPr/>
        </p:nvSpPr>
        <p:spPr>
          <a:xfrm>
            <a:off x="5852160" y="5093208"/>
            <a:ext cx="201168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Klant (K-2026-00012)</a:t>
            </a:r>
          </a:p>
        </p:txBody>
      </p:sp>
      <p:sp>
        <p:nvSpPr>
          <p:cNvPr id="33" name="TextBox 32"/>
          <p:cNvSpPr txBox="1"/>
          <p:nvPr/>
        </p:nvSpPr>
        <p:spPr>
          <a:xfrm>
            <a:off x="7863840" y="5093208"/>
            <a:ext cx="384048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companyName: 'Van der Logistiek' → 'Van der Logistics B.V.'</a:t>
            </a:r>
          </a:p>
        </p:txBody>
      </p:sp>
      <p:sp>
        <p:nvSpPr>
          <p:cNvPr id="34" name="Rectangle 33"/>
          <p:cNvSpPr/>
          <p:nvPr/>
        </p:nvSpPr>
        <p:spPr>
          <a:xfrm>
            <a:off x="365760" y="5394960"/>
            <a:ext cx="1147572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458968"/>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17-09 13:45</a:t>
            </a:r>
          </a:p>
        </p:txBody>
      </p:sp>
      <p:sp>
        <p:nvSpPr>
          <p:cNvPr id="36" name="TextBox 35"/>
          <p:cNvSpPr txBox="1"/>
          <p:nvPr/>
        </p:nvSpPr>
        <p:spPr>
          <a:xfrm>
            <a:off x="2194560" y="5458968"/>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medewerker@nexus</a:t>
            </a:r>
          </a:p>
        </p:txBody>
      </p:sp>
      <p:sp>
        <p:nvSpPr>
          <p:cNvPr id="37" name="Rounded Rectangle 36"/>
          <p:cNvSpPr/>
          <p:nvPr/>
        </p:nvSpPr>
        <p:spPr>
          <a:xfrm>
            <a:off x="3840480" y="5422392"/>
            <a:ext cx="1645920" cy="27432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0" y="5422392"/>
            <a:ext cx="1645920" cy="274320"/>
          </a:xfrm>
          <a:prstGeom prst="rect">
            <a:avLst/>
          </a:prstGeom>
          <a:noFill/>
        </p:spPr>
        <p:txBody>
          <a:bodyPr wrap="square" lIns="45720" rIns="45720" tIns="18288" bIns="18288" anchor="ctr">
            <a:spAutoFit/>
          </a:bodyPr>
          <a:lstStyle/>
          <a:p>
            <a:pPr algn="ctr">
              <a:lnSpc>
                <a:spcPct val="120000"/>
              </a:lnSpc>
            </a:pPr>
            <a:r>
              <a:rPr sz="1100" b="1">
                <a:solidFill>
                  <a:srgbClr val="FFFFFF"/>
                </a:solidFill>
                <a:latin typeface="Calibri"/>
              </a:rPr>
              <a:t>CREATE</a:t>
            </a:r>
          </a:p>
        </p:txBody>
      </p:sp>
      <p:sp>
        <p:nvSpPr>
          <p:cNvPr id="39" name="TextBox 38"/>
          <p:cNvSpPr txBox="1"/>
          <p:nvPr/>
        </p:nvSpPr>
        <p:spPr>
          <a:xfrm>
            <a:off x="5852160" y="5458968"/>
            <a:ext cx="201168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Tracker (TRK-00102-ST)</a:t>
            </a:r>
          </a:p>
        </p:txBody>
      </p:sp>
      <p:sp>
        <p:nvSpPr>
          <p:cNvPr id="40" name="TextBox 39"/>
          <p:cNvSpPr txBox="1"/>
          <p:nvPr/>
        </p:nvSpPr>
        <p:spPr>
          <a:xfrm>
            <a:off x="7863840" y="5458968"/>
            <a:ext cx="384048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Nieuwe tracker: imei=490154203237518, status=IN_STOCK</a:t>
            </a:r>
          </a:p>
        </p:txBody>
      </p:sp>
      <p:sp>
        <p:nvSpPr>
          <p:cNvPr id="41" name="Rectangle 40"/>
          <p:cNvSpPr/>
          <p:nvPr/>
        </p:nvSpPr>
        <p:spPr>
          <a:xfrm>
            <a:off x="365760" y="5760720"/>
            <a:ext cx="1147572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824728"/>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17-09 11:12</a:t>
            </a:r>
          </a:p>
        </p:txBody>
      </p:sp>
      <p:sp>
        <p:nvSpPr>
          <p:cNvPr id="43" name="TextBox 42"/>
          <p:cNvSpPr txBox="1"/>
          <p:nvPr/>
        </p:nvSpPr>
        <p:spPr>
          <a:xfrm>
            <a:off x="2194560" y="5824728"/>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admin@nexus</a:t>
            </a:r>
          </a:p>
        </p:txBody>
      </p:sp>
      <p:sp>
        <p:nvSpPr>
          <p:cNvPr id="44" name="Rounded Rectangle 43"/>
          <p:cNvSpPr/>
          <p:nvPr/>
        </p:nvSpPr>
        <p:spPr>
          <a:xfrm>
            <a:off x="3840480" y="5788152"/>
            <a:ext cx="1645920" cy="27432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0" y="5788152"/>
            <a:ext cx="1645920" cy="274320"/>
          </a:xfrm>
          <a:prstGeom prst="rect">
            <a:avLst/>
          </a:prstGeom>
          <a:noFill/>
        </p:spPr>
        <p:txBody>
          <a:bodyPr wrap="square" lIns="45720" rIns="45720" tIns="18288" bIns="18288" anchor="ctr">
            <a:spAutoFit/>
          </a:bodyPr>
          <a:lstStyle/>
          <a:p>
            <a:pPr algn="ctr">
              <a:lnSpc>
                <a:spcPct val="120000"/>
              </a:lnSpc>
            </a:pPr>
            <a:r>
              <a:rPr sz="1100" b="1">
                <a:solidFill>
                  <a:srgbClr val="FFFFFF"/>
                </a:solidFill>
                <a:latin typeface="Calibri"/>
              </a:rPr>
              <a:t>COMPLETE_ACTIVATION</a:t>
            </a:r>
          </a:p>
        </p:txBody>
      </p:sp>
      <p:sp>
        <p:nvSpPr>
          <p:cNvPr id="46" name="TextBox 45"/>
          <p:cNvSpPr txBox="1"/>
          <p:nvPr/>
        </p:nvSpPr>
        <p:spPr>
          <a:xfrm>
            <a:off x="5852160" y="5824728"/>
            <a:ext cx="201168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ACT-2026-00124</a:t>
            </a:r>
          </a:p>
        </p:txBody>
      </p:sp>
      <p:sp>
        <p:nvSpPr>
          <p:cNvPr id="47" name="TextBox 46"/>
          <p:cNvSpPr txBox="1"/>
          <p:nvPr/>
        </p:nvSpPr>
        <p:spPr>
          <a:xfrm>
            <a:off x="7863840" y="5824728"/>
            <a:ext cx="384048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Status: PROCESSING → COMPLETED, abonnement=SUB-2026-000031</a:t>
            </a:r>
          </a:p>
        </p:txBody>
      </p:sp>
      <p:sp>
        <p:nvSpPr>
          <p:cNvPr id="48" name="Rectangle 47"/>
          <p:cNvSpPr/>
          <p:nvPr/>
        </p:nvSpPr>
        <p:spPr>
          <a:xfrm>
            <a:off x="365760" y="6126480"/>
            <a:ext cx="1147572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6190488"/>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17-09 10:02</a:t>
            </a:r>
          </a:p>
        </p:txBody>
      </p:sp>
      <p:sp>
        <p:nvSpPr>
          <p:cNvPr id="50" name="TextBox 49"/>
          <p:cNvSpPr txBox="1"/>
          <p:nvPr/>
        </p:nvSpPr>
        <p:spPr>
          <a:xfrm>
            <a:off x="2194560" y="6190488"/>
            <a:ext cx="164592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medewerker@nexus</a:t>
            </a:r>
          </a:p>
        </p:txBody>
      </p:sp>
      <p:sp>
        <p:nvSpPr>
          <p:cNvPr id="51" name="Rounded Rectangle 50"/>
          <p:cNvSpPr/>
          <p:nvPr/>
        </p:nvSpPr>
        <p:spPr>
          <a:xfrm>
            <a:off x="3840480" y="6153912"/>
            <a:ext cx="1645920" cy="27432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40480" y="6153912"/>
            <a:ext cx="1645920" cy="274320"/>
          </a:xfrm>
          <a:prstGeom prst="rect">
            <a:avLst/>
          </a:prstGeom>
          <a:noFill/>
        </p:spPr>
        <p:txBody>
          <a:bodyPr wrap="square" lIns="45720" rIns="45720" tIns="18288" bIns="18288" anchor="ctr">
            <a:spAutoFit/>
          </a:bodyPr>
          <a:lstStyle/>
          <a:p>
            <a:pPr algn="ctr">
              <a:lnSpc>
                <a:spcPct val="120000"/>
              </a:lnSpc>
            </a:pPr>
            <a:r>
              <a:rPr sz="1100" b="1">
                <a:solidFill>
                  <a:srgbClr val="FFFFFF"/>
                </a:solidFill>
                <a:latin typeface="Calibri"/>
              </a:rPr>
              <a:t>ASSIGN_SIM</a:t>
            </a:r>
          </a:p>
        </p:txBody>
      </p:sp>
      <p:sp>
        <p:nvSpPr>
          <p:cNvPr id="53" name="TextBox 52"/>
          <p:cNvSpPr txBox="1"/>
          <p:nvPr/>
        </p:nvSpPr>
        <p:spPr>
          <a:xfrm>
            <a:off x="5852160" y="6190488"/>
            <a:ext cx="201168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SIM (89310...)</a:t>
            </a:r>
          </a:p>
        </p:txBody>
      </p:sp>
      <p:sp>
        <p:nvSpPr>
          <p:cNvPr id="54" name="TextBox 53"/>
          <p:cNvSpPr txBox="1"/>
          <p:nvPr/>
        </p:nvSpPr>
        <p:spPr>
          <a:xfrm>
            <a:off x="7863840" y="6190488"/>
            <a:ext cx="3840480" cy="274320"/>
          </a:xfrm>
          <a:prstGeom prst="rect">
            <a:avLst/>
          </a:prstGeom>
          <a:noFill/>
        </p:spPr>
        <p:txBody>
          <a:bodyPr wrap="square" lIns="45720" rIns="45720" tIns="18288" bIns="18288" anchor="t">
            <a:spAutoFit/>
          </a:bodyPr>
          <a:lstStyle/>
          <a:p>
            <a:pPr algn="l">
              <a:lnSpc>
                <a:spcPct val="120000"/>
              </a:lnSpc>
            </a:pPr>
            <a:r>
              <a:rPr sz="1050" b="0">
                <a:solidFill>
                  <a:srgbClr val="1A1A1A"/>
                </a:solidFill>
                <a:latin typeface="Calibri"/>
              </a:rPr>
              <a:t>Abonnement SUB-2026-000030, reden=INITIAL</a:t>
            </a:r>
          </a:p>
        </p:txBody>
      </p:sp>
      <p:sp>
        <p:nvSpPr>
          <p:cNvPr id="55" name="Rectangle 54"/>
          <p:cNvSpPr/>
          <p:nvPr/>
        </p:nvSpPr>
        <p:spPr>
          <a:xfrm>
            <a:off x="365760" y="6492240"/>
            <a:ext cx="11475720"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Validatieregels &amp; Identifiers</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Hoe Nexus data-kwaliteit bewaakt (Zod + Luhn + normalisatie)</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15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325880"/>
            <a:ext cx="3657600" cy="256032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417320"/>
            <a:ext cx="347472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90472"/>
            <a:ext cx="320040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IMEI Validatie</a:t>
            </a:r>
          </a:p>
        </p:txBody>
      </p:sp>
      <p:sp>
        <p:nvSpPr>
          <p:cNvPr id="15" name="TextBox 14"/>
          <p:cNvSpPr txBox="1"/>
          <p:nvPr/>
        </p:nvSpPr>
        <p:spPr>
          <a:xfrm>
            <a:off x="594360" y="2011680"/>
            <a:ext cx="3200400" cy="173736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Lengte: </a:t>
            </a:r>
            <a:r>
              <a:rPr sz="1300">
                <a:solidFill>
                  <a:srgbClr val="1A1A1A"/>
                </a:solidFill>
                <a:latin typeface="Calibri"/>
              </a:rPr>
              <a:t>PRECIES 15 cijfers</a:t>
            </a:r>
          </a:p>
          <a:p>
            <a:pPr algn="l">
              <a:lnSpc>
                <a:spcPct val="125000"/>
              </a:lnSpc>
              <a:spcAft>
                <a:spcPts val="600"/>
              </a:spcAft>
            </a:pPr>
            <a:r>
              <a:rPr sz="1300" b="1">
                <a:solidFill>
                  <a:srgbClr val="2E86C1"/>
                </a:solidFill>
                <a:latin typeface="Calibri"/>
              </a:rPr>
              <a:t>▸ </a:t>
            </a:r>
            <a:r>
              <a:rPr sz="1300" b="1">
                <a:solidFill>
                  <a:srgbClr val="1A1A1A"/>
                </a:solidFill>
                <a:latin typeface="Calibri"/>
              </a:rPr>
              <a:t>Luhn-10 </a:t>
            </a:r>
            <a:r>
              <a:rPr sz="1300">
                <a:solidFill>
                  <a:srgbClr val="1A1A1A"/>
                </a:solidFill>
                <a:latin typeface="Calibri"/>
              </a:rPr>
              <a:t>algoritme (check digit)</a:t>
            </a:r>
          </a:p>
          <a:p>
            <a:pPr algn="l">
              <a:lnSpc>
                <a:spcPct val="125000"/>
              </a:lnSpc>
              <a:spcAft>
                <a:spcPts val="600"/>
              </a:spcAft>
            </a:pPr>
            <a:r>
              <a:rPr sz="1300" b="1">
                <a:solidFill>
                  <a:srgbClr val="2E86C1"/>
                </a:solidFill>
                <a:latin typeface="Calibri"/>
              </a:rPr>
              <a:t>▸ </a:t>
            </a:r>
            <a:r>
              <a:rPr sz="1300" b="1">
                <a:solidFill>
                  <a:srgbClr val="1A1A1A"/>
                </a:solidFill>
                <a:latin typeface="Calibri"/>
              </a:rPr>
              <a:t>Weergave </a:t>
            </a:r>
            <a:r>
              <a:rPr sz="1300">
                <a:solidFill>
                  <a:srgbClr val="1A1A1A"/>
                </a:solidFill>
                <a:latin typeface="Calibri"/>
              </a:rPr>
              <a:t>4-4-4-3: bv. 4901 5420 3237 518</a:t>
            </a:r>
          </a:p>
          <a:p>
            <a:pPr algn="l">
              <a:lnSpc>
                <a:spcPct val="125000"/>
              </a:lnSpc>
              <a:spcAft>
                <a:spcPts val="600"/>
              </a:spcAft>
            </a:pPr>
            <a:r>
              <a:rPr sz="1300" b="1">
                <a:solidFill>
                  <a:srgbClr val="2E86C1"/>
                </a:solidFill>
                <a:latin typeface="Calibri"/>
              </a:rPr>
              <a:t>▸ </a:t>
            </a:r>
            <a:r>
              <a:rPr sz="1300" b="1">
                <a:solidFill>
                  <a:srgbClr val="1A1A1A"/>
                </a:solidFill>
                <a:latin typeface="Calibri"/>
              </a:rPr>
              <a:t>In </a:t>
            </a:r>
            <a:r>
              <a:rPr sz="1300">
                <a:solidFill>
                  <a:srgbClr val="1A1A1A"/>
                </a:solidFill>
                <a:latin typeface="Calibri"/>
              </a:rPr>
              <a:t>DB: zonder opmaak (15 tekens)</a:t>
            </a:r>
          </a:p>
          <a:p>
            <a:pPr algn="l">
              <a:lnSpc>
                <a:spcPct val="125000"/>
              </a:lnSpc>
              <a:spcAft>
                <a:spcPts val="600"/>
              </a:spcAft>
            </a:pPr>
            <a:r>
              <a:rPr sz="1300" b="1">
                <a:solidFill>
                  <a:srgbClr val="2E86C1"/>
                </a:solidFill>
                <a:latin typeface="Calibri"/>
              </a:rPr>
              <a:t>▸ </a:t>
            </a:r>
            <a:r>
              <a:rPr sz="1300" b="1">
                <a:solidFill>
                  <a:srgbClr val="1A1A1A"/>
                </a:solidFill>
                <a:latin typeface="Calibri"/>
              </a:rPr>
              <a:t>Normalisatie: </a:t>
            </a:r>
            <a:r>
              <a:rPr sz="1300">
                <a:solidFill>
                  <a:srgbClr val="1A1A1A"/>
                </a:solidFill>
                <a:latin typeface="Calibri"/>
              </a:rPr>
              <a:t>spaties/streepjes gestript</a:t>
            </a:r>
          </a:p>
        </p:txBody>
      </p:sp>
      <p:sp>
        <p:nvSpPr>
          <p:cNvPr id="16" name="Rounded Rectangle 15"/>
          <p:cNvSpPr/>
          <p:nvPr/>
        </p:nvSpPr>
        <p:spPr>
          <a:xfrm>
            <a:off x="4251960" y="1325880"/>
            <a:ext cx="3657600" cy="256032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43400" y="1417320"/>
            <a:ext cx="3474720" cy="50292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1490472"/>
            <a:ext cx="320040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ICCID Validatie</a:t>
            </a:r>
          </a:p>
        </p:txBody>
      </p:sp>
      <p:sp>
        <p:nvSpPr>
          <p:cNvPr id="19" name="TextBox 18"/>
          <p:cNvSpPr txBox="1"/>
          <p:nvPr/>
        </p:nvSpPr>
        <p:spPr>
          <a:xfrm>
            <a:off x="4480560" y="2011680"/>
            <a:ext cx="3200400" cy="173736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Lengte: </a:t>
            </a:r>
            <a:r>
              <a:rPr sz="1300">
                <a:solidFill>
                  <a:srgbClr val="1A1A1A"/>
                </a:solidFill>
                <a:latin typeface="Calibri"/>
              </a:rPr>
              <a:t>19 of 20 cijfers</a:t>
            </a:r>
          </a:p>
          <a:p>
            <a:pPr algn="l">
              <a:lnSpc>
                <a:spcPct val="125000"/>
              </a:lnSpc>
              <a:spcAft>
                <a:spcPts val="600"/>
              </a:spcAft>
            </a:pPr>
            <a:r>
              <a:rPr sz="1300" b="1">
                <a:solidFill>
                  <a:srgbClr val="2E86C1"/>
                </a:solidFill>
                <a:latin typeface="Calibri"/>
              </a:rPr>
              <a:t>▸ </a:t>
            </a:r>
            <a:r>
              <a:rPr sz="1300" b="1">
                <a:solidFill>
                  <a:srgbClr val="1A1A1A"/>
                </a:solidFill>
                <a:latin typeface="Calibri"/>
              </a:rPr>
              <a:t>MOET </a:t>
            </a:r>
            <a:r>
              <a:rPr sz="1300">
                <a:solidFill>
                  <a:srgbClr val="1A1A1A"/>
                </a:solidFill>
                <a:latin typeface="Calibri"/>
              </a:rPr>
              <a:t>beginnen met '89' (standaard)</a:t>
            </a:r>
          </a:p>
          <a:p>
            <a:pPr algn="l">
              <a:lnSpc>
                <a:spcPct val="125000"/>
              </a:lnSpc>
              <a:spcAft>
                <a:spcPts val="600"/>
              </a:spcAft>
            </a:pPr>
            <a:r>
              <a:rPr sz="1300" b="1">
                <a:solidFill>
                  <a:srgbClr val="2E86C1"/>
                </a:solidFill>
                <a:latin typeface="Calibri"/>
              </a:rPr>
              <a:t>▸ </a:t>
            </a:r>
            <a:r>
              <a:rPr sz="1300" b="1">
                <a:solidFill>
                  <a:srgbClr val="1A1A1A"/>
                </a:solidFill>
                <a:latin typeface="Calibri"/>
              </a:rPr>
              <a:t>In </a:t>
            </a:r>
            <a:r>
              <a:rPr sz="1300">
                <a:solidFill>
                  <a:srgbClr val="1A1A1A"/>
                </a:solidFill>
                <a:latin typeface="Calibri"/>
              </a:rPr>
              <a:t>DB: zonder opmaak opgeslagen</a:t>
            </a:r>
          </a:p>
          <a:p>
            <a:pPr algn="l">
              <a:lnSpc>
                <a:spcPct val="125000"/>
              </a:lnSpc>
              <a:spcAft>
                <a:spcPts val="600"/>
              </a:spcAft>
            </a:pPr>
            <a:r>
              <a:rPr sz="1300" b="1">
                <a:solidFill>
                  <a:srgbClr val="2E86C1"/>
                </a:solidFill>
                <a:latin typeface="Calibri"/>
              </a:rPr>
              <a:t>▸ </a:t>
            </a:r>
            <a:r>
              <a:rPr sz="1300" b="1">
                <a:solidFill>
                  <a:srgbClr val="1A1A1A"/>
                </a:solidFill>
                <a:latin typeface="Calibri"/>
              </a:rPr>
              <a:t>MSISDN </a:t>
            </a:r>
            <a:r>
              <a:rPr sz="1300">
                <a:solidFill>
                  <a:srgbClr val="1A1A1A"/>
                </a:solidFill>
                <a:latin typeface="Calibri"/>
              </a:rPr>
              <a:t>(telefoonnr): optioneel UNIEK</a:t>
            </a:r>
          </a:p>
          <a:p>
            <a:pPr algn="l">
              <a:lnSpc>
                <a:spcPct val="125000"/>
              </a:lnSpc>
              <a:spcAft>
                <a:spcPts val="600"/>
              </a:spcAft>
            </a:pPr>
            <a:r>
              <a:rPr sz="1300" b="1">
                <a:solidFill>
                  <a:srgbClr val="2E86C1"/>
                </a:solidFill>
                <a:latin typeface="Calibri"/>
              </a:rPr>
              <a:t>▸ </a:t>
            </a:r>
            <a:r>
              <a:rPr sz="1300" b="1">
                <a:solidFill>
                  <a:srgbClr val="1A1A1A"/>
                </a:solidFill>
                <a:latin typeface="Calibri"/>
              </a:rPr>
              <a:t>Auto-normalisatie </a:t>
            </a:r>
            <a:r>
              <a:rPr sz="1300">
                <a:solidFill>
                  <a:srgbClr val="1A1A1A"/>
                </a:solidFill>
                <a:latin typeface="Calibri"/>
              </a:rPr>
              <a:t>(streepjes/spaties)</a:t>
            </a:r>
          </a:p>
        </p:txBody>
      </p:sp>
      <p:sp>
        <p:nvSpPr>
          <p:cNvPr id="20" name="Rounded Rectangle 19"/>
          <p:cNvSpPr/>
          <p:nvPr/>
        </p:nvSpPr>
        <p:spPr>
          <a:xfrm>
            <a:off x="8138160" y="1325880"/>
            <a:ext cx="3657600" cy="256032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29600" y="1417320"/>
            <a:ext cx="3474720" cy="50292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490472"/>
            <a:ext cx="320040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Nummerreeksen (Identifiers)</a:t>
            </a:r>
          </a:p>
        </p:txBody>
      </p:sp>
      <p:sp>
        <p:nvSpPr>
          <p:cNvPr id="23" name="TextBox 22"/>
          <p:cNvSpPr txBox="1"/>
          <p:nvPr/>
        </p:nvSpPr>
        <p:spPr>
          <a:xfrm>
            <a:off x="8366760" y="2011680"/>
            <a:ext cx="3200400" cy="173736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Klant: </a:t>
            </a:r>
            <a:r>
              <a:rPr sz="1300">
                <a:solidFill>
                  <a:srgbClr val="1A1A1A"/>
                </a:solidFill>
                <a:latin typeface="Calibri"/>
              </a:rPr>
              <a:t>  K-&lt;JJJJ&gt;-NNNNN</a:t>
            </a:r>
          </a:p>
          <a:p>
            <a:pPr algn="l">
              <a:lnSpc>
                <a:spcPct val="125000"/>
              </a:lnSpc>
              <a:spcAft>
                <a:spcPts val="600"/>
              </a:spcAft>
            </a:pPr>
            <a:r>
              <a:rPr sz="1300" b="1">
                <a:solidFill>
                  <a:srgbClr val="2E86C1"/>
                </a:solidFill>
                <a:latin typeface="Calibri"/>
              </a:rPr>
              <a:t>▸ </a:t>
            </a:r>
            <a:r>
              <a:rPr sz="1300" b="1">
                <a:solidFill>
                  <a:srgbClr val="1A1A1A"/>
                </a:solidFill>
                <a:latin typeface="Calibri"/>
              </a:rPr>
              <a:t>Abonnement: </a:t>
            </a:r>
            <a:r>
              <a:rPr sz="1300">
                <a:solidFill>
                  <a:srgbClr val="1A1A1A"/>
                </a:solidFill>
                <a:latin typeface="Calibri"/>
              </a:rPr>
              <a:t>  SUB-&lt;JJJJ&gt;-NNNNN</a:t>
            </a:r>
          </a:p>
          <a:p>
            <a:pPr algn="l">
              <a:lnSpc>
                <a:spcPct val="125000"/>
              </a:lnSpc>
              <a:spcAft>
                <a:spcPts val="600"/>
              </a:spcAft>
            </a:pPr>
            <a:r>
              <a:rPr sz="1300" b="1">
                <a:solidFill>
                  <a:srgbClr val="2E86C1"/>
                </a:solidFill>
                <a:latin typeface="Calibri"/>
              </a:rPr>
              <a:t>▸ </a:t>
            </a:r>
            <a:r>
              <a:rPr sz="1300" b="1">
                <a:solidFill>
                  <a:srgbClr val="1A1A1A"/>
                </a:solidFill>
                <a:latin typeface="Calibri"/>
              </a:rPr>
              <a:t>Activatie: </a:t>
            </a:r>
            <a:r>
              <a:rPr sz="1300">
                <a:solidFill>
                  <a:srgbClr val="1A1A1A"/>
                </a:solidFill>
                <a:latin typeface="Calibri"/>
              </a:rPr>
              <a:t>  ACT-&lt;JJJJ&gt;-NNNNN</a:t>
            </a:r>
          </a:p>
          <a:p>
            <a:pPr algn="l">
              <a:lnSpc>
                <a:spcPct val="125000"/>
              </a:lnSpc>
              <a:spcAft>
                <a:spcPts val="600"/>
              </a:spcAft>
            </a:pPr>
            <a:r>
              <a:rPr sz="1300" b="1">
                <a:solidFill>
                  <a:srgbClr val="2E86C1"/>
                </a:solidFill>
                <a:latin typeface="Calibri"/>
              </a:rPr>
              <a:t>▸ </a:t>
            </a:r>
            <a:r>
              <a:rPr sz="1300" b="1">
                <a:solidFill>
                  <a:srgbClr val="1A1A1A"/>
                </a:solidFill>
                <a:latin typeface="Calibri"/>
              </a:rPr>
              <a:t>Tracker: </a:t>
            </a:r>
            <a:r>
              <a:rPr sz="1300">
                <a:solidFill>
                  <a:srgbClr val="1A1A1A"/>
                </a:solidFill>
                <a:latin typeface="Calibri"/>
              </a:rPr>
              <a:t>  TRK-&lt;NNNNN&gt;-ST</a:t>
            </a:r>
          </a:p>
          <a:p>
            <a:pPr algn="l">
              <a:lnSpc>
                <a:spcPct val="125000"/>
              </a:lnSpc>
              <a:spcAft>
                <a:spcPts val="600"/>
              </a:spcAft>
            </a:pPr>
            <a:r>
              <a:rPr sz="1300" b="1">
                <a:solidFill>
                  <a:srgbClr val="2E86C1"/>
                </a:solidFill>
                <a:latin typeface="Calibri"/>
              </a:rPr>
              <a:t>▸ </a:t>
            </a:r>
            <a:r>
              <a:rPr sz="1300" b="1">
                <a:solidFill>
                  <a:srgbClr val="1A1A1A"/>
                </a:solidFill>
                <a:latin typeface="Calibri"/>
              </a:rPr>
              <a:t>Factuur: </a:t>
            </a:r>
            <a:r>
              <a:rPr sz="1300">
                <a:solidFill>
                  <a:srgbClr val="1A1A1A"/>
                </a:solidFill>
                <a:latin typeface="Calibri"/>
              </a:rPr>
              <a:t>  automatisch (oplopend)</a:t>
            </a:r>
          </a:p>
        </p:txBody>
      </p:sp>
      <p:sp>
        <p:nvSpPr>
          <p:cNvPr id="24" name="Rounded Rectangle 23"/>
          <p:cNvSpPr/>
          <p:nvPr/>
        </p:nvSpPr>
        <p:spPr>
          <a:xfrm>
            <a:off x="365760" y="4114800"/>
            <a:ext cx="11475720" cy="502920"/>
          </a:xfrm>
          <a:prstGeom prst="round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178808"/>
            <a:ext cx="10972800" cy="411480"/>
          </a:xfrm>
          <a:prstGeom prst="rect">
            <a:avLst/>
          </a:prstGeom>
          <a:noFill/>
        </p:spPr>
        <p:txBody>
          <a:bodyPr wrap="square" lIns="45720" rIns="45720" tIns="18288" bIns="18288" anchor="ctr">
            <a:spAutoFit/>
          </a:bodyPr>
          <a:lstStyle/>
          <a:p>
            <a:pPr algn="l">
              <a:lnSpc>
                <a:spcPct val="120000"/>
              </a:lnSpc>
            </a:pPr>
            <a:r>
              <a:rPr sz="1400" b="1">
                <a:solidFill>
                  <a:srgbClr val="1E3A5F"/>
                </a:solidFill>
                <a:latin typeface="Calibri"/>
              </a:rPr>
              <a:t>⚙️ Normalisatie via Z.preprocess – de gebruiker typt wat hij wil, Nexus zorgt voor correct formaat:</a:t>
            </a:r>
          </a:p>
        </p:txBody>
      </p:sp>
      <p:sp>
        <p:nvSpPr>
          <p:cNvPr id="26" name="Rectangle 25"/>
          <p:cNvSpPr/>
          <p:nvPr/>
        </p:nvSpPr>
        <p:spPr>
          <a:xfrm>
            <a:off x="1645920" y="4800600"/>
            <a:ext cx="9144000" cy="347472"/>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0240" y="4828032"/>
            <a:ext cx="4114800" cy="274320"/>
          </a:xfrm>
          <a:prstGeom prst="rect">
            <a:avLst/>
          </a:prstGeom>
          <a:noFill/>
        </p:spPr>
        <p:txBody>
          <a:bodyPr wrap="square" lIns="45720" rIns="45720" tIns="18288" bIns="18288" anchor="t">
            <a:spAutoFit/>
          </a:bodyPr>
          <a:lstStyle/>
          <a:p>
            <a:pPr algn="l">
              <a:lnSpc>
                <a:spcPct val="120000"/>
              </a:lnSpc>
            </a:pPr>
            <a:r>
              <a:rPr sz="1200" b="1">
                <a:solidFill>
                  <a:srgbClr val="FFFFFF"/>
                </a:solidFill>
                <a:latin typeface="Calibri"/>
              </a:rPr>
              <a:t>Gebruikersinvoer</a:t>
            </a:r>
          </a:p>
        </p:txBody>
      </p:sp>
      <p:sp>
        <p:nvSpPr>
          <p:cNvPr id="28" name="TextBox 27"/>
          <p:cNvSpPr txBox="1"/>
          <p:nvPr/>
        </p:nvSpPr>
        <p:spPr>
          <a:xfrm>
            <a:off x="6492240" y="4828032"/>
            <a:ext cx="4114800" cy="274320"/>
          </a:xfrm>
          <a:prstGeom prst="rect">
            <a:avLst/>
          </a:prstGeom>
          <a:noFill/>
        </p:spPr>
        <p:txBody>
          <a:bodyPr wrap="square" lIns="45720" rIns="45720" tIns="18288" bIns="18288" anchor="t">
            <a:spAutoFit/>
          </a:bodyPr>
          <a:lstStyle/>
          <a:p>
            <a:pPr algn="l">
              <a:lnSpc>
                <a:spcPct val="120000"/>
              </a:lnSpc>
            </a:pPr>
            <a:r>
              <a:rPr sz="1200" b="1">
                <a:solidFill>
                  <a:srgbClr val="FFFFFF"/>
                </a:solidFill>
                <a:latin typeface="Calibri"/>
              </a:rPr>
              <a:t>Gevalideerd &amp; Opgeslagen</a:t>
            </a:r>
          </a:p>
        </p:txBody>
      </p:sp>
      <p:sp>
        <p:nvSpPr>
          <p:cNvPr id="29" name="TextBox 28"/>
          <p:cNvSpPr txBox="1"/>
          <p:nvPr/>
        </p:nvSpPr>
        <p:spPr>
          <a:xfrm>
            <a:off x="1920240" y="5157216"/>
            <a:ext cx="4114800" cy="274320"/>
          </a:xfrm>
          <a:prstGeom prst="rect">
            <a:avLst/>
          </a:prstGeom>
          <a:noFill/>
        </p:spPr>
        <p:txBody>
          <a:bodyPr wrap="square" lIns="45720" rIns="45720" tIns="18288" bIns="18288" anchor="t">
            <a:spAutoFit/>
          </a:bodyPr>
          <a:lstStyle/>
          <a:p>
            <a:pPr algn="l">
              <a:lnSpc>
                <a:spcPct val="120000"/>
              </a:lnSpc>
            </a:pPr>
            <a:r>
              <a:rPr sz="1200" b="0">
                <a:solidFill>
                  <a:srgbClr val="1A1A1A"/>
                </a:solidFill>
                <a:latin typeface="Calibri"/>
              </a:rPr>
              <a:t>4901-5420-3237-518</a:t>
            </a:r>
          </a:p>
        </p:txBody>
      </p:sp>
      <p:sp>
        <p:nvSpPr>
          <p:cNvPr id="30" name="TextBox 29"/>
          <p:cNvSpPr txBox="1"/>
          <p:nvPr/>
        </p:nvSpPr>
        <p:spPr>
          <a:xfrm>
            <a:off x="6492240" y="5157216"/>
            <a:ext cx="4114800" cy="274320"/>
          </a:xfrm>
          <a:prstGeom prst="rect">
            <a:avLst/>
          </a:prstGeom>
          <a:noFill/>
        </p:spPr>
        <p:txBody>
          <a:bodyPr wrap="square" lIns="45720" rIns="45720" tIns="18288" bIns="18288" anchor="t">
            <a:spAutoFit/>
          </a:bodyPr>
          <a:lstStyle/>
          <a:p>
            <a:pPr algn="l">
              <a:lnSpc>
                <a:spcPct val="120000"/>
              </a:lnSpc>
            </a:pPr>
            <a:r>
              <a:rPr sz="1200" b="0">
                <a:solidFill>
                  <a:srgbClr val="1A1A1A"/>
                </a:solidFill>
                <a:latin typeface="Calibri"/>
              </a:rPr>
              <a:t>490154203237518</a:t>
            </a:r>
          </a:p>
        </p:txBody>
      </p:sp>
      <p:sp>
        <p:nvSpPr>
          <p:cNvPr id="31" name="Rectangle 30"/>
          <p:cNvSpPr/>
          <p:nvPr/>
        </p:nvSpPr>
        <p:spPr>
          <a:xfrm>
            <a:off x="1645920" y="5458968"/>
            <a:ext cx="9144000" cy="31089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920240" y="5486400"/>
            <a:ext cx="4114800" cy="274320"/>
          </a:xfrm>
          <a:prstGeom prst="rect">
            <a:avLst/>
          </a:prstGeom>
          <a:noFill/>
        </p:spPr>
        <p:txBody>
          <a:bodyPr wrap="square" lIns="45720" rIns="45720" tIns="18288" bIns="18288" anchor="t">
            <a:spAutoFit/>
          </a:bodyPr>
          <a:lstStyle/>
          <a:p>
            <a:pPr algn="l">
              <a:lnSpc>
                <a:spcPct val="120000"/>
              </a:lnSpc>
            </a:pPr>
            <a:r>
              <a:rPr sz="1200" b="0">
                <a:solidFill>
                  <a:srgbClr val="1A1A1A"/>
                </a:solidFill>
                <a:latin typeface="Calibri"/>
              </a:rPr>
              <a:t>4901 5420 3237 518  </a:t>
            </a:r>
          </a:p>
        </p:txBody>
      </p:sp>
      <p:sp>
        <p:nvSpPr>
          <p:cNvPr id="33" name="TextBox 32"/>
          <p:cNvSpPr txBox="1"/>
          <p:nvPr/>
        </p:nvSpPr>
        <p:spPr>
          <a:xfrm>
            <a:off x="6492240" y="5486400"/>
            <a:ext cx="4114800" cy="274320"/>
          </a:xfrm>
          <a:prstGeom prst="rect">
            <a:avLst/>
          </a:prstGeom>
          <a:noFill/>
        </p:spPr>
        <p:txBody>
          <a:bodyPr wrap="square" lIns="45720" rIns="45720" tIns="18288" bIns="18288" anchor="t">
            <a:spAutoFit/>
          </a:bodyPr>
          <a:lstStyle/>
          <a:p>
            <a:pPr algn="l">
              <a:lnSpc>
                <a:spcPct val="120000"/>
              </a:lnSpc>
            </a:pPr>
            <a:r>
              <a:rPr sz="1200" b="0">
                <a:solidFill>
                  <a:srgbClr val="1A1A1A"/>
                </a:solidFill>
                <a:latin typeface="Calibri"/>
              </a:rPr>
              <a:t>490154203237518</a:t>
            </a:r>
          </a:p>
        </p:txBody>
      </p:sp>
      <p:sp>
        <p:nvSpPr>
          <p:cNvPr id="34" name="TextBox 33"/>
          <p:cNvSpPr txBox="1"/>
          <p:nvPr/>
        </p:nvSpPr>
        <p:spPr>
          <a:xfrm>
            <a:off x="1920240" y="5815584"/>
            <a:ext cx="4114800" cy="274320"/>
          </a:xfrm>
          <a:prstGeom prst="rect">
            <a:avLst/>
          </a:prstGeom>
          <a:noFill/>
        </p:spPr>
        <p:txBody>
          <a:bodyPr wrap="square" lIns="45720" rIns="45720" tIns="18288" bIns="18288" anchor="t">
            <a:spAutoFit/>
          </a:bodyPr>
          <a:lstStyle/>
          <a:p>
            <a:pPr algn="l">
              <a:lnSpc>
                <a:spcPct val="120000"/>
              </a:lnSpc>
            </a:pPr>
            <a:r>
              <a:rPr sz="1200" b="0">
                <a:solidFill>
                  <a:srgbClr val="1A1A1A"/>
                </a:solidFill>
                <a:latin typeface="Calibri"/>
              </a:rPr>
              <a:t>89-310-4201234567890</a:t>
            </a:r>
          </a:p>
        </p:txBody>
      </p:sp>
      <p:sp>
        <p:nvSpPr>
          <p:cNvPr id="35" name="TextBox 34"/>
          <p:cNvSpPr txBox="1"/>
          <p:nvPr/>
        </p:nvSpPr>
        <p:spPr>
          <a:xfrm>
            <a:off x="6492240" y="5815584"/>
            <a:ext cx="4114800" cy="274320"/>
          </a:xfrm>
          <a:prstGeom prst="rect">
            <a:avLst/>
          </a:prstGeom>
          <a:noFill/>
        </p:spPr>
        <p:txBody>
          <a:bodyPr wrap="square" lIns="45720" rIns="45720" tIns="18288" bIns="18288" anchor="t">
            <a:spAutoFit/>
          </a:bodyPr>
          <a:lstStyle/>
          <a:p>
            <a:pPr algn="l">
              <a:lnSpc>
                <a:spcPct val="120000"/>
              </a:lnSpc>
            </a:pPr>
            <a:r>
              <a:rPr sz="1200" b="0">
                <a:solidFill>
                  <a:srgbClr val="1A1A1A"/>
                </a:solidFill>
                <a:latin typeface="Calibri"/>
              </a:rPr>
              <a:t>893104201234567890</a:t>
            </a:r>
          </a:p>
        </p:txBody>
      </p:sp>
      <p:sp>
        <p:nvSpPr>
          <p:cNvPr id="36" name="Rectangle 35"/>
          <p:cNvSpPr/>
          <p:nvPr/>
        </p:nvSpPr>
        <p:spPr>
          <a:xfrm>
            <a:off x="1645920" y="6117336"/>
            <a:ext cx="9144000" cy="31089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20240" y="6144768"/>
            <a:ext cx="4114800" cy="274320"/>
          </a:xfrm>
          <a:prstGeom prst="rect">
            <a:avLst/>
          </a:prstGeom>
          <a:noFill/>
        </p:spPr>
        <p:txBody>
          <a:bodyPr wrap="square" lIns="45720" rIns="45720" tIns="18288" bIns="18288" anchor="t">
            <a:spAutoFit/>
          </a:bodyPr>
          <a:lstStyle/>
          <a:p>
            <a:pPr algn="l">
              <a:lnSpc>
                <a:spcPct val="120000"/>
              </a:lnSpc>
            </a:pPr>
            <a:r>
              <a:rPr sz="1200" b="0">
                <a:solidFill>
                  <a:srgbClr val="1A1A1A"/>
                </a:solidFill>
                <a:latin typeface="Calibri"/>
              </a:rPr>
              <a:t>   K-2026 - 00012  </a:t>
            </a:r>
          </a:p>
        </p:txBody>
      </p:sp>
      <p:sp>
        <p:nvSpPr>
          <p:cNvPr id="38" name="TextBox 37"/>
          <p:cNvSpPr txBox="1"/>
          <p:nvPr/>
        </p:nvSpPr>
        <p:spPr>
          <a:xfrm>
            <a:off x="6492240" y="6144768"/>
            <a:ext cx="4114800" cy="274320"/>
          </a:xfrm>
          <a:prstGeom prst="rect">
            <a:avLst/>
          </a:prstGeom>
          <a:noFill/>
        </p:spPr>
        <p:txBody>
          <a:bodyPr wrap="square" lIns="45720" rIns="45720" tIns="18288" bIns="18288" anchor="t">
            <a:spAutoFit/>
          </a:bodyPr>
          <a:lstStyle/>
          <a:p>
            <a:pPr algn="l">
              <a:lnSpc>
                <a:spcPct val="120000"/>
              </a:lnSpc>
            </a:pPr>
            <a:r>
              <a:rPr sz="1200" b="0">
                <a:solidFill>
                  <a:srgbClr val="1A1A1A"/>
                </a:solidFill>
                <a:latin typeface="Calibri"/>
              </a:rPr>
              <a:t>K-2026-00012</a:t>
            </a:r>
          </a:p>
        </p:txBody>
      </p:sp>
      <p:sp>
        <p:nvSpPr>
          <p:cNvPr id="39" name="TextBox 38"/>
          <p:cNvSpPr txBox="1"/>
          <p:nvPr/>
        </p:nvSpPr>
        <p:spPr>
          <a:xfrm>
            <a:off x="1920240" y="6473952"/>
            <a:ext cx="4114800" cy="274320"/>
          </a:xfrm>
          <a:prstGeom prst="rect">
            <a:avLst/>
          </a:prstGeom>
          <a:noFill/>
        </p:spPr>
        <p:txBody>
          <a:bodyPr wrap="square" lIns="45720" rIns="45720" tIns="18288" bIns="18288" anchor="t">
            <a:spAutoFit/>
          </a:bodyPr>
          <a:lstStyle/>
          <a:p>
            <a:pPr algn="l">
              <a:lnSpc>
                <a:spcPct val="120000"/>
              </a:lnSpc>
            </a:pPr>
            <a:r>
              <a:rPr sz="1200" b="0">
                <a:solidFill>
                  <a:srgbClr val="1A1A1A"/>
                </a:solidFill>
                <a:latin typeface="Calibri"/>
              </a:rPr>
              <a:t>  TRK 00042 / ST   </a:t>
            </a:r>
          </a:p>
        </p:txBody>
      </p:sp>
      <p:sp>
        <p:nvSpPr>
          <p:cNvPr id="40" name="TextBox 39"/>
          <p:cNvSpPr txBox="1"/>
          <p:nvPr/>
        </p:nvSpPr>
        <p:spPr>
          <a:xfrm>
            <a:off x="6492240" y="6473952"/>
            <a:ext cx="4114800" cy="274320"/>
          </a:xfrm>
          <a:prstGeom prst="rect">
            <a:avLst/>
          </a:prstGeom>
          <a:noFill/>
        </p:spPr>
        <p:txBody>
          <a:bodyPr wrap="square" lIns="45720" rIns="45720" tIns="18288" bIns="18288" anchor="t">
            <a:spAutoFit/>
          </a:bodyPr>
          <a:lstStyle/>
          <a:p>
            <a:pPr algn="l">
              <a:lnSpc>
                <a:spcPct val="120000"/>
              </a:lnSpc>
            </a:pPr>
            <a:r>
              <a:rPr sz="1200" b="0">
                <a:solidFill>
                  <a:srgbClr val="1A1A1A"/>
                </a:solidFill>
                <a:latin typeface="Calibri"/>
              </a:rPr>
              <a:t>TRK-00042-ST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Beveiliging &amp; Data-bescherming</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Auth, wachtwoorden, rechten en soft-delete</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16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325880"/>
            <a:ext cx="3657600" cy="27432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417320"/>
            <a:ext cx="347472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90472"/>
            <a:ext cx="320040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Authenticatie (Auth.js V5)</a:t>
            </a:r>
          </a:p>
        </p:txBody>
      </p:sp>
      <p:sp>
        <p:nvSpPr>
          <p:cNvPr id="15" name="TextBox 14"/>
          <p:cNvSpPr txBox="1"/>
          <p:nvPr/>
        </p:nvSpPr>
        <p:spPr>
          <a:xfrm>
            <a:off x="594360" y="2011680"/>
            <a:ext cx="3200400" cy="192024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E-mail </a:t>
            </a:r>
            <a:r>
              <a:rPr sz="1300">
                <a:solidFill>
                  <a:srgbClr val="1A1A1A"/>
                </a:solidFill>
                <a:latin typeface="Calibri"/>
              </a:rPr>
              <a:t>+ Wachtwoord (Credentials)</a:t>
            </a:r>
          </a:p>
          <a:p>
            <a:pPr algn="l">
              <a:lnSpc>
                <a:spcPct val="125000"/>
              </a:lnSpc>
              <a:spcAft>
                <a:spcPts val="600"/>
              </a:spcAft>
            </a:pPr>
            <a:r>
              <a:rPr sz="1300" b="1">
                <a:solidFill>
                  <a:srgbClr val="2E86C1"/>
                </a:solidFill>
                <a:latin typeface="Calibri"/>
              </a:rPr>
              <a:t>▸ </a:t>
            </a:r>
            <a:r>
              <a:rPr sz="1300" b="1">
                <a:solidFill>
                  <a:srgbClr val="1A1A1A"/>
                </a:solidFill>
                <a:latin typeface="Calibri"/>
              </a:rPr>
              <a:t>Wachtwoorden: </a:t>
            </a:r>
            <a:r>
              <a:rPr sz="1300">
                <a:solidFill>
                  <a:srgbClr val="1A1A1A"/>
                </a:solidFill>
                <a:latin typeface="Calibri"/>
              </a:rPr>
              <a:t>bcrypt cost-factor=12</a:t>
            </a:r>
          </a:p>
          <a:p>
            <a:pPr algn="l">
              <a:lnSpc>
                <a:spcPct val="125000"/>
              </a:lnSpc>
              <a:spcAft>
                <a:spcPts val="600"/>
              </a:spcAft>
            </a:pPr>
            <a:r>
              <a:rPr sz="1300" b="1">
                <a:solidFill>
                  <a:srgbClr val="2E86C1"/>
                </a:solidFill>
                <a:latin typeface="Calibri"/>
              </a:rPr>
              <a:t>▸ </a:t>
            </a:r>
            <a:r>
              <a:rPr sz="1300" b="1">
                <a:solidFill>
                  <a:srgbClr val="1A1A1A"/>
                </a:solidFill>
                <a:latin typeface="Calibri"/>
              </a:rPr>
              <a:t>Sessie-cookie: </a:t>
            </a:r>
            <a:r>
              <a:rPr sz="1300">
                <a:solidFill>
                  <a:srgbClr val="1A1A1A"/>
                </a:solidFill>
                <a:latin typeface="Calibri"/>
              </a:rPr>
              <a:t>HttpOnly, Secure, SameSite</a:t>
            </a:r>
          </a:p>
          <a:p>
            <a:pPr algn="l">
              <a:lnSpc>
                <a:spcPct val="125000"/>
              </a:lnSpc>
              <a:spcAft>
                <a:spcPts val="600"/>
              </a:spcAft>
            </a:pPr>
            <a:r>
              <a:rPr sz="1300" b="1">
                <a:solidFill>
                  <a:srgbClr val="2E86C1"/>
                </a:solidFill>
                <a:latin typeface="Calibri"/>
              </a:rPr>
              <a:t>▸ </a:t>
            </a:r>
            <a:r>
              <a:rPr sz="1300" b="1">
                <a:solidFill>
                  <a:srgbClr val="1A1A1A"/>
                </a:solidFill>
                <a:latin typeface="Calibri"/>
              </a:rPr>
              <a:t>AUTH_SECRET: </a:t>
            </a:r>
            <a:r>
              <a:rPr sz="1300">
                <a:solidFill>
                  <a:srgbClr val="1A1A1A"/>
                </a:solidFill>
                <a:latin typeface="Calibri"/>
              </a:rPr>
              <a:t>32+ bytes (openssl rand)</a:t>
            </a:r>
          </a:p>
          <a:p>
            <a:pPr algn="l">
              <a:lnSpc>
                <a:spcPct val="125000"/>
              </a:lnSpc>
              <a:spcAft>
                <a:spcPts val="600"/>
              </a:spcAft>
            </a:pPr>
            <a:r>
              <a:rPr sz="1300" b="1">
                <a:solidFill>
                  <a:srgbClr val="2E86C1"/>
                </a:solidFill>
                <a:latin typeface="Calibri"/>
              </a:rPr>
              <a:t>▸ </a:t>
            </a:r>
            <a:r>
              <a:rPr sz="1300" b="1">
                <a:solidFill>
                  <a:srgbClr val="1A1A1A"/>
                </a:solidFill>
                <a:latin typeface="Calibri"/>
              </a:rPr>
              <a:t>Nieuwe </a:t>
            </a:r>
            <a:r>
              <a:rPr sz="1300">
                <a:solidFill>
                  <a:srgbClr val="1A1A1A"/>
                </a:solidFill>
                <a:latin typeface="Calibri"/>
              </a:rPr>
              <a:t>gebruikers: uitnodiging door ADMIN</a:t>
            </a:r>
          </a:p>
        </p:txBody>
      </p:sp>
      <p:sp>
        <p:nvSpPr>
          <p:cNvPr id="16" name="Rounded Rectangle 15"/>
          <p:cNvSpPr/>
          <p:nvPr/>
        </p:nvSpPr>
        <p:spPr>
          <a:xfrm>
            <a:off x="4251960" y="1325880"/>
            <a:ext cx="3657600" cy="27432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43400" y="1417320"/>
            <a:ext cx="3474720" cy="50292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1490472"/>
            <a:ext cx="320040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Role-Based Access Control</a:t>
            </a:r>
          </a:p>
        </p:txBody>
      </p:sp>
      <p:sp>
        <p:nvSpPr>
          <p:cNvPr id="19" name="TextBox 18"/>
          <p:cNvSpPr txBox="1"/>
          <p:nvPr/>
        </p:nvSpPr>
        <p:spPr>
          <a:xfrm>
            <a:off x="4480560" y="2011680"/>
            <a:ext cx="3200400" cy="192024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3 </a:t>
            </a:r>
            <a:r>
              <a:rPr sz="1300">
                <a:solidFill>
                  <a:srgbClr val="1A1A1A"/>
                </a:solidFill>
                <a:latin typeface="Calibri"/>
              </a:rPr>
              <a:t>Rollen: ADMIN / EMPLOYEE / VIEWER</a:t>
            </a:r>
          </a:p>
          <a:p>
            <a:pPr algn="l">
              <a:lnSpc>
                <a:spcPct val="125000"/>
              </a:lnSpc>
              <a:spcAft>
                <a:spcPts val="600"/>
              </a:spcAft>
            </a:pPr>
            <a:r>
              <a:rPr sz="1300" b="1">
                <a:solidFill>
                  <a:srgbClr val="2E86C1"/>
                </a:solidFill>
                <a:latin typeface="Calibri"/>
              </a:rPr>
              <a:t>▸ </a:t>
            </a:r>
            <a:r>
              <a:rPr sz="1300" b="1">
                <a:solidFill>
                  <a:srgbClr val="1A1A1A"/>
                </a:solidFill>
                <a:latin typeface="Calibri"/>
              </a:rPr>
              <a:t>withAuth() </a:t>
            </a:r>
            <a:r>
              <a:rPr sz="1300">
                <a:solidFill>
                  <a:srgbClr val="1A1A1A"/>
                </a:solidFill>
                <a:latin typeface="Calibri"/>
              </a:rPr>
              <a:t>wrapper op elke Server Action</a:t>
            </a:r>
          </a:p>
          <a:p>
            <a:pPr algn="l">
              <a:lnSpc>
                <a:spcPct val="125000"/>
              </a:lnSpc>
              <a:spcAft>
                <a:spcPts val="600"/>
              </a:spcAft>
            </a:pPr>
            <a:r>
              <a:rPr sz="1300" b="1">
                <a:solidFill>
                  <a:srgbClr val="2E86C1"/>
                </a:solidFill>
                <a:latin typeface="Calibri"/>
              </a:rPr>
              <a:t>▸ </a:t>
            </a:r>
            <a:r>
              <a:rPr sz="1300" b="1">
                <a:solidFill>
                  <a:srgbClr val="1A1A1A"/>
                </a:solidFill>
                <a:latin typeface="Calibri"/>
              </a:rPr>
              <a:t>requirePermission() </a:t>
            </a:r>
            <a:r>
              <a:rPr sz="1300">
                <a:solidFill>
                  <a:srgbClr val="1A1A1A"/>
                </a:solidFill>
                <a:latin typeface="Calibri"/>
              </a:rPr>
              <a:t>expliciet per actie</a:t>
            </a:r>
          </a:p>
          <a:p>
            <a:pPr algn="l">
              <a:lnSpc>
                <a:spcPct val="125000"/>
              </a:lnSpc>
              <a:spcAft>
                <a:spcPts val="600"/>
              </a:spcAft>
            </a:pPr>
            <a:r>
              <a:rPr sz="1300" b="1">
                <a:solidFill>
                  <a:srgbClr val="2E86C1"/>
                </a:solidFill>
                <a:latin typeface="Calibri"/>
              </a:rPr>
              <a:t>▸ </a:t>
            </a:r>
            <a:r>
              <a:rPr sz="1300" b="1">
                <a:solidFill>
                  <a:srgbClr val="1A1A1A"/>
                </a:solidFill>
                <a:latin typeface="Calibri"/>
              </a:rPr>
              <a:t>403 </a:t>
            </a:r>
            <a:r>
              <a:rPr sz="1300">
                <a:solidFill>
                  <a:srgbClr val="1A1A1A"/>
                </a:solidFill>
                <a:latin typeface="Calibri"/>
              </a:rPr>
              <a:t>PermissionError + Forbidden pagina</a:t>
            </a:r>
          </a:p>
          <a:p>
            <a:pPr algn="l">
              <a:lnSpc>
                <a:spcPct val="125000"/>
              </a:lnSpc>
              <a:spcAft>
                <a:spcPts val="600"/>
              </a:spcAft>
            </a:pPr>
            <a:r>
              <a:rPr sz="1300" b="1">
                <a:solidFill>
                  <a:srgbClr val="2E86C1"/>
                </a:solidFill>
                <a:latin typeface="Calibri"/>
              </a:rPr>
              <a:t>▸ </a:t>
            </a:r>
            <a:r>
              <a:rPr sz="1300" b="1">
                <a:solidFill>
                  <a:srgbClr val="1A1A1A"/>
                </a:solidFill>
                <a:latin typeface="Calibri"/>
              </a:rPr>
              <a:t>Frontend </a:t>
            </a:r>
            <a:r>
              <a:rPr sz="1300">
                <a:solidFill>
                  <a:srgbClr val="1A1A1A"/>
                </a:solidFill>
                <a:latin typeface="Calibri"/>
              </a:rPr>
              <a:t>UI: knoppen verborgen waar nodig</a:t>
            </a:r>
          </a:p>
        </p:txBody>
      </p:sp>
      <p:sp>
        <p:nvSpPr>
          <p:cNvPr id="20" name="Rounded Rectangle 19"/>
          <p:cNvSpPr/>
          <p:nvPr/>
        </p:nvSpPr>
        <p:spPr>
          <a:xfrm>
            <a:off x="8138160" y="1325880"/>
            <a:ext cx="3657600" cy="27432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29600" y="1417320"/>
            <a:ext cx="3474720" cy="50292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490472"/>
            <a:ext cx="320040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Deployment Beveiliging</a:t>
            </a:r>
          </a:p>
        </p:txBody>
      </p:sp>
      <p:sp>
        <p:nvSpPr>
          <p:cNvPr id="23" name="TextBox 22"/>
          <p:cNvSpPr txBox="1"/>
          <p:nvPr/>
        </p:nvSpPr>
        <p:spPr>
          <a:xfrm>
            <a:off x="8366760" y="2011680"/>
            <a:ext cx="3200400" cy="192024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Docker </a:t>
            </a:r>
            <a:r>
              <a:rPr sz="1300">
                <a:solidFill>
                  <a:srgbClr val="1A1A1A"/>
                </a:solidFill>
                <a:latin typeface="Calibri"/>
              </a:rPr>
              <a:t>containers: non-root user 'nextjs'</a:t>
            </a:r>
          </a:p>
          <a:p>
            <a:pPr algn="l">
              <a:lnSpc>
                <a:spcPct val="125000"/>
              </a:lnSpc>
              <a:spcAft>
                <a:spcPts val="600"/>
              </a:spcAft>
            </a:pPr>
            <a:r>
              <a:rPr sz="1300" b="1">
                <a:solidFill>
                  <a:srgbClr val="2E86C1"/>
                </a:solidFill>
                <a:latin typeface="Calibri"/>
              </a:rPr>
              <a:t>▸ </a:t>
            </a:r>
            <a:r>
              <a:rPr sz="1300" b="1">
                <a:solidFill>
                  <a:srgbClr val="1A1A1A"/>
                </a:solidFill>
                <a:latin typeface="Calibri"/>
              </a:rPr>
              <a:t>Caddy: </a:t>
            </a:r>
            <a:r>
              <a:rPr sz="1300">
                <a:solidFill>
                  <a:srgbClr val="1A1A1A"/>
                </a:solidFill>
                <a:latin typeface="Calibri"/>
              </a:rPr>
              <a:t>HTTPS (Let's Encrypt auto)</a:t>
            </a:r>
          </a:p>
          <a:p>
            <a:pPr algn="l">
              <a:lnSpc>
                <a:spcPct val="125000"/>
              </a:lnSpc>
              <a:spcAft>
                <a:spcPts val="600"/>
              </a:spcAft>
            </a:pPr>
            <a:r>
              <a:rPr sz="1300" b="1">
                <a:solidFill>
                  <a:srgbClr val="2E86C1"/>
                </a:solidFill>
                <a:latin typeface="Calibri"/>
              </a:rPr>
              <a:t>▸ </a:t>
            </a:r>
            <a:r>
              <a:rPr sz="1300" b="1">
                <a:solidFill>
                  <a:srgbClr val="1A1A1A"/>
                </a:solidFill>
                <a:latin typeface="Calibri"/>
              </a:rPr>
              <a:t>Security </a:t>
            </a:r>
            <a:r>
              <a:rPr sz="1300">
                <a:solidFill>
                  <a:srgbClr val="1A1A1A"/>
                </a:solidFill>
                <a:latin typeface="Calibri"/>
              </a:rPr>
              <a:t>headers (HSTS, X-Frame-Options)</a:t>
            </a:r>
          </a:p>
          <a:p>
            <a:pPr algn="l">
              <a:lnSpc>
                <a:spcPct val="125000"/>
              </a:lnSpc>
              <a:spcAft>
                <a:spcPts val="600"/>
              </a:spcAft>
            </a:pPr>
            <a:r>
              <a:rPr sz="1300" b="1">
                <a:solidFill>
                  <a:srgbClr val="2E86C1"/>
                </a:solidFill>
                <a:latin typeface="Calibri"/>
              </a:rPr>
              <a:t>▸ </a:t>
            </a:r>
            <a:r>
              <a:rPr sz="1300" b="1">
                <a:solidFill>
                  <a:srgbClr val="1A1A1A"/>
                </a:solidFill>
                <a:latin typeface="Calibri"/>
              </a:rPr>
              <a:t>Database: </a:t>
            </a:r>
            <a:r>
              <a:rPr sz="1300">
                <a:solidFill>
                  <a:srgbClr val="1A1A1A"/>
                </a:solidFill>
                <a:latin typeface="Calibri"/>
              </a:rPr>
              <a:t>NIET publiek toegankelijk</a:t>
            </a:r>
          </a:p>
          <a:p>
            <a:pPr algn="l">
              <a:lnSpc>
                <a:spcPct val="125000"/>
              </a:lnSpc>
              <a:spcAft>
                <a:spcPts val="600"/>
              </a:spcAft>
            </a:pPr>
            <a:r>
              <a:rPr sz="1300" b="1">
                <a:solidFill>
                  <a:srgbClr val="2E86C1"/>
                </a:solidFill>
                <a:latin typeface="Calibri"/>
              </a:rPr>
              <a:t>▸ </a:t>
            </a:r>
            <a:r>
              <a:rPr sz="1300" b="1">
                <a:solidFill>
                  <a:srgbClr val="1A1A1A"/>
                </a:solidFill>
                <a:latin typeface="Calibri"/>
              </a:rPr>
              <a:t>App-DB </a:t>
            </a:r>
            <a:r>
              <a:rPr sz="1300">
                <a:solidFill>
                  <a:srgbClr val="1A1A1A"/>
                </a:solidFill>
                <a:latin typeface="Calibri"/>
              </a:rPr>
              <a:t>communicatie binnen Docker netwerk</a:t>
            </a:r>
          </a:p>
        </p:txBody>
      </p:sp>
      <p:sp>
        <p:nvSpPr>
          <p:cNvPr id="24" name="Rounded Rectangle 23"/>
          <p:cNvSpPr/>
          <p:nvPr/>
        </p:nvSpPr>
        <p:spPr>
          <a:xfrm>
            <a:off x="365760" y="4297680"/>
            <a:ext cx="5669280" cy="2103120"/>
          </a:xfrm>
          <a:prstGeom prst="roundRect">
            <a:avLst/>
          </a:prstGeom>
          <a:solidFill>
            <a:srgbClr val="ECFDF5"/>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389120"/>
            <a:ext cx="5303520" cy="411480"/>
          </a:xfrm>
          <a:prstGeom prst="rect">
            <a:avLst/>
          </a:prstGeom>
          <a:noFill/>
        </p:spPr>
        <p:txBody>
          <a:bodyPr wrap="square" lIns="45720" rIns="45720" tIns="18288" bIns="18288" anchor="t">
            <a:spAutoFit/>
          </a:bodyPr>
          <a:lstStyle/>
          <a:p>
            <a:pPr algn="l">
              <a:lnSpc>
                <a:spcPct val="120000"/>
              </a:lnSpc>
            </a:pPr>
            <a:r>
              <a:rPr sz="1600" b="1">
                <a:solidFill>
                  <a:srgbClr val="1E3A5F"/>
                </a:solidFill>
                <a:latin typeface="Calibri"/>
              </a:rPr>
              <a:t>♻️ Soft-Delete – Data gaat NOOIT verloren</a:t>
            </a:r>
          </a:p>
        </p:txBody>
      </p:sp>
      <p:sp>
        <p:nvSpPr>
          <p:cNvPr id="26" name="TextBox 25"/>
          <p:cNvSpPr txBox="1"/>
          <p:nvPr/>
        </p:nvSpPr>
        <p:spPr>
          <a:xfrm>
            <a:off x="640080" y="4846320"/>
            <a:ext cx="5120640" cy="1463040"/>
          </a:xfrm>
          <a:prstGeom prst="rect">
            <a:avLst/>
          </a:prstGeom>
          <a:noFill/>
        </p:spPr>
        <p:txBody>
          <a:bodyPr wrap="square">
            <a:spAutoFit/>
          </a:bodyPr>
          <a:lstStyle/>
          <a:p>
            <a:pPr algn="l">
              <a:lnSpc>
                <a:spcPct val="125000"/>
              </a:lnSpc>
              <a:spcAft>
                <a:spcPts val="600"/>
              </a:spcAft>
            </a:pPr>
            <a:r>
              <a:rPr sz="1200" b="1">
                <a:solidFill>
                  <a:srgbClr val="16A34A"/>
                </a:solidFill>
                <a:latin typeface="Calibri"/>
              </a:rPr>
              <a:t>▸ </a:t>
            </a:r>
            <a:r>
              <a:rPr sz="1200">
                <a:solidFill>
                  <a:srgbClr val="1A1A1A"/>
                </a:solidFill>
                <a:latin typeface="Calibri"/>
              </a:rPr>
              <a:t>deletedAt DateTime? veld op alle entiteiten (behalve Producten: isActive)</a:t>
            </a:r>
          </a:p>
          <a:p>
            <a:pPr algn="l">
              <a:lnSpc>
                <a:spcPct val="125000"/>
              </a:lnSpc>
              <a:spcAft>
                <a:spcPts val="600"/>
              </a:spcAft>
            </a:pPr>
            <a:r>
              <a:rPr sz="1200" b="1">
                <a:solidFill>
                  <a:srgbClr val="16A34A"/>
                </a:solidFill>
                <a:latin typeface="Calibri"/>
              </a:rPr>
              <a:t>▸ </a:t>
            </a:r>
            <a:r>
              <a:rPr sz="1200">
                <a:solidFill>
                  <a:srgbClr val="1A1A1A"/>
                </a:solidFill>
                <a:latin typeface="Calibri"/>
              </a:rPr>
              <a:t>Standaard queries: WHERE deletedAt IS NULL</a:t>
            </a:r>
          </a:p>
          <a:p>
            <a:pPr algn="l">
              <a:lnSpc>
                <a:spcPct val="125000"/>
              </a:lnSpc>
              <a:spcAft>
                <a:spcPts val="600"/>
              </a:spcAft>
            </a:pPr>
            <a:r>
              <a:rPr sz="1200" b="1">
                <a:solidFill>
                  <a:srgbClr val="16A34A"/>
                </a:solidFill>
                <a:latin typeface="Calibri"/>
              </a:rPr>
              <a:t>▸ </a:t>
            </a:r>
            <a:r>
              <a:rPr sz="1200">
                <a:solidFill>
                  <a:srgbClr val="1A1A1A"/>
                </a:solidFill>
                <a:latin typeface="Calibri"/>
              </a:rPr>
              <a:t>Audit log registreert DELETE actie met userId</a:t>
            </a:r>
          </a:p>
          <a:p>
            <a:pPr algn="l">
              <a:lnSpc>
                <a:spcPct val="125000"/>
              </a:lnSpc>
              <a:spcAft>
                <a:spcPts val="600"/>
              </a:spcAft>
            </a:pPr>
            <a:r>
              <a:rPr sz="1200" b="1">
                <a:solidFill>
                  <a:srgbClr val="16A34A"/>
                </a:solidFill>
                <a:latin typeface="Calibri"/>
              </a:rPr>
              <a:t>▸ </a:t>
            </a:r>
            <a:r>
              <a:rPr sz="1200">
                <a:solidFill>
                  <a:srgbClr val="1A1A1A"/>
                </a:solidFill>
                <a:latin typeface="Calibri"/>
              </a:rPr>
              <a:t>Herstel mogelijk via database (geen UI, bewust)</a:t>
            </a:r>
          </a:p>
        </p:txBody>
      </p:sp>
      <p:sp>
        <p:nvSpPr>
          <p:cNvPr id="27" name="Rounded Rectangle 26"/>
          <p:cNvSpPr/>
          <p:nvPr/>
        </p:nvSpPr>
        <p:spPr>
          <a:xfrm>
            <a:off x="6172200" y="4297680"/>
            <a:ext cx="5669280" cy="2103120"/>
          </a:xfrm>
          <a:prstGeom prst="roundRect">
            <a:avLst/>
          </a:prstGeom>
          <a:solidFill>
            <a:srgbClr val="E0E7FF"/>
          </a:solidFill>
          <a:ln w="12700">
            <a:solidFill>
              <a:srgbClr val="818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80" y="4389120"/>
            <a:ext cx="5303520" cy="411480"/>
          </a:xfrm>
          <a:prstGeom prst="rect">
            <a:avLst/>
          </a:prstGeom>
          <a:noFill/>
        </p:spPr>
        <p:txBody>
          <a:bodyPr wrap="square" lIns="45720" rIns="45720" tIns="18288" bIns="18288" anchor="t">
            <a:spAutoFit/>
          </a:bodyPr>
          <a:lstStyle/>
          <a:p>
            <a:pPr algn="l">
              <a:lnSpc>
                <a:spcPct val="120000"/>
              </a:lnSpc>
            </a:pPr>
            <a:r>
              <a:rPr sz="1600" b="1">
                <a:solidFill>
                  <a:srgbClr val="1E3A5F"/>
                </a:solidFill>
                <a:latin typeface="Calibri"/>
              </a:rPr>
              <a:t>🧱 Middleware &amp; Server Actions</a:t>
            </a:r>
          </a:p>
        </p:txBody>
      </p:sp>
      <p:sp>
        <p:nvSpPr>
          <p:cNvPr id="29" name="TextBox 28"/>
          <p:cNvSpPr txBox="1"/>
          <p:nvPr/>
        </p:nvSpPr>
        <p:spPr>
          <a:xfrm>
            <a:off x="6446520" y="4846320"/>
            <a:ext cx="5120640" cy="1463040"/>
          </a:xfrm>
          <a:prstGeom prst="rect">
            <a:avLst/>
          </a:prstGeom>
          <a:noFill/>
        </p:spPr>
        <p:txBody>
          <a:bodyPr wrap="square">
            <a:spAutoFit/>
          </a:bodyPr>
          <a:lstStyle/>
          <a:p>
            <a:pPr algn="l">
              <a:lnSpc>
                <a:spcPct val="125000"/>
              </a:lnSpc>
              <a:spcAft>
                <a:spcPts val="600"/>
              </a:spcAft>
            </a:pPr>
            <a:r>
              <a:rPr sz="1200" b="1">
                <a:solidFill>
                  <a:srgbClr val="2E86C1"/>
                </a:solidFill>
                <a:latin typeface="Calibri"/>
              </a:rPr>
              <a:t>▸ </a:t>
            </a:r>
            <a:r>
              <a:rPr sz="1200">
                <a:solidFill>
                  <a:srgbClr val="1A1A1A"/>
                </a:solidFill>
                <a:latin typeface="Calibri"/>
              </a:rPr>
              <a:t>Next.js Middleware checkt sessie op alle /(app) routes</a:t>
            </a:r>
          </a:p>
          <a:p>
            <a:pPr algn="l">
              <a:lnSpc>
                <a:spcPct val="125000"/>
              </a:lnSpc>
              <a:spcAft>
                <a:spcPts val="600"/>
              </a:spcAft>
            </a:pPr>
            <a:r>
              <a:rPr sz="1200" b="1">
                <a:solidFill>
                  <a:srgbClr val="2E86C1"/>
                </a:solidFill>
                <a:latin typeface="Calibri"/>
              </a:rPr>
              <a:t>▸ </a:t>
            </a:r>
            <a:r>
              <a:rPr sz="1200">
                <a:solidFill>
                  <a:srgbClr val="1A1A1A"/>
                </a:solidFill>
                <a:latin typeface="Calibri"/>
              </a:rPr>
              <a:t>Ongeauthentiseerd → redirect naar /login</a:t>
            </a:r>
          </a:p>
          <a:p>
            <a:pPr algn="l">
              <a:lnSpc>
                <a:spcPct val="125000"/>
              </a:lnSpc>
              <a:spcAft>
                <a:spcPts val="600"/>
              </a:spcAft>
            </a:pPr>
            <a:r>
              <a:rPr sz="1200" b="1">
                <a:solidFill>
                  <a:srgbClr val="2E86C1"/>
                </a:solidFill>
                <a:latin typeface="Calibri"/>
              </a:rPr>
              <a:t>▸ </a:t>
            </a:r>
            <a:r>
              <a:rPr sz="1200">
                <a:solidFill>
                  <a:srgbClr val="1A1A1A"/>
                </a:solidFill>
                <a:latin typeface="Calibri"/>
              </a:rPr>
              <a:t>Server Actions = backend-code: NOOIT in client bundle</a:t>
            </a:r>
          </a:p>
          <a:p>
            <a:pPr algn="l">
              <a:lnSpc>
                <a:spcPct val="125000"/>
              </a:lnSpc>
              <a:spcAft>
                <a:spcPts val="600"/>
              </a:spcAft>
            </a:pPr>
            <a:r>
              <a:rPr sz="1200" b="1">
                <a:solidFill>
                  <a:srgbClr val="2E86C1"/>
                </a:solidFill>
                <a:latin typeface="Calibri"/>
              </a:rPr>
              <a:t>▸ </a:t>
            </a:r>
            <a:r>
              <a:rPr sz="1200">
                <a:solidFill>
                  <a:srgbClr val="1A1A1A"/>
                </a:solidFill>
                <a:latin typeface="Calibri"/>
              </a:rPr>
              <a:t>Geen anonieme toegang tot data (geen publieke API)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Inserve Integratie</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Optionele koppeling met Inserve (telecom/MDM platform)</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17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325880"/>
            <a:ext cx="5669280" cy="23774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417320"/>
            <a:ext cx="548640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ℹ️ Wat is Inserve?</a:t>
            </a:r>
          </a:p>
        </p:txBody>
      </p:sp>
      <p:sp>
        <p:nvSpPr>
          <p:cNvPr id="15" name="TextBox 14"/>
          <p:cNvSpPr txBox="1"/>
          <p:nvPr/>
        </p:nvSpPr>
        <p:spPr>
          <a:xfrm>
            <a:off x="594360" y="2011680"/>
            <a:ext cx="5212080" cy="155448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Extern </a:t>
            </a:r>
            <a:r>
              <a:rPr sz="1300">
                <a:solidFill>
                  <a:srgbClr val="1A1A1A"/>
                </a:solidFill>
                <a:latin typeface="Calibri"/>
              </a:rPr>
              <a:t>telecom/M2M platform voor SIM-management</a:t>
            </a:r>
          </a:p>
          <a:p>
            <a:pPr algn="l">
              <a:lnSpc>
                <a:spcPct val="125000"/>
              </a:lnSpc>
              <a:spcAft>
                <a:spcPts val="600"/>
              </a:spcAft>
            </a:pPr>
            <a:r>
              <a:rPr sz="1300" b="1">
                <a:solidFill>
                  <a:srgbClr val="2E86C1"/>
                </a:solidFill>
                <a:latin typeface="Calibri"/>
              </a:rPr>
              <a:t>▸ </a:t>
            </a:r>
            <a:r>
              <a:rPr sz="1300" b="1">
                <a:solidFill>
                  <a:srgbClr val="1A1A1A"/>
                </a:solidFill>
                <a:latin typeface="Calibri"/>
              </a:rPr>
              <a:t>Leverancier </a:t>
            </a:r>
            <a:r>
              <a:rPr sz="1300">
                <a:solidFill>
                  <a:srgbClr val="1A1A1A"/>
                </a:solidFill>
                <a:latin typeface="Calibri"/>
              </a:rPr>
              <a:t>van M2M SIM-kaarten en activeringen</a:t>
            </a:r>
          </a:p>
          <a:p>
            <a:pPr algn="l">
              <a:lnSpc>
                <a:spcPct val="125000"/>
              </a:lnSpc>
              <a:spcAft>
                <a:spcPts val="600"/>
              </a:spcAft>
            </a:pPr>
            <a:r>
              <a:rPr sz="1300" b="1">
                <a:solidFill>
                  <a:srgbClr val="2E86C1"/>
                </a:solidFill>
                <a:latin typeface="Calibri"/>
              </a:rPr>
              <a:t>▸ </a:t>
            </a:r>
            <a:r>
              <a:rPr sz="1300" b="1">
                <a:solidFill>
                  <a:srgbClr val="1A1A1A"/>
                </a:solidFill>
                <a:latin typeface="Calibri"/>
              </a:rPr>
              <a:t>Nexus </a:t>
            </a:r>
            <a:r>
              <a:rPr sz="1300">
                <a:solidFill>
                  <a:srgbClr val="1A1A1A"/>
                </a:solidFill>
                <a:latin typeface="Calibri"/>
              </a:rPr>
              <a:t>synchroniseert abonnementen 1-richting naar Inserve</a:t>
            </a:r>
          </a:p>
          <a:p>
            <a:pPr algn="l">
              <a:lnSpc>
                <a:spcPct val="125000"/>
              </a:lnSpc>
              <a:spcAft>
                <a:spcPts val="600"/>
              </a:spcAft>
            </a:pPr>
            <a:r>
              <a:rPr sz="1300" b="1">
                <a:solidFill>
                  <a:srgbClr val="2E86C1"/>
                </a:solidFill>
                <a:latin typeface="Calibri"/>
              </a:rPr>
              <a:t>▸ </a:t>
            </a:r>
            <a:r>
              <a:rPr sz="1300" b="1">
                <a:solidFill>
                  <a:srgbClr val="1A1A1A"/>
                </a:solidFill>
                <a:latin typeface="Calibri"/>
              </a:rPr>
              <a:t>Optioneel: </a:t>
            </a:r>
            <a:r>
              <a:rPr sz="1300">
                <a:solidFill>
                  <a:srgbClr val="1A1A1A"/>
                </a:solidFill>
                <a:latin typeface="Calibri"/>
              </a:rPr>
              <a:t>uit te zetten per abonnement (status PENDING/IN_PROGRESS/SYNCED/FAILED)</a:t>
            </a:r>
          </a:p>
        </p:txBody>
      </p:sp>
      <p:sp>
        <p:nvSpPr>
          <p:cNvPr id="16" name="Rounded Rectangle 15"/>
          <p:cNvSpPr/>
          <p:nvPr/>
        </p:nvSpPr>
        <p:spPr>
          <a:xfrm>
            <a:off x="6172200" y="1325880"/>
            <a:ext cx="5669280" cy="23774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1417320"/>
            <a:ext cx="5486400" cy="50292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90472"/>
            <a:ext cx="5212080" cy="365760"/>
          </a:xfrm>
          <a:prstGeom prst="rect">
            <a:avLst/>
          </a:prstGeom>
          <a:noFill/>
        </p:spPr>
        <p:txBody>
          <a:bodyPr wrap="square" lIns="45720" rIns="45720" tIns="18288" bIns="18288" anchor="t">
            <a:spAutoFit/>
          </a:bodyPr>
          <a:lstStyle/>
          <a:p>
            <a:pPr algn="l">
              <a:lnSpc>
                <a:spcPct val="120000"/>
              </a:lnSpc>
            </a:pPr>
            <a:r>
              <a:rPr sz="1500" b="1">
                <a:solidFill>
                  <a:srgbClr val="FFFFFF"/>
                </a:solidFill>
                <a:latin typeface="Calibri"/>
              </a:rPr>
              <a:t>ℹ️  🔄 Sync Statussen (per abonnement)</a:t>
            </a:r>
          </a:p>
        </p:txBody>
      </p:sp>
      <p:sp>
        <p:nvSpPr>
          <p:cNvPr id="19" name="TextBox 18"/>
          <p:cNvSpPr txBox="1"/>
          <p:nvPr/>
        </p:nvSpPr>
        <p:spPr>
          <a:xfrm>
            <a:off x="6400800" y="2011680"/>
            <a:ext cx="5212080" cy="1554480"/>
          </a:xfrm>
          <a:prstGeom prst="rect">
            <a:avLst/>
          </a:prstGeom>
          <a:noFill/>
        </p:spPr>
        <p:txBody>
          <a:bodyPr wrap="square">
            <a:spAutoFit/>
          </a:bodyPr>
          <a:lstStyle/>
          <a:p>
            <a:pPr algn="l">
              <a:lnSpc>
                <a:spcPct val="125000"/>
              </a:lnSpc>
              <a:spcAft>
                <a:spcPts val="600"/>
              </a:spcAft>
            </a:pPr>
            <a:r>
              <a:rPr sz="1300" b="1">
                <a:solidFill>
                  <a:srgbClr val="2E86C1"/>
                </a:solidFill>
                <a:latin typeface="Calibri"/>
              </a:rPr>
              <a:t>▸ </a:t>
            </a:r>
            <a:r>
              <a:rPr sz="1300" b="1">
                <a:solidFill>
                  <a:srgbClr val="1A1A1A"/>
                </a:solidFill>
                <a:latin typeface="Calibri"/>
              </a:rPr>
              <a:t>PENDING: </a:t>
            </a:r>
            <a:r>
              <a:rPr sz="1300">
                <a:solidFill>
                  <a:srgbClr val="1A1A1A"/>
                </a:solidFill>
                <a:latin typeface="Calibri"/>
              </a:rPr>
              <a:t>Nieuw abonnement – nog niet gesynchroniseerd</a:t>
            </a:r>
          </a:p>
          <a:p>
            <a:pPr algn="l">
              <a:lnSpc>
                <a:spcPct val="125000"/>
              </a:lnSpc>
              <a:spcAft>
                <a:spcPts val="600"/>
              </a:spcAft>
            </a:pPr>
            <a:r>
              <a:rPr sz="1300" b="1">
                <a:solidFill>
                  <a:srgbClr val="2E86C1"/>
                </a:solidFill>
                <a:latin typeface="Calibri"/>
              </a:rPr>
              <a:t>▸ </a:t>
            </a:r>
            <a:r>
              <a:rPr sz="1300" b="1">
                <a:solidFill>
                  <a:srgbClr val="1A1A1A"/>
                </a:solidFill>
                <a:latin typeface="Calibri"/>
              </a:rPr>
              <a:t>IN_PROGRESS: </a:t>
            </a:r>
            <a:r>
              <a:rPr sz="1300">
                <a:solidFill>
                  <a:srgbClr val="1A1A1A"/>
                </a:solidFill>
                <a:latin typeface="Calibri"/>
              </a:rPr>
              <a:t>Sync wordt nu uitgevoerd</a:t>
            </a:r>
          </a:p>
          <a:p>
            <a:pPr algn="l">
              <a:lnSpc>
                <a:spcPct val="125000"/>
              </a:lnSpc>
              <a:spcAft>
                <a:spcPts val="600"/>
              </a:spcAft>
            </a:pPr>
            <a:r>
              <a:rPr sz="1300" b="1">
                <a:solidFill>
                  <a:srgbClr val="2E86C1"/>
                </a:solidFill>
                <a:latin typeface="Calibri"/>
              </a:rPr>
              <a:t>▸ </a:t>
            </a:r>
            <a:r>
              <a:rPr sz="1300" b="1">
                <a:solidFill>
                  <a:srgbClr val="1A1A1A"/>
                </a:solidFill>
                <a:latin typeface="Calibri"/>
              </a:rPr>
              <a:t>SYNCED: </a:t>
            </a:r>
            <a:r>
              <a:rPr sz="1300">
                <a:solidFill>
                  <a:srgbClr val="1A1A1A"/>
                </a:solidFill>
                <a:latin typeface="Calibri"/>
              </a:rPr>
              <a:t>Succesvol – Abonnement bekend in Inserve</a:t>
            </a:r>
          </a:p>
          <a:p>
            <a:pPr algn="l">
              <a:lnSpc>
                <a:spcPct val="125000"/>
              </a:lnSpc>
              <a:spcAft>
                <a:spcPts val="600"/>
              </a:spcAft>
            </a:pPr>
            <a:r>
              <a:rPr sz="1300" b="1">
                <a:solidFill>
                  <a:srgbClr val="2E86C1"/>
                </a:solidFill>
                <a:latin typeface="Calibri"/>
              </a:rPr>
              <a:t>▸ </a:t>
            </a:r>
            <a:r>
              <a:rPr sz="1300" b="1">
                <a:solidFill>
                  <a:srgbClr val="1A1A1A"/>
                </a:solidFill>
                <a:latin typeface="Calibri"/>
              </a:rPr>
              <a:t>FAILED: </a:t>
            </a:r>
            <a:r>
              <a:rPr sz="1300">
                <a:solidFill>
                  <a:srgbClr val="1A1A1A"/>
                </a:solidFill>
                <a:latin typeface="Calibri"/>
              </a:rPr>
              <a:t>Fout – foutmelding opgeslagen in inserveSyncError</a:t>
            </a:r>
          </a:p>
          <a:p>
            <a:pPr algn="l">
              <a:lnSpc>
                <a:spcPct val="125000"/>
              </a:lnSpc>
              <a:spcAft>
                <a:spcPts val="600"/>
              </a:spcAft>
            </a:pPr>
            <a:r>
              <a:rPr sz="1300" b="1">
                <a:solidFill>
                  <a:srgbClr val="2E86C1"/>
                </a:solidFill>
                <a:latin typeface="Calibri"/>
              </a:rPr>
              <a:t>▸ </a:t>
            </a:r>
            <a:r>
              <a:rPr sz="1300" b="1">
                <a:solidFill>
                  <a:srgbClr val="1A1A1A"/>
                </a:solidFill>
                <a:latin typeface="Calibri"/>
              </a:rPr>
              <a:t>SKIPPED: </a:t>
            </a:r>
            <a:r>
              <a:rPr sz="1300">
                <a:solidFill>
                  <a:srgbClr val="1A1A1A"/>
                </a:solidFill>
                <a:latin typeface="Calibri"/>
              </a:rPr>
              <a:t>Handmatig overgeslagen (geen actie nodig)</a:t>
            </a:r>
          </a:p>
        </p:txBody>
      </p:sp>
      <p:sp>
        <p:nvSpPr>
          <p:cNvPr id="20" name="Rounded Rectangle 19"/>
          <p:cNvSpPr/>
          <p:nvPr/>
        </p:nvSpPr>
        <p:spPr>
          <a:xfrm>
            <a:off x="365760" y="3931920"/>
            <a:ext cx="11475720" cy="50292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995928"/>
            <a:ext cx="10972800" cy="411480"/>
          </a:xfrm>
          <a:prstGeom prst="rect">
            <a:avLst/>
          </a:prstGeom>
          <a:noFill/>
        </p:spPr>
        <p:txBody>
          <a:bodyPr wrap="square" lIns="45720" rIns="45720" tIns="18288" bIns="18288" anchor="ctr">
            <a:spAutoFit/>
          </a:bodyPr>
          <a:lstStyle/>
          <a:p>
            <a:pPr algn="l">
              <a:lnSpc>
                <a:spcPct val="120000"/>
              </a:lnSpc>
            </a:pPr>
            <a:r>
              <a:rPr sz="1400" b="1">
                <a:solidFill>
                  <a:srgbClr val="FFFFFF"/>
                </a:solidFill>
                <a:latin typeface="Calibri"/>
              </a:rPr>
              <a:t>⬇️  Velden die per abonnement naar Inserve worden gestuurd:</a:t>
            </a:r>
          </a:p>
        </p:txBody>
      </p:sp>
      <p:sp>
        <p:nvSpPr>
          <p:cNvPr id="22" name="Rounded Rectangle 21"/>
          <p:cNvSpPr/>
          <p:nvPr/>
        </p:nvSpPr>
        <p:spPr>
          <a:xfrm>
            <a:off x="426567" y="4663440"/>
            <a:ext cx="3657600" cy="777240"/>
          </a:xfrm>
          <a:prstGeom prst="roundRect">
            <a:avLst/>
          </a:prstGeom>
          <a:solidFill>
            <a:srgbClr val="F5F7FA"/>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167" y="4736592"/>
            <a:ext cx="3200400" cy="320040"/>
          </a:xfrm>
          <a:prstGeom prst="rect">
            <a:avLst/>
          </a:prstGeom>
          <a:noFill/>
        </p:spPr>
        <p:txBody>
          <a:bodyPr wrap="square" lIns="45720" rIns="45720" tIns="18288" bIns="18288" anchor="t">
            <a:spAutoFit/>
          </a:bodyPr>
          <a:lstStyle/>
          <a:p>
            <a:pPr algn="l">
              <a:lnSpc>
                <a:spcPct val="120000"/>
              </a:lnSpc>
            </a:pPr>
            <a:r>
              <a:rPr sz="1300" b="1">
                <a:solidFill>
                  <a:srgbClr val="1E3A5F"/>
                </a:solidFill>
                <a:latin typeface="Calibri"/>
              </a:rPr>
              <a:t>🏢 Klant</a:t>
            </a:r>
          </a:p>
        </p:txBody>
      </p:sp>
      <p:sp>
        <p:nvSpPr>
          <p:cNvPr id="24" name="TextBox 23"/>
          <p:cNvSpPr txBox="1"/>
          <p:nvPr/>
        </p:nvSpPr>
        <p:spPr>
          <a:xfrm>
            <a:off x="655167" y="5074920"/>
            <a:ext cx="3200400" cy="320040"/>
          </a:xfrm>
          <a:prstGeom prst="rect">
            <a:avLst/>
          </a:prstGeom>
          <a:noFill/>
        </p:spPr>
        <p:txBody>
          <a:bodyPr wrap="square" lIns="45720" rIns="45720" tIns="18288" bIns="18288" anchor="t">
            <a:spAutoFit/>
          </a:bodyPr>
          <a:lstStyle/>
          <a:p>
            <a:pPr algn="l">
              <a:lnSpc>
                <a:spcPct val="120000"/>
              </a:lnSpc>
            </a:pPr>
            <a:r>
              <a:rPr sz="1100" b="0">
                <a:solidFill>
                  <a:srgbClr val="555555"/>
                </a:solidFill>
                <a:latin typeface="Calibri"/>
              </a:rPr>
              <a:t>CompanyId (Inserve) / Klantgegevens</a:t>
            </a:r>
          </a:p>
        </p:txBody>
      </p:sp>
      <p:sp>
        <p:nvSpPr>
          <p:cNvPr id="25" name="Rounded Rectangle 24"/>
          <p:cNvSpPr/>
          <p:nvPr/>
        </p:nvSpPr>
        <p:spPr>
          <a:xfrm>
            <a:off x="426567" y="5577840"/>
            <a:ext cx="3657600" cy="777240"/>
          </a:xfrm>
          <a:prstGeom prst="roundRect">
            <a:avLst/>
          </a:prstGeom>
          <a:solidFill>
            <a:srgbClr val="F5F7FA"/>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5167" y="5650992"/>
            <a:ext cx="3200400" cy="320040"/>
          </a:xfrm>
          <a:prstGeom prst="rect">
            <a:avLst/>
          </a:prstGeom>
          <a:noFill/>
        </p:spPr>
        <p:txBody>
          <a:bodyPr wrap="square" lIns="45720" rIns="45720" tIns="18288" bIns="18288" anchor="t">
            <a:spAutoFit/>
          </a:bodyPr>
          <a:lstStyle/>
          <a:p>
            <a:pPr algn="l">
              <a:lnSpc>
                <a:spcPct val="120000"/>
              </a:lnSpc>
            </a:pPr>
            <a:r>
              <a:rPr sz="1300" b="1">
                <a:solidFill>
                  <a:srgbClr val="1E3A5F"/>
                </a:solidFill>
                <a:latin typeface="Calibri"/>
              </a:rPr>
              <a:t>📋 Abonnement</a:t>
            </a:r>
          </a:p>
        </p:txBody>
      </p:sp>
      <p:sp>
        <p:nvSpPr>
          <p:cNvPr id="27" name="TextBox 26"/>
          <p:cNvSpPr txBox="1"/>
          <p:nvPr/>
        </p:nvSpPr>
        <p:spPr>
          <a:xfrm>
            <a:off x="655167" y="5989320"/>
            <a:ext cx="3200400" cy="320040"/>
          </a:xfrm>
          <a:prstGeom prst="rect">
            <a:avLst/>
          </a:prstGeom>
          <a:noFill/>
        </p:spPr>
        <p:txBody>
          <a:bodyPr wrap="square" lIns="45720" rIns="45720" tIns="18288" bIns="18288" anchor="t">
            <a:spAutoFit/>
          </a:bodyPr>
          <a:lstStyle/>
          <a:p>
            <a:pPr algn="l">
              <a:lnSpc>
                <a:spcPct val="120000"/>
              </a:lnSpc>
            </a:pPr>
            <a:r>
              <a:rPr sz="1100" b="0">
                <a:solidFill>
                  <a:srgbClr val="555555"/>
                </a:solidFill>
                <a:latin typeface="Calibri"/>
              </a:rPr>
              <a:t>Abonnement ID (inserveSubscriptionId)</a:t>
            </a:r>
          </a:p>
        </p:txBody>
      </p:sp>
      <p:sp>
        <p:nvSpPr>
          <p:cNvPr id="28" name="Rounded Rectangle 27"/>
          <p:cNvSpPr/>
          <p:nvPr/>
        </p:nvSpPr>
        <p:spPr>
          <a:xfrm>
            <a:off x="4267047" y="4663440"/>
            <a:ext cx="3657600" cy="777240"/>
          </a:xfrm>
          <a:prstGeom prst="roundRect">
            <a:avLst/>
          </a:prstGeom>
          <a:solidFill>
            <a:srgbClr val="F5F7FA"/>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95647" y="4736592"/>
            <a:ext cx="3200400" cy="320040"/>
          </a:xfrm>
          <a:prstGeom prst="rect">
            <a:avLst/>
          </a:prstGeom>
          <a:noFill/>
        </p:spPr>
        <p:txBody>
          <a:bodyPr wrap="square" lIns="45720" rIns="45720" tIns="18288" bIns="18288" anchor="t">
            <a:spAutoFit/>
          </a:bodyPr>
          <a:lstStyle/>
          <a:p>
            <a:pPr algn="l">
              <a:lnSpc>
                <a:spcPct val="120000"/>
              </a:lnSpc>
            </a:pPr>
            <a:r>
              <a:rPr sz="1300" b="1">
                <a:solidFill>
                  <a:srgbClr val="1E3A5F"/>
                </a:solidFill>
                <a:latin typeface="Calibri"/>
              </a:rPr>
              <a:t>📦 Product</a:t>
            </a:r>
          </a:p>
        </p:txBody>
      </p:sp>
      <p:sp>
        <p:nvSpPr>
          <p:cNvPr id="30" name="TextBox 29"/>
          <p:cNvSpPr txBox="1"/>
          <p:nvPr/>
        </p:nvSpPr>
        <p:spPr>
          <a:xfrm>
            <a:off x="4495647" y="5074920"/>
            <a:ext cx="3200400" cy="320040"/>
          </a:xfrm>
          <a:prstGeom prst="rect">
            <a:avLst/>
          </a:prstGeom>
          <a:noFill/>
        </p:spPr>
        <p:txBody>
          <a:bodyPr wrap="square" lIns="45720" rIns="45720" tIns="18288" bIns="18288" anchor="t">
            <a:spAutoFit/>
          </a:bodyPr>
          <a:lstStyle/>
          <a:p>
            <a:pPr algn="l">
              <a:lnSpc>
                <a:spcPct val="120000"/>
              </a:lnSpc>
            </a:pPr>
            <a:r>
              <a:rPr sz="1100" b="0">
                <a:solidFill>
                  <a:srgbClr val="555555"/>
                </a:solidFill>
                <a:latin typeface="Calibri"/>
              </a:rPr>
              <a:t>ArticleId (Inserve) / Productcode</a:t>
            </a:r>
          </a:p>
        </p:txBody>
      </p:sp>
      <p:sp>
        <p:nvSpPr>
          <p:cNvPr id="31" name="Rounded Rectangle 30"/>
          <p:cNvSpPr/>
          <p:nvPr/>
        </p:nvSpPr>
        <p:spPr>
          <a:xfrm>
            <a:off x="4267047" y="5577840"/>
            <a:ext cx="3657600" cy="777240"/>
          </a:xfrm>
          <a:prstGeom prst="roundRect">
            <a:avLst/>
          </a:prstGeom>
          <a:solidFill>
            <a:srgbClr val="F5F7FA"/>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95647" y="5650992"/>
            <a:ext cx="3200400" cy="320040"/>
          </a:xfrm>
          <a:prstGeom prst="rect">
            <a:avLst/>
          </a:prstGeom>
          <a:noFill/>
        </p:spPr>
        <p:txBody>
          <a:bodyPr wrap="square" lIns="45720" rIns="45720" tIns="18288" bIns="18288" anchor="t">
            <a:spAutoFit/>
          </a:bodyPr>
          <a:lstStyle/>
          <a:p>
            <a:pPr algn="l">
              <a:lnSpc>
                <a:spcPct val="120000"/>
              </a:lnSpc>
            </a:pPr>
            <a:r>
              <a:rPr sz="1300" b="1">
                <a:solidFill>
                  <a:srgbClr val="1E3A5F"/>
                </a:solidFill>
                <a:latin typeface="Calibri"/>
              </a:rPr>
              <a:t>📅 Periode</a:t>
            </a:r>
          </a:p>
        </p:txBody>
      </p:sp>
      <p:sp>
        <p:nvSpPr>
          <p:cNvPr id="33" name="TextBox 32"/>
          <p:cNvSpPr txBox="1"/>
          <p:nvPr/>
        </p:nvSpPr>
        <p:spPr>
          <a:xfrm>
            <a:off x="4495647" y="5989320"/>
            <a:ext cx="3200400" cy="320040"/>
          </a:xfrm>
          <a:prstGeom prst="rect">
            <a:avLst/>
          </a:prstGeom>
          <a:noFill/>
        </p:spPr>
        <p:txBody>
          <a:bodyPr wrap="square" lIns="45720" rIns="45720" tIns="18288" bIns="18288" anchor="t">
            <a:spAutoFit/>
          </a:bodyPr>
          <a:lstStyle/>
          <a:p>
            <a:pPr algn="l">
              <a:lnSpc>
                <a:spcPct val="120000"/>
              </a:lnSpc>
            </a:pPr>
            <a:r>
              <a:rPr sz="1100" b="0">
                <a:solidFill>
                  <a:srgbClr val="555555"/>
                </a:solidFill>
                <a:latin typeface="Calibri"/>
              </a:rPr>
              <a:t>Startdatum + einddatum abonnement</a:t>
            </a:r>
          </a:p>
        </p:txBody>
      </p:sp>
      <p:sp>
        <p:nvSpPr>
          <p:cNvPr id="34" name="Rounded Rectangle 33"/>
          <p:cNvSpPr/>
          <p:nvPr/>
        </p:nvSpPr>
        <p:spPr>
          <a:xfrm>
            <a:off x="8107527" y="4663440"/>
            <a:ext cx="3657600" cy="777240"/>
          </a:xfrm>
          <a:prstGeom prst="roundRect">
            <a:avLst/>
          </a:prstGeom>
          <a:solidFill>
            <a:srgbClr val="F5F7FA"/>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36127" y="4736592"/>
            <a:ext cx="3200400" cy="320040"/>
          </a:xfrm>
          <a:prstGeom prst="rect">
            <a:avLst/>
          </a:prstGeom>
          <a:noFill/>
        </p:spPr>
        <p:txBody>
          <a:bodyPr wrap="square" lIns="45720" rIns="45720" tIns="18288" bIns="18288" anchor="t">
            <a:spAutoFit/>
          </a:bodyPr>
          <a:lstStyle/>
          <a:p>
            <a:pPr algn="l">
              <a:lnSpc>
                <a:spcPct val="120000"/>
              </a:lnSpc>
            </a:pPr>
            <a:r>
              <a:rPr sz="1300" b="1">
                <a:solidFill>
                  <a:srgbClr val="1E3A5F"/>
                </a:solidFill>
                <a:latin typeface="Calibri"/>
              </a:rPr>
              <a:t>💳 SIM</a:t>
            </a:r>
          </a:p>
        </p:txBody>
      </p:sp>
      <p:sp>
        <p:nvSpPr>
          <p:cNvPr id="36" name="TextBox 35"/>
          <p:cNvSpPr txBox="1"/>
          <p:nvPr/>
        </p:nvSpPr>
        <p:spPr>
          <a:xfrm>
            <a:off x="8336127" y="5074920"/>
            <a:ext cx="3200400" cy="320040"/>
          </a:xfrm>
          <a:prstGeom prst="rect">
            <a:avLst/>
          </a:prstGeom>
          <a:noFill/>
        </p:spPr>
        <p:txBody>
          <a:bodyPr wrap="square" lIns="45720" rIns="45720" tIns="18288" bIns="18288" anchor="t">
            <a:spAutoFit/>
          </a:bodyPr>
          <a:lstStyle/>
          <a:p>
            <a:pPr algn="l">
              <a:lnSpc>
                <a:spcPct val="120000"/>
              </a:lnSpc>
            </a:pPr>
            <a:r>
              <a:rPr sz="1100" b="0">
                <a:solidFill>
                  <a:srgbClr val="555555"/>
                </a:solidFill>
                <a:latin typeface="Calibri"/>
              </a:rPr>
              <a:t>ICCID + MSISDN bij wijzigingen</a:t>
            </a:r>
          </a:p>
        </p:txBody>
      </p:sp>
      <p:sp>
        <p:nvSpPr>
          <p:cNvPr id="37" name="Rounded Rectangle 36"/>
          <p:cNvSpPr/>
          <p:nvPr/>
        </p:nvSpPr>
        <p:spPr>
          <a:xfrm>
            <a:off x="8107527" y="5577840"/>
            <a:ext cx="3657600" cy="777240"/>
          </a:xfrm>
          <a:prstGeom prst="roundRect">
            <a:avLst/>
          </a:prstGeom>
          <a:solidFill>
            <a:srgbClr val="F5F7FA"/>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36127" y="5650992"/>
            <a:ext cx="3200400" cy="320040"/>
          </a:xfrm>
          <a:prstGeom prst="rect">
            <a:avLst/>
          </a:prstGeom>
          <a:noFill/>
        </p:spPr>
        <p:txBody>
          <a:bodyPr wrap="square" lIns="45720" rIns="45720" tIns="18288" bIns="18288" anchor="t">
            <a:spAutoFit/>
          </a:bodyPr>
          <a:lstStyle/>
          <a:p>
            <a:pPr algn="l">
              <a:lnSpc>
                <a:spcPct val="120000"/>
              </a:lnSpc>
            </a:pPr>
            <a:r>
              <a:rPr sz="1300" b="1">
                <a:solidFill>
                  <a:srgbClr val="1E3A5F"/>
                </a:solidFill>
                <a:latin typeface="Calibri"/>
              </a:rPr>
              <a:t>💶 Prijs</a:t>
            </a:r>
          </a:p>
        </p:txBody>
      </p:sp>
      <p:sp>
        <p:nvSpPr>
          <p:cNvPr id="39" name="TextBox 38"/>
          <p:cNvSpPr txBox="1"/>
          <p:nvPr/>
        </p:nvSpPr>
        <p:spPr>
          <a:xfrm>
            <a:off x="8336127" y="5989320"/>
            <a:ext cx="3200400" cy="320040"/>
          </a:xfrm>
          <a:prstGeom prst="rect">
            <a:avLst/>
          </a:prstGeom>
          <a:noFill/>
        </p:spPr>
        <p:txBody>
          <a:bodyPr wrap="square" lIns="45720" rIns="45720" tIns="18288" bIns="18288" anchor="t">
            <a:spAutoFit/>
          </a:bodyPr>
          <a:lstStyle/>
          <a:p>
            <a:pPr algn="l">
              <a:lnSpc>
                <a:spcPct val="120000"/>
              </a:lnSpc>
            </a:pPr>
            <a:r>
              <a:rPr sz="1100" b="0">
                <a:solidFill>
                  <a:srgbClr val="555555"/>
                </a:solidFill>
                <a:latin typeface="Calibri"/>
              </a:rPr>
              <a:t>Maandprijs (pro rata bij wijzigingen)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Snelzoeken: ⌘K / Ctrl+K</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Bliksemsnel naar elke entiteit – overal in de app</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18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71600" y="1325880"/>
            <a:ext cx="9418320" cy="82296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5920" y="1444752"/>
            <a:ext cx="8686800" cy="548640"/>
          </a:xfrm>
          <a:prstGeom prst="rect">
            <a:avLst/>
          </a:prstGeom>
          <a:noFill/>
        </p:spPr>
        <p:txBody>
          <a:bodyPr wrap="square" lIns="45720" rIns="45720" tIns="18288" bIns="18288" anchor="t">
            <a:spAutoFit/>
          </a:bodyPr>
          <a:lstStyle/>
          <a:p>
            <a:pPr algn="l">
              <a:lnSpc>
                <a:spcPct val="120000"/>
              </a:lnSpc>
            </a:pPr>
            <a:r>
              <a:rPr sz="1600" b="0">
                <a:solidFill>
                  <a:srgbClr val="C7D2FE"/>
                </a:solidFill>
                <a:latin typeface="Calibri"/>
              </a:rPr>
              <a:t>🔍  Zoek naar klant, tracker, SIM, abonnement of order...</a:t>
            </a:r>
          </a:p>
        </p:txBody>
      </p:sp>
      <p:sp>
        <p:nvSpPr>
          <p:cNvPr id="14" name="Rounded Rectangle 13"/>
          <p:cNvSpPr/>
          <p:nvPr/>
        </p:nvSpPr>
        <p:spPr>
          <a:xfrm>
            <a:off x="1371600" y="2286000"/>
            <a:ext cx="9418320" cy="4206240"/>
          </a:xfrm>
          <a:prstGeom prst="roundRect">
            <a:avLst/>
          </a:prstGeom>
          <a:solidFill>
            <a:srgbClr val="FFFFFF"/>
          </a:solidFill>
          <a:ln w="12700">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0" y="2468880"/>
            <a:ext cx="9052560" cy="658368"/>
          </a:xfrm>
          <a:prstGeom prst="roundRect">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83080" y="2514600"/>
            <a:ext cx="640080" cy="502920"/>
          </a:xfrm>
          <a:prstGeom prst="rect">
            <a:avLst/>
          </a:prstGeom>
          <a:noFill/>
        </p:spPr>
        <p:txBody>
          <a:bodyPr wrap="square" lIns="45720" rIns="45720" tIns="18288" bIns="18288" anchor="ctr">
            <a:spAutoFit/>
          </a:bodyPr>
          <a:lstStyle/>
          <a:p>
            <a:pPr algn="ctr">
              <a:lnSpc>
                <a:spcPct val="120000"/>
              </a:lnSpc>
            </a:pPr>
            <a:r>
              <a:rPr sz="2400" b="0">
                <a:solidFill>
                  <a:srgbClr val="1A1A1A"/>
                </a:solidFill>
                <a:latin typeface="Calibri"/>
              </a:rPr>
              <a:t>🏢</a:t>
            </a:r>
          </a:p>
        </p:txBody>
      </p:sp>
      <p:sp>
        <p:nvSpPr>
          <p:cNvPr id="17" name="TextBox 16"/>
          <p:cNvSpPr txBox="1"/>
          <p:nvPr/>
        </p:nvSpPr>
        <p:spPr>
          <a:xfrm>
            <a:off x="2468880" y="2514600"/>
            <a:ext cx="7315200" cy="320040"/>
          </a:xfrm>
          <a:prstGeom prst="rect">
            <a:avLst/>
          </a:prstGeom>
          <a:noFill/>
        </p:spPr>
        <p:txBody>
          <a:bodyPr wrap="square" lIns="45720" rIns="45720" tIns="18288" bIns="18288" anchor="t">
            <a:spAutoFit/>
          </a:bodyPr>
          <a:lstStyle/>
          <a:p>
            <a:pPr algn="l">
              <a:lnSpc>
                <a:spcPct val="120000"/>
              </a:lnSpc>
            </a:pPr>
            <a:r>
              <a:rPr sz="1300" b="1">
                <a:solidFill>
                  <a:srgbClr val="1E3A5F"/>
                </a:solidFill>
                <a:latin typeface="Calibri"/>
              </a:rPr>
              <a:t>Van der Logistics B.V.</a:t>
            </a:r>
          </a:p>
        </p:txBody>
      </p:sp>
      <p:sp>
        <p:nvSpPr>
          <p:cNvPr id="18" name="TextBox 17"/>
          <p:cNvSpPr txBox="1"/>
          <p:nvPr/>
        </p:nvSpPr>
        <p:spPr>
          <a:xfrm>
            <a:off x="2468880" y="2816352"/>
            <a:ext cx="7315200" cy="27432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Klant • K-2026-00012 • KvK 34235235</a:t>
            </a:r>
          </a:p>
        </p:txBody>
      </p:sp>
      <p:sp>
        <p:nvSpPr>
          <p:cNvPr id="19" name="TextBox 18"/>
          <p:cNvSpPr txBox="1"/>
          <p:nvPr/>
        </p:nvSpPr>
        <p:spPr>
          <a:xfrm>
            <a:off x="1783080" y="3264408"/>
            <a:ext cx="640080" cy="502920"/>
          </a:xfrm>
          <a:prstGeom prst="rect">
            <a:avLst/>
          </a:prstGeom>
          <a:noFill/>
        </p:spPr>
        <p:txBody>
          <a:bodyPr wrap="square" lIns="45720" rIns="45720" tIns="18288" bIns="18288" anchor="ctr">
            <a:spAutoFit/>
          </a:bodyPr>
          <a:lstStyle/>
          <a:p>
            <a:pPr algn="ctr">
              <a:lnSpc>
                <a:spcPct val="120000"/>
              </a:lnSpc>
            </a:pPr>
            <a:r>
              <a:rPr sz="2400" b="0">
                <a:solidFill>
                  <a:srgbClr val="1A1A1A"/>
                </a:solidFill>
                <a:latin typeface="Calibri"/>
              </a:rPr>
              <a:t>🚚</a:t>
            </a:r>
          </a:p>
        </p:txBody>
      </p:sp>
      <p:sp>
        <p:nvSpPr>
          <p:cNvPr id="20" name="TextBox 19"/>
          <p:cNvSpPr txBox="1"/>
          <p:nvPr/>
        </p:nvSpPr>
        <p:spPr>
          <a:xfrm>
            <a:off x="2468880" y="3264408"/>
            <a:ext cx="7315200" cy="320040"/>
          </a:xfrm>
          <a:prstGeom prst="rect">
            <a:avLst/>
          </a:prstGeom>
          <a:noFill/>
        </p:spPr>
        <p:txBody>
          <a:bodyPr wrap="square" lIns="45720" rIns="45720" tIns="18288" bIns="18288" anchor="t">
            <a:spAutoFit/>
          </a:bodyPr>
          <a:lstStyle/>
          <a:p>
            <a:pPr algn="l">
              <a:lnSpc>
                <a:spcPct val="120000"/>
              </a:lnSpc>
            </a:pPr>
            <a:r>
              <a:rPr sz="1300" b="1">
                <a:solidFill>
                  <a:srgbClr val="1A1A1A"/>
                </a:solidFill>
                <a:latin typeface="Calibri"/>
              </a:rPr>
              <a:t>ACT-2026-00124 – Van der Logistics</a:t>
            </a:r>
          </a:p>
        </p:txBody>
      </p:sp>
      <p:sp>
        <p:nvSpPr>
          <p:cNvPr id="21" name="TextBox 20"/>
          <p:cNvSpPr txBox="1"/>
          <p:nvPr/>
        </p:nvSpPr>
        <p:spPr>
          <a:xfrm>
            <a:off x="2468880" y="3566160"/>
            <a:ext cx="7315200" cy="27432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ActivatieOrder • COMPLETED 17-09-2026</a:t>
            </a:r>
          </a:p>
        </p:txBody>
      </p:sp>
      <p:sp>
        <p:nvSpPr>
          <p:cNvPr id="22" name="TextBox 21"/>
          <p:cNvSpPr txBox="1"/>
          <p:nvPr/>
        </p:nvSpPr>
        <p:spPr>
          <a:xfrm>
            <a:off x="1783080" y="4014216"/>
            <a:ext cx="640080" cy="502920"/>
          </a:xfrm>
          <a:prstGeom prst="rect">
            <a:avLst/>
          </a:prstGeom>
          <a:noFill/>
        </p:spPr>
        <p:txBody>
          <a:bodyPr wrap="square" lIns="45720" rIns="45720" tIns="18288" bIns="18288" anchor="ctr">
            <a:spAutoFit/>
          </a:bodyPr>
          <a:lstStyle/>
          <a:p>
            <a:pPr algn="ctr">
              <a:lnSpc>
                <a:spcPct val="120000"/>
              </a:lnSpc>
            </a:pPr>
            <a:r>
              <a:rPr sz="2400" b="0">
                <a:solidFill>
                  <a:srgbClr val="1A1A1A"/>
                </a:solidFill>
                <a:latin typeface="Calibri"/>
              </a:rPr>
              <a:t>📋</a:t>
            </a:r>
          </a:p>
        </p:txBody>
      </p:sp>
      <p:sp>
        <p:nvSpPr>
          <p:cNvPr id="23" name="TextBox 22"/>
          <p:cNvSpPr txBox="1"/>
          <p:nvPr/>
        </p:nvSpPr>
        <p:spPr>
          <a:xfrm>
            <a:off x="2468880" y="4014216"/>
            <a:ext cx="7315200" cy="320040"/>
          </a:xfrm>
          <a:prstGeom prst="rect">
            <a:avLst/>
          </a:prstGeom>
          <a:noFill/>
        </p:spPr>
        <p:txBody>
          <a:bodyPr wrap="square" lIns="45720" rIns="45720" tIns="18288" bIns="18288" anchor="t">
            <a:spAutoFit/>
          </a:bodyPr>
          <a:lstStyle/>
          <a:p>
            <a:pPr algn="l">
              <a:lnSpc>
                <a:spcPct val="120000"/>
              </a:lnSpc>
            </a:pPr>
            <a:r>
              <a:rPr sz="1300" b="1">
                <a:solidFill>
                  <a:srgbClr val="1A1A1A"/>
                </a:solidFill>
                <a:latin typeface="Calibri"/>
              </a:rPr>
              <a:t>SUB-2026-000031 – Premium Fleet</a:t>
            </a:r>
          </a:p>
        </p:txBody>
      </p:sp>
      <p:sp>
        <p:nvSpPr>
          <p:cNvPr id="24" name="TextBox 23"/>
          <p:cNvSpPr txBox="1"/>
          <p:nvPr/>
        </p:nvSpPr>
        <p:spPr>
          <a:xfrm>
            <a:off x="2468880" y="4315968"/>
            <a:ext cx="7315200" cy="27432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Abonnement • ACTIVE • € 39,95/mnd</a:t>
            </a:r>
          </a:p>
        </p:txBody>
      </p:sp>
      <p:sp>
        <p:nvSpPr>
          <p:cNvPr id="25" name="TextBox 24"/>
          <p:cNvSpPr txBox="1"/>
          <p:nvPr/>
        </p:nvSpPr>
        <p:spPr>
          <a:xfrm>
            <a:off x="1783080" y="4764024"/>
            <a:ext cx="640080" cy="502920"/>
          </a:xfrm>
          <a:prstGeom prst="rect">
            <a:avLst/>
          </a:prstGeom>
          <a:noFill/>
        </p:spPr>
        <p:txBody>
          <a:bodyPr wrap="square" lIns="45720" rIns="45720" tIns="18288" bIns="18288" anchor="ctr">
            <a:spAutoFit/>
          </a:bodyPr>
          <a:lstStyle/>
          <a:p>
            <a:pPr algn="ctr">
              <a:lnSpc>
                <a:spcPct val="120000"/>
              </a:lnSpc>
            </a:pPr>
            <a:r>
              <a:rPr sz="2400" b="0">
                <a:solidFill>
                  <a:srgbClr val="1A1A1A"/>
                </a:solidFill>
                <a:latin typeface="Calibri"/>
              </a:rPr>
              <a:t>📡</a:t>
            </a:r>
          </a:p>
        </p:txBody>
      </p:sp>
      <p:sp>
        <p:nvSpPr>
          <p:cNvPr id="26" name="TextBox 25"/>
          <p:cNvSpPr txBox="1"/>
          <p:nvPr/>
        </p:nvSpPr>
        <p:spPr>
          <a:xfrm>
            <a:off x="2468880" y="4764024"/>
            <a:ext cx="7315200" cy="320040"/>
          </a:xfrm>
          <a:prstGeom prst="rect">
            <a:avLst/>
          </a:prstGeom>
          <a:noFill/>
        </p:spPr>
        <p:txBody>
          <a:bodyPr wrap="square" lIns="45720" rIns="45720" tIns="18288" bIns="18288" anchor="t">
            <a:spAutoFit/>
          </a:bodyPr>
          <a:lstStyle/>
          <a:p>
            <a:pPr algn="l">
              <a:lnSpc>
                <a:spcPct val="120000"/>
              </a:lnSpc>
            </a:pPr>
            <a:r>
              <a:rPr sz="1300" b="1">
                <a:solidFill>
                  <a:srgbClr val="1A1A1A"/>
                </a:solidFill>
                <a:latin typeface="Calibri"/>
              </a:rPr>
              <a:t>TRK-00101-ST – Teltonika FMB920</a:t>
            </a:r>
          </a:p>
        </p:txBody>
      </p:sp>
      <p:sp>
        <p:nvSpPr>
          <p:cNvPr id="27" name="TextBox 26"/>
          <p:cNvSpPr txBox="1"/>
          <p:nvPr/>
        </p:nvSpPr>
        <p:spPr>
          <a:xfrm>
            <a:off x="2468880" y="5065776"/>
            <a:ext cx="7315200" cy="27432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Tracker • IMEI 4901 5420 3237 518</a:t>
            </a:r>
          </a:p>
        </p:txBody>
      </p:sp>
      <p:sp>
        <p:nvSpPr>
          <p:cNvPr id="28" name="TextBox 27"/>
          <p:cNvSpPr txBox="1"/>
          <p:nvPr/>
        </p:nvSpPr>
        <p:spPr>
          <a:xfrm>
            <a:off x="1783080" y="5513832"/>
            <a:ext cx="640080" cy="502920"/>
          </a:xfrm>
          <a:prstGeom prst="rect">
            <a:avLst/>
          </a:prstGeom>
          <a:noFill/>
        </p:spPr>
        <p:txBody>
          <a:bodyPr wrap="square" lIns="45720" rIns="45720" tIns="18288" bIns="18288" anchor="ctr">
            <a:spAutoFit/>
          </a:bodyPr>
          <a:lstStyle/>
          <a:p>
            <a:pPr algn="ctr">
              <a:lnSpc>
                <a:spcPct val="120000"/>
              </a:lnSpc>
            </a:pPr>
            <a:r>
              <a:rPr sz="2400" b="0">
                <a:solidFill>
                  <a:srgbClr val="1A1A1A"/>
                </a:solidFill>
                <a:latin typeface="Calibri"/>
              </a:rPr>
              <a:t>💳</a:t>
            </a:r>
          </a:p>
        </p:txBody>
      </p:sp>
      <p:sp>
        <p:nvSpPr>
          <p:cNvPr id="29" name="TextBox 28"/>
          <p:cNvSpPr txBox="1"/>
          <p:nvPr/>
        </p:nvSpPr>
        <p:spPr>
          <a:xfrm>
            <a:off x="2468880" y="5513832"/>
            <a:ext cx="7315200" cy="320040"/>
          </a:xfrm>
          <a:prstGeom prst="rect">
            <a:avLst/>
          </a:prstGeom>
          <a:noFill/>
        </p:spPr>
        <p:txBody>
          <a:bodyPr wrap="square" lIns="45720" rIns="45720" tIns="18288" bIns="18288" anchor="t">
            <a:spAutoFit/>
          </a:bodyPr>
          <a:lstStyle/>
          <a:p>
            <a:pPr algn="l">
              <a:lnSpc>
                <a:spcPct val="120000"/>
              </a:lnSpc>
            </a:pPr>
            <a:r>
              <a:rPr sz="1300" b="1">
                <a:solidFill>
                  <a:srgbClr val="1A1A1A"/>
                </a:solidFill>
                <a:latin typeface="Calibri"/>
              </a:rPr>
              <a:t>SIM 89310 420 123456789</a:t>
            </a:r>
          </a:p>
        </p:txBody>
      </p:sp>
      <p:sp>
        <p:nvSpPr>
          <p:cNvPr id="30" name="TextBox 29"/>
          <p:cNvSpPr txBox="1"/>
          <p:nvPr/>
        </p:nvSpPr>
        <p:spPr>
          <a:xfrm>
            <a:off x="2468880" y="5815584"/>
            <a:ext cx="7315200" cy="274320"/>
          </a:xfrm>
          <a:prstGeom prst="rect">
            <a:avLst/>
          </a:prstGeom>
          <a:noFill/>
        </p:spPr>
        <p:txBody>
          <a:bodyPr wrap="square" lIns="45720" rIns="45720" tIns="18288" bIns="18288" anchor="t">
            <a:spAutoFit/>
          </a:bodyPr>
          <a:lstStyle/>
          <a:p>
            <a:pPr algn="l">
              <a:lnSpc>
                <a:spcPct val="120000"/>
              </a:lnSpc>
            </a:pPr>
            <a:r>
              <a:rPr sz="1050" b="0">
                <a:solidFill>
                  <a:srgbClr val="555555"/>
                </a:solidFill>
                <a:latin typeface="Calibri"/>
              </a:rPr>
              <a:t>SIM-kaart • KPN M2M • ACTIVE</a:t>
            </a:r>
          </a:p>
        </p:txBody>
      </p:sp>
      <p:sp>
        <p:nvSpPr>
          <p:cNvPr id="31" name="Rounded Rectangle 30"/>
          <p:cNvSpPr/>
          <p:nvPr/>
        </p:nvSpPr>
        <p:spPr>
          <a:xfrm>
            <a:off x="365760" y="5486400"/>
            <a:ext cx="5669280" cy="91440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550408"/>
            <a:ext cx="5303520" cy="320040"/>
          </a:xfrm>
          <a:prstGeom prst="rect">
            <a:avLst/>
          </a:prstGeom>
          <a:noFill/>
        </p:spPr>
        <p:txBody>
          <a:bodyPr wrap="square" lIns="45720" rIns="45720" tIns="18288" bIns="18288" anchor="t">
            <a:spAutoFit/>
          </a:bodyPr>
          <a:lstStyle/>
          <a:p>
            <a:pPr algn="l">
              <a:lnSpc>
                <a:spcPct val="120000"/>
              </a:lnSpc>
            </a:pPr>
            <a:r>
              <a:rPr sz="1300" b="1">
                <a:solidFill>
                  <a:srgbClr val="1E3A5F"/>
                </a:solidFill>
                <a:latin typeface="Calibri"/>
              </a:rPr>
              <a:t>⌨️  Handige sneltoetsen:</a:t>
            </a:r>
          </a:p>
        </p:txBody>
      </p:sp>
      <p:sp>
        <p:nvSpPr>
          <p:cNvPr id="33" name="TextBox 32"/>
          <p:cNvSpPr txBox="1"/>
          <p:nvPr/>
        </p:nvSpPr>
        <p:spPr>
          <a:xfrm>
            <a:off x="731520" y="5852160"/>
            <a:ext cx="5120640" cy="502920"/>
          </a:xfrm>
          <a:prstGeom prst="rect">
            <a:avLst/>
          </a:prstGeom>
          <a:noFill/>
        </p:spPr>
        <p:txBody>
          <a:bodyPr wrap="square">
            <a:spAutoFit/>
          </a:bodyPr>
          <a:lstStyle/>
          <a:p>
            <a:pPr algn="l">
              <a:lnSpc>
                <a:spcPct val="115000"/>
              </a:lnSpc>
              <a:spcAft>
                <a:spcPts val="600"/>
              </a:spcAft>
            </a:pPr>
            <a:r>
              <a:rPr sz="1100" b="1">
                <a:solidFill>
                  <a:srgbClr val="E86C00"/>
                </a:solidFill>
                <a:latin typeface="Calibri"/>
              </a:rPr>
              <a:t>▸ </a:t>
            </a:r>
            <a:r>
              <a:rPr sz="1100">
                <a:solidFill>
                  <a:srgbClr val="1A1A1A"/>
                </a:solidFill>
                <a:latin typeface="Calibri"/>
              </a:rPr>
              <a:t>⌘K of Ctrl+K: Open zoekvenster (overal)</a:t>
            </a:r>
          </a:p>
          <a:p>
            <a:pPr algn="l">
              <a:lnSpc>
                <a:spcPct val="115000"/>
              </a:lnSpc>
              <a:spcAft>
                <a:spcPts val="600"/>
              </a:spcAft>
            </a:pPr>
            <a:r>
              <a:rPr sz="1100" b="1">
                <a:solidFill>
                  <a:srgbClr val="E86C00"/>
                </a:solidFill>
                <a:latin typeface="Calibri"/>
              </a:rPr>
              <a:t>▸ </a:t>
            </a:r>
            <a:r>
              <a:rPr sz="1100">
                <a:solidFill>
                  <a:srgbClr val="1A1A1A"/>
                </a:solidFill>
                <a:latin typeface="Calibri"/>
              </a:rPr>
              <a:t>↑ ↓ pijltjestoetsen: Navigeer resultaten</a:t>
            </a:r>
          </a:p>
          <a:p>
            <a:pPr algn="l">
              <a:lnSpc>
                <a:spcPct val="115000"/>
              </a:lnSpc>
              <a:spcAft>
                <a:spcPts val="600"/>
              </a:spcAft>
            </a:pPr>
            <a:r>
              <a:rPr sz="1100" b="1">
                <a:solidFill>
                  <a:srgbClr val="E86C00"/>
                </a:solidFill>
                <a:latin typeface="Calibri"/>
              </a:rPr>
              <a:t>▸ </a:t>
            </a:r>
            <a:r>
              <a:rPr sz="1100">
                <a:solidFill>
                  <a:srgbClr val="1A1A1A"/>
                </a:solidFill>
                <a:latin typeface="Calibri"/>
              </a:rPr>
              <a:t>Enter: Spring naar geselecteerd item</a:t>
            </a:r>
          </a:p>
        </p:txBody>
      </p:sp>
      <p:sp>
        <p:nvSpPr>
          <p:cNvPr id="34" name="Rounded Rectangle 33"/>
          <p:cNvSpPr/>
          <p:nvPr/>
        </p:nvSpPr>
        <p:spPr>
          <a:xfrm>
            <a:off x="6172200" y="5486400"/>
            <a:ext cx="5669280" cy="914400"/>
          </a:xfrm>
          <a:prstGeom prst="round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5550408"/>
            <a:ext cx="5303520" cy="320040"/>
          </a:xfrm>
          <a:prstGeom prst="rect">
            <a:avLst/>
          </a:prstGeom>
          <a:noFill/>
        </p:spPr>
        <p:txBody>
          <a:bodyPr wrap="square" lIns="45720" rIns="45720" tIns="18288" bIns="18288" anchor="t">
            <a:spAutoFit/>
          </a:bodyPr>
          <a:lstStyle/>
          <a:p>
            <a:pPr algn="l">
              <a:lnSpc>
                <a:spcPct val="120000"/>
              </a:lnSpc>
            </a:pPr>
            <a:r>
              <a:rPr sz="1300" b="1">
                <a:solidFill>
                  <a:srgbClr val="1E3A5F"/>
                </a:solidFill>
                <a:latin typeface="Calibri"/>
              </a:rPr>
              <a:t>💡 Gebruik zoekfunctie als je weet wat je zoekt:</a:t>
            </a:r>
          </a:p>
        </p:txBody>
      </p:sp>
      <p:sp>
        <p:nvSpPr>
          <p:cNvPr id="36" name="TextBox 35"/>
          <p:cNvSpPr txBox="1"/>
          <p:nvPr/>
        </p:nvSpPr>
        <p:spPr>
          <a:xfrm>
            <a:off x="6537960" y="5852160"/>
            <a:ext cx="5120640" cy="502920"/>
          </a:xfrm>
          <a:prstGeom prst="rect">
            <a:avLst/>
          </a:prstGeom>
          <a:noFill/>
        </p:spPr>
        <p:txBody>
          <a:bodyPr wrap="square">
            <a:spAutoFit/>
          </a:bodyPr>
          <a:lstStyle/>
          <a:p>
            <a:pPr algn="l">
              <a:lnSpc>
                <a:spcPct val="115000"/>
              </a:lnSpc>
              <a:spcAft>
                <a:spcPts val="600"/>
              </a:spcAft>
            </a:pPr>
            <a:r>
              <a:rPr sz="1100" b="1">
                <a:solidFill>
                  <a:srgbClr val="E86C00"/>
                </a:solidFill>
                <a:latin typeface="Calibri"/>
              </a:rPr>
              <a:t>▸ </a:t>
            </a:r>
            <a:r>
              <a:rPr sz="1100">
                <a:solidFill>
                  <a:srgbClr val="1A1A1A"/>
                </a:solidFill>
                <a:latin typeface="Calibri"/>
              </a:rPr>
              <a:t>Klantnummer, IMEI, ICCID, ordernummer direct intikken</a:t>
            </a:r>
          </a:p>
          <a:p>
            <a:pPr algn="l">
              <a:lnSpc>
                <a:spcPct val="115000"/>
              </a:lnSpc>
              <a:spcAft>
                <a:spcPts val="600"/>
              </a:spcAft>
            </a:pPr>
            <a:r>
              <a:rPr sz="1100" b="1">
                <a:solidFill>
                  <a:srgbClr val="E86C00"/>
                </a:solidFill>
                <a:latin typeface="Calibri"/>
              </a:rPr>
              <a:t>▸ </a:t>
            </a:r>
            <a:r>
              <a:rPr sz="1100">
                <a:solidFill>
                  <a:srgbClr val="1A1A1A"/>
                </a:solidFill>
                <a:latin typeface="Calibri"/>
              </a:rPr>
              <a:t>Geen 8 klikken nodig via menu's – direct naar detail</a:t>
            </a:r>
          </a:p>
          <a:p>
            <a:pPr algn="l">
              <a:lnSpc>
                <a:spcPct val="115000"/>
              </a:lnSpc>
              <a:spcAft>
                <a:spcPts val="600"/>
              </a:spcAft>
            </a:pPr>
            <a:r>
              <a:rPr sz="1100" b="1">
                <a:solidFill>
                  <a:srgbClr val="E86C00"/>
                </a:solidFill>
                <a:latin typeface="Calibri"/>
              </a:rPr>
              <a:t>▸ </a:t>
            </a:r>
            <a:r>
              <a:rPr sz="1100">
                <a:solidFill>
                  <a:srgbClr val="1A1A1A"/>
                </a:solidFill>
                <a:latin typeface="Calibri"/>
              </a:rPr>
              <a:t>1 resultaat = direct doorgestuurd (geen tussenstap)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Eerste Stappen – Aan de Slag!</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Volg dit stappenplan om je eerste activatie te doen</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19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9409" y="1325880"/>
            <a:ext cx="3749039" cy="25146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0849" y="1417320"/>
            <a:ext cx="3566159" cy="64008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2289" y="1463040"/>
            <a:ext cx="1645920" cy="274320"/>
          </a:xfrm>
          <a:prstGeom prst="rect">
            <a:avLst/>
          </a:prstGeom>
          <a:noFill/>
        </p:spPr>
        <p:txBody>
          <a:bodyPr wrap="square" lIns="45720" rIns="45720" tIns="18288" bIns="18288" anchor="t">
            <a:spAutoFit/>
          </a:bodyPr>
          <a:lstStyle/>
          <a:p>
            <a:pPr algn="l">
              <a:lnSpc>
                <a:spcPct val="120000"/>
              </a:lnSpc>
            </a:pPr>
            <a:r>
              <a:rPr sz="1100" b="1">
                <a:solidFill>
                  <a:srgbClr val="F0F0F0"/>
                </a:solidFill>
                <a:latin typeface="Calibri"/>
              </a:rPr>
              <a:t>STAP 1</a:t>
            </a:r>
          </a:p>
        </p:txBody>
      </p:sp>
      <p:sp>
        <p:nvSpPr>
          <p:cNvPr id="15" name="TextBox 14"/>
          <p:cNvSpPr txBox="1"/>
          <p:nvPr/>
        </p:nvSpPr>
        <p:spPr>
          <a:xfrm>
            <a:off x="472289" y="1673352"/>
            <a:ext cx="3383279" cy="320040"/>
          </a:xfrm>
          <a:prstGeom prst="rect">
            <a:avLst/>
          </a:prstGeom>
          <a:noFill/>
        </p:spPr>
        <p:txBody>
          <a:bodyPr wrap="square" lIns="45720" rIns="45720" tIns="18288" bIns="18288" anchor="t">
            <a:spAutoFit/>
          </a:bodyPr>
          <a:lstStyle/>
          <a:p>
            <a:pPr algn="l">
              <a:lnSpc>
                <a:spcPct val="120000"/>
              </a:lnSpc>
            </a:pPr>
            <a:r>
              <a:rPr sz="1700" b="1">
                <a:solidFill>
                  <a:srgbClr val="FFFFFF"/>
                </a:solidFill>
                <a:latin typeface="Calibri"/>
              </a:rPr>
              <a:t>Inloggen</a:t>
            </a:r>
          </a:p>
        </p:txBody>
      </p:sp>
      <p:sp>
        <p:nvSpPr>
          <p:cNvPr id="16" name="TextBox 15"/>
          <p:cNvSpPr txBox="1"/>
          <p:nvPr/>
        </p:nvSpPr>
        <p:spPr>
          <a:xfrm>
            <a:off x="518009" y="2194560"/>
            <a:ext cx="3291839" cy="1554480"/>
          </a:xfrm>
          <a:prstGeom prst="rect">
            <a:avLst/>
          </a:prstGeom>
          <a:noFill/>
        </p:spPr>
        <p:txBody>
          <a:bodyPr wrap="square" lIns="45720" rIns="45720" tIns="18288" bIns="18288" anchor="t">
            <a:spAutoFit/>
          </a:bodyPr>
          <a:lstStyle/>
          <a:p>
            <a:pPr algn="l">
              <a:lnSpc>
                <a:spcPct val="135000"/>
              </a:lnSpc>
            </a:pPr>
            <a:r>
              <a:rPr sz="1150" b="0">
                <a:solidFill>
                  <a:srgbClr val="1A1A1A"/>
                </a:solidFill>
                <a:latin typeface="Calibri"/>
              </a:rPr>
              <a:t>Gebruik je e-mail + wachtwoord. </a:t>
            </a:r>
          </a:p>
          <a:p>
            <a:pPr algn="l">
              <a:lnSpc>
                <a:spcPct val="135000"/>
              </a:lnSpc>
            </a:pPr>
            <a:r>
              <a:rPr sz="1150" b="0">
                <a:solidFill>
                  <a:srgbClr val="1A1A1A"/>
                </a:solidFill>
                <a:latin typeface="Calibri"/>
              </a:rPr>
              <a:t>Testaccounts (demo): admin@nexus.local, medewerker@nexus.local, viewer@nexus.local • Wachtwoord: Test1234!</a:t>
            </a:r>
          </a:p>
        </p:txBody>
      </p:sp>
      <p:sp>
        <p:nvSpPr>
          <p:cNvPr id="17" name="Rounded Rectangle 16"/>
          <p:cNvSpPr/>
          <p:nvPr/>
        </p:nvSpPr>
        <p:spPr>
          <a:xfrm>
            <a:off x="4221328" y="1325880"/>
            <a:ext cx="3749039" cy="25146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12768" y="1417320"/>
            <a:ext cx="3566159" cy="64008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208" y="1463040"/>
            <a:ext cx="1645920" cy="274320"/>
          </a:xfrm>
          <a:prstGeom prst="rect">
            <a:avLst/>
          </a:prstGeom>
          <a:noFill/>
        </p:spPr>
        <p:txBody>
          <a:bodyPr wrap="square" lIns="45720" rIns="45720" tIns="18288" bIns="18288" anchor="t">
            <a:spAutoFit/>
          </a:bodyPr>
          <a:lstStyle/>
          <a:p>
            <a:pPr algn="l">
              <a:lnSpc>
                <a:spcPct val="120000"/>
              </a:lnSpc>
            </a:pPr>
            <a:r>
              <a:rPr sz="1100" b="1">
                <a:solidFill>
                  <a:srgbClr val="F0F0F0"/>
                </a:solidFill>
                <a:latin typeface="Calibri"/>
              </a:rPr>
              <a:t>STAP 2</a:t>
            </a:r>
          </a:p>
        </p:txBody>
      </p:sp>
      <p:sp>
        <p:nvSpPr>
          <p:cNvPr id="20" name="TextBox 19"/>
          <p:cNvSpPr txBox="1"/>
          <p:nvPr/>
        </p:nvSpPr>
        <p:spPr>
          <a:xfrm>
            <a:off x="4404208" y="1673352"/>
            <a:ext cx="3383279" cy="320040"/>
          </a:xfrm>
          <a:prstGeom prst="rect">
            <a:avLst/>
          </a:prstGeom>
          <a:noFill/>
        </p:spPr>
        <p:txBody>
          <a:bodyPr wrap="square" lIns="45720" rIns="45720" tIns="18288" bIns="18288" anchor="t">
            <a:spAutoFit/>
          </a:bodyPr>
          <a:lstStyle/>
          <a:p>
            <a:pPr algn="l">
              <a:lnSpc>
                <a:spcPct val="120000"/>
              </a:lnSpc>
            </a:pPr>
            <a:r>
              <a:rPr sz="1700" b="1">
                <a:solidFill>
                  <a:srgbClr val="FFFFFF"/>
                </a:solidFill>
                <a:latin typeface="Calibri"/>
              </a:rPr>
              <a:t>Bekijk Dashboard</a:t>
            </a:r>
          </a:p>
        </p:txBody>
      </p:sp>
      <p:sp>
        <p:nvSpPr>
          <p:cNvPr id="21" name="TextBox 20"/>
          <p:cNvSpPr txBox="1"/>
          <p:nvPr/>
        </p:nvSpPr>
        <p:spPr>
          <a:xfrm>
            <a:off x="4449928" y="2194560"/>
            <a:ext cx="3291839" cy="1554480"/>
          </a:xfrm>
          <a:prstGeom prst="rect">
            <a:avLst/>
          </a:prstGeom>
          <a:noFill/>
        </p:spPr>
        <p:txBody>
          <a:bodyPr wrap="square" lIns="45720" rIns="45720" tIns="18288" bIns="18288" anchor="t">
            <a:spAutoFit/>
          </a:bodyPr>
          <a:lstStyle/>
          <a:p>
            <a:pPr algn="l">
              <a:lnSpc>
                <a:spcPct val="135000"/>
              </a:lnSpc>
            </a:pPr>
            <a:r>
              <a:rPr sz="1150" b="0">
                <a:solidFill>
                  <a:srgbClr val="1A1A1A"/>
                </a:solidFill>
                <a:latin typeface="Calibri"/>
              </a:rPr>
              <a:t>Overzicht van actieve abo's, voorraad en openstaande activaties. </a:t>
            </a:r>
          </a:p>
          <a:p>
            <a:pPr algn="l">
              <a:lnSpc>
                <a:spcPct val="135000"/>
              </a:lnSpc>
            </a:pPr>
            <a:r>
              <a:rPr sz="1150" b="0">
                <a:solidFill>
                  <a:srgbClr val="1A1A1A"/>
                </a:solidFill>
                <a:latin typeface="Calibri"/>
              </a:rPr>
              <a:t>Leer de zijbalk kennen en probeer ⌘K/Ctrl+K snelzoeken.</a:t>
            </a:r>
          </a:p>
        </p:txBody>
      </p:sp>
      <p:sp>
        <p:nvSpPr>
          <p:cNvPr id="22" name="Rounded Rectangle 21"/>
          <p:cNvSpPr/>
          <p:nvPr/>
        </p:nvSpPr>
        <p:spPr>
          <a:xfrm>
            <a:off x="8153247" y="1325880"/>
            <a:ext cx="3749039" cy="25146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44687" y="1417320"/>
            <a:ext cx="3566159" cy="64008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6127" y="1463040"/>
            <a:ext cx="1645920" cy="274320"/>
          </a:xfrm>
          <a:prstGeom prst="rect">
            <a:avLst/>
          </a:prstGeom>
          <a:noFill/>
        </p:spPr>
        <p:txBody>
          <a:bodyPr wrap="square" lIns="45720" rIns="45720" tIns="18288" bIns="18288" anchor="t">
            <a:spAutoFit/>
          </a:bodyPr>
          <a:lstStyle/>
          <a:p>
            <a:pPr algn="l">
              <a:lnSpc>
                <a:spcPct val="120000"/>
              </a:lnSpc>
            </a:pPr>
            <a:r>
              <a:rPr sz="1100" b="1">
                <a:solidFill>
                  <a:srgbClr val="F0F0F0"/>
                </a:solidFill>
                <a:latin typeface="Calibri"/>
              </a:rPr>
              <a:t>STAP 3</a:t>
            </a:r>
          </a:p>
        </p:txBody>
      </p:sp>
      <p:sp>
        <p:nvSpPr>
          <p:cNvPr id="25" name="TextBox 24"/>
          <p:cNvSpPr txBox="1"/>
          <p:nvPr/>
        </p:nvSpPr>
        <p:spPr>
          <a:xfrm>
            <a:off x="8336127" y="1673352"/>
            <a:ext cx="3383279" cy="320040"/>
          </a:xfrm>
          <a:prstGeom prst="rect">
            <a:avLst/>
          </a:prstGeom>
          <a:noFill/>
        </p:spPr>
        <p:txBody>
          <a:bodyPr wrap="square" lIns="45720" rIns="45720" tIns="18288" bIns="18288" anchor="t">
            <a:spAutoFit/>
          </a:bodyPr>
          <a:lstStyle/>
          <a:p>
            <a:pPr algn="l">
              <a:lnSpc>
                <a:spcPct val="120000"/>
              </a:lnSpc>
            </a:pPr>
            <a:r>
              <a:rPr sz="1700" b="1">
                <a:solidFill>
                  <a:srgbClr val="FFFFFF"/>
                </a:solidFill>
                <a:latin typeface="Calibri"/>
              </a:rPr>
              <a:t>Klanten aanmaken</a:t>
            </a:r>
          </a:p>
        </p:txBody>
      </p:sp>
      <p:sp>
        <p:nvSpPr>
          <p:cNvPr id="26" name="TextBox 25"/>
          <p:cNvSpPr txBox="1"/>
          <p:nvPr/>
        </p:nvSpPr>
        <p:spPr>
          <a:xfrm>
            <a:off x="8381847" y="2194560"/>
            <a:ext cx="3291839" cy="1554480"/>
          </a:xfrm>
          <a:prstGeom prst="rect">
            <a:avLst/>
          </a:prstGeom>
          <a:noFill/>
        </p:spPr>
        <p:txBody>
          <a:bodyPr wrap="square" lIns="45720" rIns="45720" tIns="18288" bIns="18288" anchor="t">
            <a:spAutoFit/>
          </a:bodyPr>
          <a:lstStyle/>
          <a:p>
            <a:pPr algn="l">
              <a:lnSpc>
                <a:spcPct val="135000"/>
              </a:lnSpc>
            </a:pPr>
            <a:r>
              <a:rPr sz="1150" b="0">
                <a:solidFill>
                  <a:srgbClr val="1A1A1A"/>
                </a:solidFill>
                <a:latin typeface="Calibri"/>
              </a:rPr>
              <a:t>Maak een testklant aan via Klanten → Nieuw. </a:t>
            </a:r>
          </a:p>
          <a:p>
            <a:pPr algn="l">
              <a:lnSpc>
                <a:spcPct val="135000"/>
              </a:lnSpc>
            </a:pPr>
            <a:r>
              <a:rPr sz="1150" b="0">
                <a:solidFill>
                  <a:srgbClr val="1A1A1A"/>
                </a:solidFill>
                <a:latin typeface="Calibri"/>
              </a:rPr>
              <a:t>Vul bedrijfnaam, adres, KvK/BTW en evt. subklanten voor hiërarchie.</a:t>
            </a:r>
          </a:p>
        </p:txBody>
      </p:sp>
      <p:sp>
        <p:nvSpPr>
          <p:cNvPr id="27" name="Rounded Rectangle 26"/>
          <p:cNvSpPr/>
          <p:nvPr/>
        </p:nvSpPr>
        <p:spPr>
          <a:xfrm>
            <a:off x="289409" y="4069080"/>
            <a:ext cx="3749039" cy="25146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80849" y="4160520"/>
            <a:ext cx="3566159" cy="64008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2289" y="4206240"/>
            <a:ext cx="1645920" cy="274320"/>
          </a:xfrm>
          <a:prstGeom prst="rect">
            <a:avLst/>
          </a:prstGeom>
          <a:noFill/>
        </p:spPr>
        <p:txBody>
          <a:bodyPr wrap="square" lIns="45720" rIns="45720" tIns="18288" bIns="18288" anchor="t">
            <a:spAutoFit/>
          </a:bodyPr>
          <a:lstStyle/>
          <a:p>
            <a:pPr algn="l">
              <a:lnSpc>
                <a:spcPct val="120000"/>
              </a:lnSpc>
            </a:pPr>
            <a:r>
              <a:rPr sz="1100" b="1">
                <a:solidFill>
                  <a:srgbClr val="F0F0F0"/>
                </a:solidFill>
                <a:latin typeface="Calibri"/>
              </a:rPr>
              <a:t>STAP 4</a:t>
            </a:r>
          </a:p>
        </p:txBody>
      </p:sp>
      <p:sp>
        <p:nvSpPr>
          <p:cNvPr id="30" name="TextBox 29"/>
          <p:cNvSpPr txBox="1"/>
          <p:nvPr/>
        </p:nvSpPr>
        <p:spPr>
          <a:xfrm>
            <a:off x="472289" y="4416552"/>
            <a:ext cx="3383279" cy="320040"/>
          </a:xfrm>
          <a:prstGeom prst="rect">
            <a:avLst/>
          </a:prstGeom>
          <a:noFill/>
        </p:spPr>
        <p:txBody>
          <a:bodyPr wrap="square" lIns="45720" rIns="45720" tIns="18288" bIns="18288" anchor="t">
            <a:spAutoFit/>
          </a:bodyPr>
          <a:lstStyle/>
          <a:p>
            <a:pPr algn="l">
              <a:lnSpc>
                <a:spcPct val="120000"/>
              </a:lnSpc>
            </a:pPr>
            <a:r>
              <a:rPr sz="1700" b="1">
                <a:solidFill>
                  <a:srgbClr val="FFFFFF"/>
                </a:solidFill>
                <a:latin typeface="Calibri"/>
              </a:rPr>
              <a:t>Voorraad opzetten</a:t>
            </a:r>
          </a:p>
        </p:txBody>
      </p:sp>
      <p:sp>
        <p:nvSpPr>
          <p:cNvPr id="31" name="TextBox 30"/>
          <p:cNvSpPr txBox="1"/>
          <p:nvPr/>
        </p:nvSpPr>
        <p:spPr>
          <a:xfrm>
            <a:off x="518009" y="4937760"/>
            <a:ext cx="3291839" cy="1554480"/>
          </a:xfrm>
          <a:prstGeom prst="rect">
            <a:avLst/>
          </a:prstGeom>
          <a:noFill/>
        </p:spPr>
        <p:txBody>
          <a:bodyPr wrap="square" lIns="45720" rIns="45720" tIns="18288" bIns="18288" anchor="t">
            <a:spAutoFit/>
          </a:bodyPr>
          <a:lstStyle/>
          <a:p>
            <a:pPr algn="l">
              <a:lnSpc>
                <a:spcPct val="135000"/>
              </a:lnSpc>
            </a:pPr>
            <a:r>
              <a:rPr sz="1150" b="0">
                <a:solidFill>
                  <a:srgbClr val="1A1A1A"/>
                </a:solidFill>
                <a:latin typeface="Calibri"/>
              </a:rPr>
              <a:t>Trackers/SIMs toevoegen: handmatig of via CSV Import. </a:t>
            </a:r>
          </a:p>
          <a:p>
            <a:pPr algn="l">
              <a:lnSpc>
                <a:spcPct val="135000"/>
              </a:lnSpc>
            </a:pPr>
            <a:r>
              <a:rPr sz="1150" b="0">
                <a:solidFill>
                  <a:srgbClr val="1A1A1A"/>
                </a:solidFill>
                <a:latin typeface="Calibri"/>
              </a:rPr>
              <a:t>Controleer IMEI/ICCID via preview – alleen VALIDE rijen worden ingevoegd.</a:t>
            </a:r>
          </a:p>
        </p:txBody>
      </p:sp>
      <p:sp>
        <p:nvSpPr>
          <p:cNvPr id="32" name="Rounded Rectangle 31"/>
          <p:cNvSpPr/>
          <p:nvPr/>
        </p:nvSpPr>
        <p:spPr>
          <a:xfrm>
            <a:off x="4221328" y="4069080"/>
            <a:ext cx="3749039" cy="25146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12768" y="4160520"/>
            <a:ext cx="3566159"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04208" y="4206240"/>
            <a:ext cx="1645920" cy="274320"/>
          </a:xfrm>
          <a:prstGeom prst="rect">
            <a:avLst/>
          </a:prstGeom>
          <a:noFill/>
        </p:spPr>
        <p:txBody>
          <a:bodyPr wrap="square" lIns="45720" rIns="45720" tIns="18288" bIns="18288" anchor="t">
            <a:spAutoFit/>
          </a:bodyPr>
          <a:lstStyle/>
          <a:p>
            <a:pPr algn="l">
              <a:lnSpc>
                <a:spcPct val="120000"/>
              </a:lnSpc>
            </a:pPr>
            <a:r>
              <a:rPr sz="1100" b="1">
                <a:solidFill>
                  <a:srgbClr val="F0F0F0"/>
                </a:solidFill>
                <a:latin typeface="Calibri"/>
              </a:rPr>
              <a:t>STAP 5</a:t>
            </a:r>
          </a:p>
        </p:txBody>
      </p:sp>
      <p:sp>
        <p:nvSpPr>
          <p:cNvPr id="35" name="TextBox 34"/>
          <p:cNvSpPr txBox="1"/>
          <p:nvPr/>
        </p:nvSpPr>
        <p:spPr>
          <a:xfrm>
            <a:off x="4404208" y="4416552"/>
            <a:ext cx="3383279" cy="320040"/>
          </a:xfrm>
          <a:prstGeom prst="rect">
            <a:avLst/>
          </a:prstGeom>
          <a:noFill/>
        </p:spPr>
        <p:txBody>
          <a:bodyPr wrap="square" lIns="45720" rIns="45720" tIns="18288" bIns="18288" anchor="t">
            <a:spAutoFit/>
          </a:bodyPr>
          <a:lstStyle/>
          <a:p>
            <a:pPr algn="l">
              <a:lnSpc>
                <a:spcPct val="120000"/>
              </a:lnSpc>
            </a:pPr>
            <a:r>
              <a:rPr sz="1700" b="1">
                <a:solidFill>
                  <a:srgbClr val="FFFFFF"/>
                </a:solidFill>
                <a:latin typeface="Calibri"/>
              </a:rPr>
              <a:t>Activeer via Wizard</a:t>
            </a:r>
          </a:p>
        </p:txBody>
      </p:sp>
      <p:sp>
        <p:nvSpPr>
          <p:cNvPr id="36" name="TextBox 35"/>
          <p:cNvSpPr txBox="1"/>
          <p:nvPr/>
        </p:nvSpPr>
        <p:spPr>
          <a:xfrm>
            <a:off x="4449928" y="4937760"/>
            <a:ext cx="3291839" cy="1554480"/>
          </a:xfrm>
          <a:prstGeom prst="rect">
            <a:avLst/>
          </a:prstGeom>
          <a:noFill/>
        </p:spPr>
        <p:txBody>
          <a:bodyPr wrap="square" lIns="45720" rIns="45720" tIns="18288" bIns="18288" anchor="t">
            <a:spAutoFit/>
          </a:bodyPr>
          <a:lstStyle/>
          <a:p>
            <a:pPr algn="l">
              <a:lnSpc>
                <a:spcPct val="135000"/>
              </a:lnSpc>
            </a:pPr>
            <a:r>
              <a:rPr sz="1150" b="0">
                <a:solidFill>
                  <a:srgbClr val="1A1A1A"/>
                </a:solidFill>
                <a:latin typeface="Calibri"/>
              </a:rPr>
              <a:t>Activaties → Nieuwe activatie → 6 stappen doorlopen. </a:t>
            </a:r>
          </a:p>
          <a:p>
            <a:pPr algn="l">
              <a:lnSpc>
                <a:spcPct val="135000"/>
              </a:lnSpc>
            </a:pPr>
            <a:r>
              <a:rPr sz="1150" b="0">
                <a:solidFill>
                  <a:srgbClr val="1A1A1A"/>
                </a:solidFill>
                <a:latin typeface="Calibri"/>
              </a:rPr>
              <a:t>Stap 6 = Controle → Klik op 'Activeer nu' (transactioneel, atomair).</a:t>
            </a:r>
          </a:p>
        </p:txBody>
      </p:sp>
      <p:sp>
        <p:nvSpPr>
          <p:cNvPr id="37" name="Rounded Rectangle 36"/>
          <p:cNvSpPr/>
          <p:nvPr/>
        </p:nvSpPr>
        <p:spPr>
          <a:xfrm>
            <a:off x="8153247" y="4069080"/>
            <a:ext cx="3749039" cy="251460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44687" y="4160520"/>
            <a:ext cx="3566159" cy="64008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6127" y="4206240"/>
            <a:ext cx="1645920" cy="274320"/>
          </a:xfrm>
          <a:prstGeom prst="rect">
            <a:avLst/>
          </a:prstGeom>
          <a:noFill/>
        </p:spPr>
        <p:txBody>
          <a:bodyPr wrap="square" lIns="45720" rIns="45720" tIns="18288" bIns="18288" anchor="t">
            <a:spAutoFit/>
          </a:bodyPr>
          <a:lstStyle/>
          <a:p>
            <a:pPr algn="l">
              <a:lnSpc>
                <a:spcPct val="120000"/>
              </a:lnSpc>
            </a:pPr>
            <a:r>
              <a:rPr sz="1100" b="1">
                <a:solidFill>
                  <a:srgbClr val="F0F0F0"/>
                </a:solidFill>
                <a:latin typeface="Calibri"/>
              </a:rPr>
              <a:t>STAP 6</a:t>
            </a:r>
          </a:p>
        </p:txBody>
      </p:sp>
      <p:sp>
        <p:nvSpPr>
          <p:cNvPr id="40" name="TextBox 39"/>
          <p:cNvSpPr txBox="1"/>
          <p:nvPr/>
        </p:nvSpPr>
        <p:spPr>
          <a:xfrm>
            <a:off x="8336127" y="4416552"/>
            <a:ext cx="3383279" cy="320040"/>
          </a:xfrm>
          <a:prstGeom prst="rect">
            <a:avLst/>
          </a:prstGeom>
          <a:noFill/>
        </p:spPr>
        <p:txBody>
          <a:bodyPr wrap="square" lIns="45720" rIns="45720" tIns="18288" bIns="18288" anchor="t">
            <a:spAutoFit/>
          </a:bodyPr>
          <a:lstStyle/>
          <a:p>
            <a:pPr algn="l">
              <a:lnSpc>
                <a:spcPct val="120000"/>
              </a:lnSpc>
            </a:pPr>
            <a:r>
              <a:rPr sz="1700" b="1">
                <a:solidFill>
                  <a:srgbClr val="FFFFFF"/>
                </a:solidFill>
                <a:latin typeface="Calibri"/>
              </a:rPr>
              <a:t>Facturen genereren</a:t>
            </a:r>
          </a:p>
        </p:txBody>
      </p:sp>
      <p:sp>
        <p:nvSpPr>
          <p:cNvPr id="41" name="TextBox 40"/>
          <p:cNvSpPr txBox="1"/>
          <p:nvPr/>
        </p:nvSpPr>
        <p:spPr>
          <a:xfrm>
            <a:off x="8381847" y="4937760"/>
            <a:ext cx="3291839" cy="1554480"/>
          </a:xfrm>
          <a:prstGeom prst="rect">
            <a:avLst/>
          </a:prstGeom>
          <a:noFill/>
        </p:spPr>
        <p:txBody>
          <a:bodyPr wrap="square" lIns="45720" rIns="45720" tIns="18288" bIns="18288" anchor="t">
            <a:spAutoFit/>
          </a:bodyPr>
          <a:lstStyle/>
          <a:p>
            <a:pPr algn="l">
              <a:lnSpc>
                <a:spcPct val="135000"/>
              </a:lnSpc>
            </a:pPr>
            <a:r>
              <a:rPr sz="1150" b="0">
                <a:solidFill>
                  <a:srgbClr val="1A1A1A"/>
                </a:solidFill>
                <a:latin typeface="Calibri"/>
              </a:rPr>
              <a:t>Facturen → Genereer facturen → Kies maand. </a:t>
            </a:r>
          </a:p>
          <a:p>
            <a:pPr algn="l">
              <a:lnSpc>
                <a:spcPct val="135000"/>
              </a:lnSpc>
            </a:pPr>
            <a:r>
              <a:rPr sz="1150" b="0">
                <a:solidFill>
                  <a:srgbClr val="1A1A1A"/>
                </a:solidFill>
                <a:latin typeface="Calibri"/>
              </a:rPr>
              <a:t>Controleer DRAFT facturen → Zet op SENT om te 'verzenden' → Markeer als PAID.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Tips &amp; Best Practices</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Slim werken met Nexus – hierop letten</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20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20827" y="1280160"/>
            <a:ext cx="3794760" cy="51206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12267" y="1371600"/>
            <a:ext cx="3611880" cy="59436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2267" y="1435608"/>
            <a:ext cx="3611880" cy="457200"/>
          </a:xfrm>
          <a:prstGeom prst="rect">
            <a:avLst/>
          </a:prstGeom>
          <a:noFill/>
        </p:spPr>
        <p:txBody>
          <a:bodyPr wrap="square" lIns="45720" rIns="45720" tIns="18288" bIns="18288" anchor="t">
            <a:spAutoFit/>
          </a:bodyPr>
          <a:lstStyle/>
          <a:p>
            <a:pPr algn="ctr">
              <a:lnSpc>
                <a:spcPct val="120000"/>
              </a:lnSpc>
            </a:pPr>
            <a:r>
              <a:rPr sz="1600" b="1">
                <a:solidFill>
                  <a:srgbClr val="FFFFFF"/>
                </a:solidFill>
                <a:latin typeface="Calibri"/>
              </a:rPr>
              <a:t>💡 Data Invoer</a:t>
            </a:r>
          </a:p>
        </p:txBody>
      </p:sp>
      <p:sp>
        <p:nvSpPr>
          <p:cNvPr id="15" name="TextBox 14"/>
          <p:cNvSpPr txBox="1"/>
          <p:nvPr/>
        </p:nvSpPr>
        <p:spPr>
          <a:xfrm>
            <a:off x="495147" y="2103120"/>
            <a:ext cx="3246120" cy="4114800"/>
          </a:xfrm>
          <a:prstGeom prst="rect">
            <a:avLst/>
          </a:prstGeom>
          <a:noFill/>
        </p:spPr>
        <p:txBody>
          <a:bodyPr wrap="square">
            <a:spAutoFit/>
          </a:bodyPr>
          <a:lstStyle/>
          <a:p>
            <a:pPr algn="l">
              <a:lnSpc>
                <a:spcPct val="130000"/>
              </a:lnSpc>
              <a:spcAft>
                <a:spcPts val="600"/>
              </a:spcAft>
            </a:pPr>
            <a:r>
              <a:rPr sz="1200" b="1">
                <a:solidFill>
                  <a:srgbClr val="1E3A5F"/>
                </a:solidFill>
                <a:latin typeface="Calibri"/>
              </a:rPr>
              <a:t>▸ </a:t>
            </a:r>
            <a:r>
              <a:rPr sz="1200">
                <a:solidFill>
                  <a:srgbClr val="1A1A1A"/>
                </a:solidFill>
                <a:latin typeface="Calibri"/>
              </a:rPr>
              <a:t>Gebruik CSV Import voor grote partijen trackers/SIMs</a:t>
            </a:r>
          </a:p>
          <a:p>
            <a:pPr algn="l">
              <a:lnSpc>
                <a:spcPct val="130000"/>
              </a:lnSpc>
              <a:spcAft>
                <a:spcPts val="600"/>
              </a:spcAft>
            </a:pPr>
            <a:r>
              <a:rPr sz="1200" b="1">
                <a:solidFill>
                  <a:srgbClr val="1E3A5F"/>
                </a:solidFill>
                <a:latin typeface="Calibri"/>
              </a:rPr>
              <a:t>▸ </a:t>
            </a:r>
            <a:r>
              <a:rPr sz="1200">
                <a:solidFill>
                  <a:srgbClr val="1A1A1A"/>
                </a:solidFill>
                <a:latin typeface="Calibri"/>
              </a:rPr>
              <a:t>Controleer ALTIJD de preview bij import (fouten eerst oplossen)</a:t>
            </a:r>
          </a:p>
          <a:p>
            <a:pPr algn="l">
              <a:lnSpc>
                <a:spcPct val="130000"/>
              </a:lnSpc>
              <a:spcAft>
                <a:spcPts val="600"/>
              </a:spcAft>
            </a:pPr>
            <a:r>
              <a:rPr sz="1200" b="1">
                <a:solidFill>
                  <a:srgbClr val="1E3A5F"/>
                </a:solidFill>
                <a:latin typeface="Calibri"/>
              </a:rPr>
              <a:t>▸ </a:t>
            </a:r>
            <a:r>
              <a:rPr sz="1200">
                <a:solidFill>
                  <a:srgbClr val="1A1A1A"/>
                </a:solidFill>
                <a:latin typeface="Calibri"/>
              </a:rPr>
              <a:t>Bij weinig data: handmatig aanmaken is sneller</a:t>
            </a:r>
          </a:p>
          <a:p>
            <a:pPr algn="l">
              <a:lnSpc>
                <a:spcPct val="130000"/>
              </a:lnSpc>
              <a:spcAft>
                <a:spcPts val="600"/>
              </a:spcAft>
            </a:pPr>
            <a:r>
              <a:rPr sz="1200" b="1">
                <a:solidFill>
                  <a:srgbClr val="1E3A5F"/>
                </a:solidFill>
                <a:latin typeface="Calibri"/>
              </a:rPr>
              <a:t>▸ </a:t>
            </a:r>
            <a:r>
              <a:rPr sz="1200">
                <a:solidFill>
                  <a:srgbClr val="1A1A1A"/>
                </a:solidFill>
                <a:latin typeface="Calibri"/>
              </a:rPr>
              <a:t>Kopieer IMEI/ICCID zonder streepjes – normalisatie doet de rest</a:t>
            </a:r>
          </a:p>
          <a:p>
            <a:pPr algn="l">
              <a:lnSpc>
                <a:spcPct val="130000"/>
              </a:lnSpc>
              <a:spcAft>
                <a:spcPts val="600"/>
              </a:spcAft>
            </a:pPr>
            <a:r>
              <a:rPr sz="1200" b="1">
                <a:solidFill>
                  <a:srgbClr val="1E3A5F"/>
                </a:solidFill>
                <a:latin typeface="Calibri"/>
              </a:rPr>
              <a:t>▸ </a:t>
            </a:r>
            <a:r>
              <a:rPr sz="1200">
                <a:solidFill>
                  <a:srgbClr val="1A1A1A"/>
                </a:solidFill>
                <a:latin typeface="Calibri"/>
              </a:rPr>
              <a:t>Identifiers: NIET zelf bedenken – Nexus genereert ze!</a:t>
            </a:r>
          </a:p>
        </p:txBody>
      </p:sp>
      <p:sp>
        <p:nvSpPr>
          <p:cNvPr id="16" name="Rounded Rectangle 15"/>
          <p:cNvSpPr/>
          <p:nvPr/>
        </p:nvSpPr>
        <p:spPr>
          <a:xfrm>
            <a:off x="4198467" y="1280160"/>
            <a:ext cx="3794760" cy="51206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89907" y="1371600"/>
            <a:ext cx="3611880" cy="594360"/>
          </a:xfrm>
          <a:prstGeom prst="round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89907" y="1435608"/>
            <a:ext cx="3611880" cy="457200"/>
          </a:xfrm>
          <a:prstGeom prst="rect">
            <a:avLst/>
          </a:prstGeom>
          <a:noFill/>
        </p:spPr>
        <p:txBody>
          <a:bodyPr wrap="square" lIns="45720" rIns="45720" tIns="18288" bIns="18288" anchor="t">
            <a:spAutoFit/>
          </a:bodyPr>
          <a:lstStyle/>
          <a:p>
            <a:pPr algn="ctr">
              <a:lnSpc>
                <a:spcPct val="120000"/>
              </a:lnSpc>
            </a:pPr>
            <a:r>
              <a:rPr sz="1600" b="1">
                <a:solidFill>
                  <a:srgbClr val="FFFFFF"/>
                </a:solidFill>
                <a:latin typeface="Calibri"/>
              </a:rPr>
              <a:t>💡 Facturatie</a:t>
            </a:r>
          </a:p>
        </p:txBody>
      </p:sp>
      <p:sp>
        <p:nvSpPr>
          <p:cNvPr id="19" name="TextBox 18"/>
          <p:cNvSpPr txBox="1"/>
          <p:nvPr/>
        </p:nvSpPr>
        <p:spPr>
          <a:xfrm>
            <a:off x="4472787" y="2103120"/>
            <a:ext cx="3246120" cy="4114800"/>
          </a:xfrm>
          <a:prstGeom prst="rect">
            <a:avLst/>
          </a:prstGeom>
          <a:noFill/>
        </p:spPr>
        <p:txBody>
          <a:bodyPr wrap="square">
            <a:spAutoFit/>
          </a:bodyPr>
          <a:lstStyle/>
          <a:p>
            <a:pPr algn="l">
              <a:lnSpc>
                <a:spcPct val="130000"/>
              </a:lnSpc>
              <a:spcAft>
                <a:spcPts val="600"/>
              </a:spcAft>
            </a:pPr>
            <a:r>
              <a:rPr sz="1200" b="1">
                <a:solidFill>
                  <a:srgbClr val="2E86C1"/>
                </a:solidFill>
                <a:latin typeface="Calibri"/>
              </a:rPr>
              <a:t>▸ </a:t>
            </a:r>
            <a:r>
              <a:rPr sz="1200">
                <a:solidFill>
                  <a:srgbClr val="1A1A1A"/>
                </a:solidFill>
                <a:latin typeface="Calibri"/>
              </a:rPr>
              <a:t>Genereer facturen altijd op de 1e van de maand</a:t>
            </a:r>
          </a:p>
          <a:p>
            <a:pPr algn="l">
              <a:lnSpc>
                <a:spcPct val="130000"/>
              </a:lnSpc>
              <a:spcAft>
                <a:spcPts val="600"/>
              </a:spcAft>
            </a:pPr>
            <a:r>
              <a:rPr sz="1200" b="1">
                <a:solidFill>
                  <a:srgbClr val="2E86C1"/>
                </a:solidFill>
                <a:latin typeface="Calibri"/>
              </a:rPr>
              <a:t>▸ </a:t>
            </a:r>
            <a:r>
              <a:rPr sz="1200">
                <a:solidFill>
                  <a:srgbClr val="1A1A1A"/>
                </a:solidFill>
                <a:latin typeface="Calibri"/>
              </a:rPr>
              <a:t>Check 'Overgeslagen' – bestaan al facturen voor deze periode?</a:t>
            </a:r>
          </a:p>
          <a:p>
            <a:pPr algn="l">
              <a:lnSpc>
                <a:spcPct val="130000"/>
              </a:lnSpc>
              <a:spcAft>
                <a:spcPts val="600"/>
              </a:spcAft>
            </a:pPr>
            <a:r>
              <a:rPr sz="1200" b="1">
                <a:solidFill>
                  <a:srgbClr val="2E86C1"/>
                </a:solidFill>
                <a:latin typeface="Calibri"/>
              </a:rPr>
              <a:t>▸ </a:t>
            </a:r>
            <a:r>
              <a:rPr sz="1200">
                <a:solidFill>
                  <a:srgbClr val="1A1A1A"/>
                </a:solidFill>
                <a:latin typeface="Calibri"/>
              </a:rPr>
              <a:t>Alleen DRAFT facturen zijn nog te bewerken</a:t>
            </a:r>
          </a:p>
          <a:p>
            <a:pPr algn="l">
              <a:lnSpc>
                <a:spcPct val="130000"/>
              </a:lnSpc>
              <a:spcAft>
                <a:spcPts val="600"/>
              </a:spcAft>
            </a:pPr>
            <a:r>
              <a:rPr sz="1200" b="1">
                <a:solidFill>
                  <a:srgbClr val="2E86C1"/>
                </a:solidFill>
                <a:latin typeface="Calibri"/>
              </a:rPr>
              <a:t>▸ </a:t>
            </a:r>
            <a:r>
              <a:rPr sz="1200">
                <a:solidFill>
                  <a:srgbClr val="1A1A1A"/>
                </a:solidFill>
                <a:latin typeface="Calibri"/>
              </a:rPr>
              <a:t>Markeer PAID zodra betaling binnen is (audit!),</a:t>
            </a:r>
          </a:p>
          <a:p>
            <a:pPr algn="l">
              <a:lnSpc>
                <a:spcPct val="130000"/>
              </a:lnSpc>
              <a:spcAft>
                <a:spcPts val="600"/>
              </a:spcAft>
            </a:pPr>
            <a:r>
              <a:rPr sz="1200" b="1">
                <a:solidFill>
                  <a:srgbClr val="2E86C1"/>
                </a:solidFill>
                <a:latin typeface="Calibri"/>
              </a:rPr>
              <a:t>▸ </a:t>
            </a:r>
            <a:r>
              <a:rPr sz="1200">
                <a:solidFill>
                  <a:srgbClr val="1A1A1A"/>
                </a:solidFill>
                <a:latin typeface="Calibri"/>
              </a:rPr>
              <a:t>OVERDUE = automatische提醒; bekijk lijk wekelijks</a:t>
            </a:r>
          </a:p>
        </p:txBody>
      </p:sp>
      <p:sp>
        <p:nvSpPr>
          <p:cNvPr id="20" name="Rounded Rectangle 19"/>
          <p:cNvSpPr/>
          <p:nvPr/>
        </p:nvSpPr>
        <p:spPr>
          <a:xfrm>
            <a:off x="8176107" y="1280160"/>
            <a:ext cx="3794760" cy="5120640"/>
          </a:xfrm>
          <a:prstGeom prst="roundRect">
            <a:avLst/>
          </a:prstGeom>
          <a:solidFill>
            <a:srgbClr val="FFFFFF"/>
          </a:solidFill>
          <a:ln w="9525">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67547" y="1371600"/>
            <a:ext cx="3611880" cy="59436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7547" y="1435608"/>
            <a:ext cx="3611880" cy="457200"/>
          </a:xfrm>
          <a:prstGeom prst="rect">
            <a:avLst/>
          </a:prstGeom>
          <a:noFill/>
        </p:spPr>
        <p:txBody>
          <a:bodyPr wrap="square" lIns="45720" rIns="45720" tIns="18288" bIns="18288" anchor="t">
            <a:spAutoFit/>
          </a:bodyPr>
          <a:lstStyle/>
          <a:p>
            <a:pPr algn="ctr">
              <a:lnSpc>
                <a:spcPct val="120000"/>
              </a:lnSpc>
            </a:pPr>
            <a:r>
              <a:rPr sz="1600" b="1">
                <a:solidFill>
                  <a:srgbClr val="FFFFFF"/>
                </a:solidFill>
                <a:latin typeface="Calibri"/>
              </a:rPr>
              <a:t>💡 Abonnementen</a:t>
            </a:r>
          </a:p>
        </p:txBody>
      </p:sp>
      <p:sp>
        <p:nvSpPr>
          <p:cNvPr id="23" name="TextBox 22"/>
          <p:cNvSpPr txBox="1"/>
          <p:nvPr/>
        </p:nvSpPr>
        <p:spPr>
          <a:xfrm>
            <a:off x="8450427" y="2103120"/>
            <a:ext cx="3246120" cy="4114800"/>
          </a:xfrm>
          <a:prstGeom prst="rect">
            <a:avLst/>
          </a:prstGeom>
          <a:noFill/>
        </p:spPr>
        <p:txBody>
          <a:bodyPr wrap="square">
            <a:spAutoFit/>
          </a:bodyPr>
          <a:lstStyle/>
          <a:p>
            <a:pPr algn="l">
              <a:lnSpc>
                <a:spcPct val="130000"/>
              </a:lnSpc>
              <a:spcAft>
                <a:spcPts val="600"/>
              </a:spcAft>
            </a:pPr>
            <a:r>
              <a:rPr sz="1200" b="1">
                <a:solidFill>
                  <a:srgbClr val="E86C00"/>
                </a:solidFill>
                <a:latin typeface="Calibri"/>
              </a:rPr>
              <a:t>▸ </a:t>
            </a:r>
            <a:r>
              <a:rPr sz="1200">
                <a:solidFill>
                  <a:srgbClr val="1A1A1A"/>
                </a:solidFill>
                <a:latin typeface="Calibri"/>
              </a:rPr>
              <a:t>Gebruik SUSPEND (niet CANCEL) bij tijdelijke pauze</a:t>
            </a:r>
          </a:p>
          <a:p>
            <a:pPr algn="l">
              <a:lnSpc>
                <a:spcPct val="130000"/>
              </a:lnSpc>
              <a:spcAft>
                <a:spcPts val="600"/>
              </a:spcAft>
            </a:pPr>
            <a:r>
              <a:rPr sz="1200" b="1">
                <a:solidFill>
                  <a:srgbClr val="E86C00"/>
                </a:solidFill>
                <a:latin typeface="Calibri"/>
              </a:rPr>
              <a:t>▸ </a:t>
            </a:r>
            <a:r>
              <a:rPr sz="1200">
                <a:solidFill>
                  <a:srgbClr val="1A1A1A"/>
                </a:solidFill>
                <a:latin typeface="Calibri"/>
              </a:rPr>
              <a:t>Tracker/SIM vervangen = wizard REPLACEMENT reden</a:t>
            </a:r>
          </a:p>
          <a:p>
            <a:pPr algn="l">
              <a:lnSpc>
                <a:spcPct val="130000"/>
              </a:lnSpc>
              <a:spcAft>
                <a:spcPts val="600"/>
              </a:spcAft>
            </a:pPr>
            <a:r>
              <a:rPr sz="1200" b="1">
                <a:solidFill>
                  <a:srgbClr val="E86C00"/>
                </a:solidFill>
                <a:latin typeface="Calibri"/>
              </a:rPr>
              <a:t>▸ </a:t>
            </a:r>
            <a:r>
              <a:rPr sz="1200">
                <a:solidFill>
                  <a:srgbClr val="1A1A1A"/>
                </a:solidFill>
                <a:latin typeface="Calibri"/>
              </a:rPr>
              <a:t>RMA = markeer DEFECT, voeg nieuwe tracker toe via vervangen</a:t>
            </a:r>
          </a:p>
          <a:p>
            <a:pPr algn="l">
              <a:lnSpc>
                <a:spcPct val="130000"/>
              </a:lnSpc>
              <a:spcAft>
                <a:spcPts val="600"/>
              </a:spcAft>
            </a:pPr>
            <a:r>
              <a:rPr sz="1200" b="1">
                <a:solidFill>
                  <a:srgbClr val="E86C00"/>
                </a:solidFill>
                <a:latin typeface="Calibri"/>
              </a:rPr>
              <a:t>▸ </a:t>
            </a:r>
            <a:r>
              <a:rPr sz="1200">
                <a:solidFill>
                  <a:srgbClr val="1A1A1A"/>
                </a:solidFill>
                <a:latin typeface="Calibri"/>
              </a:rPr>
              <a:t>Bij Beeindigen (TERMINATE): hardware gaat terug naar voorraad</a:t>
            </a:r>
          </a:p>
          <a:p>
            <a:pPr algn="l">
              <a:lnSpc>
                <a:spcPct val="130000"/>
              </a:lnSpc>
              <a:spcAft>
                <a:spcPts val="600"/>
              </a:spcAft>
            </a:pPr>
            <a:r>
              <a:rPr sz="1200" b="1">
                <a:solidFill>
                  <a:srgbClr val="E86C00"/>
                </a:solidFill>
                <a:latin typeface="Calibri"/>
              </a:rPr>
              <a:t>▸ </a:t>
            </a:r>
            <a:r>
              <a:rPr sz="1200">
                <a:solidFill>
                  <a:srgbClr val="1A1A1A"/>
                </a:solidFill>
                <a:latin typeface="Calibri"/>
              </a:rPr>
              <a:t>Wijzig prijzen alleen als er wijzigingsovereenkomst 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058400" cy="640080"/>
          </a:xfrm>
          <a:prstGeom prst="rect">
            <a:avLst/>
          </a:prstGeom>
          <a:noFill/>
        </p:spPr>
        <p:txBody>
          <a:bodyPr wrap="square" lIns="45720" rIns="45720" tIns="18288" bIns="18288" anchor="t">
            <a:spAutoFit/>
          </a:bodyPr>
          <a:lstStyle/>
          <a:p>
            <a:pPr algn="l">
              <a:lnSpc>
                <a:spcPct val="120000"/>
              </a:lnSpc>
            </a:pPr>
            <a:r>
              <a:rPr sz="3000" b="1">
                <a:solidFill>
                  <a:srgbClr val="FFFFFF"/>
                </a:solidFill>
                <a:latin typeface="Calibri"/>
              </a:rPr>
              <a:t>Veelgestelde Vragen (FAQ)</a:t>
            </a:r>
          </a:p>
        </p:txBody>
      </p:sp>
      <p:sp>
        <p:nvSpPr>
          <p:cNvPr id="5" name="TextBox 4"/>
          <p:cNvSpPr txBox="1"/>
          <p:nvPr/>
        </p:nvSpPr>
        <p:spPr>
          <a:xfrm>
            <a:off x="457200" y="685800"/>
            <a:ext cx="10058400" cy="365760"/>
          </a:xfrm>
          <a:prstGeom prst="rect">
            <a:avLst/>
          </a:prstGeom>
          <a:noFill/>
        </p:spPr>
        <p:txBody>
          <a:bodyPr wrap="square" lIns="45720" rIns="45720" tIns="18288" bIns="18288" anchor="t">
            <a:spAutoFit/>
          </a:bodyPr>
          <a:lstStyle/>
          <a:p>
            <a:pPr algn="l">
              <a:lnSpc>
                <a:spcPct val="120000"/>
              </a:lnSpc>
            </a:pPr>
            <a:r>
              <a:rPr sz="1400" b="0">
                <a:solidFill>
                  <a:srgbClr val="BFDBFE"/>
                </a:solidFill>
                <a:latin typeface="Calibri"/>
              </a:rPr>
              <a:t>Antwoorden op de meest voorkomende vragen</a:t>
            </a:r>
          </a:p>
        </p:txBody>
      </p:sp>
      <p:sp>
        <p:nvSpPr>
          <p:cNvPr id="6" name="Rounded Rectangle 5"/>
          <p:cNvSpPr/>
          <p:nvPr/>
        </p:nvSpPr>
        <p:spPr>
          <a:xfrm>
            <a:off x="10180015" y="137160"/>
            <a:ext cx="1737360" cy="777240"/>
          </a:xfrm>
          <a:prstGeom prst="round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80015" y="274320"/>
            <a:ext cx="1737360" cy="502920"/>
          </a:xfrm>
          <a:prstGeom prst="rect">
            <a:avLst/>
          </a:prstGeom>
          <a:noFill/>
        </p:spPr>
        <p:txBody>
          <a:bodyPr wrap="square" lIns="45720" rIns="45720" tIns="18288" bIns="18288" anchor="t">
            <a:spAutoFit/>
          </a:bodyPr>
          <a:lstStyle/>
          <a:p>
            <a:pPr algn="ctr">
              <a:lnSpc>
                <a:spcPct val="120000"/>
              </a:lnSpc>
            </a:pPr>
            <a:r>
              <a:rPr sz="2400" b="1">
                <a:solidFill>
                  <a:srgbClr val="FFFFFF"/>
                </a:solidFill>
                <a:latin typeface="Calibri"/>
              </a:rPr>
              <a:t>NEXUS</a:t>
            </a:r>
          </a:p>
        </p:txBody>
      </p:sp>
      <p:sp>
        <p:nvSpPr>
          <p:cNvPr id="8" name="Rectangle 7"/>
          <p:cNvSpPr/>
          <p:nvPr/>
        </p:nvSpPr>
        <p:spPr>
          <a:xfrm>
            <a:off x="0" y="6492240"/>
            <a:ext cx="12191695" cy="365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10528"/>
            <a:ext cx="5486400" cy="320040"/>
          </a:xfrm>
          <a:prstGeom prst="rect">
            <a:avLst/>
          </a:prstGeom>
          <a:noFill/>
        </p:spPr>
        <p:txBody>
          <a:bodyPr wrap="square" lIns="45720" rIns="45720" tIns="18288" bIns="18288" anchor="t">
            <a:spAutoFit/>
          </a:bodyPr>
          <a:lstStyle/>
          <a:p>
            <a:pPr algn="l">
              <a:lnSpc>
                <a:spcPct val="120000"/>
              </a:lnSpc>
            </a:pPr>
            <a:r>
              <a:rPr sz="1000" b="0">
                <a:solidFill>
                  <a:srgbClr val="555555"/>
                </a:solidFill>
                <a:latin typeface="Calibri"/>
              </a:rPr>
              <a:t>Nexus – Activation &amp; Subscription Manager</a:t>
            </a:r>
          </a:p>
        </p:txBody>
      </p:sp>
      <p:sp>
        <p:nvSpPr>
          <p:cNvPr id="10" name="TextBox 9"/>
          <p:cNvSpPr txBox="1"/>
          <p:nvPr/>
        </p:nvSpPr>
        <p:spPr>
          <a:xfrm>
            <a:off x="9997135" y="6510528"/>
            <a:ext cx="1828800" cy="320040"/>
          </a:xfrm>
          <a:prstGeom prst="rect">
            <a:avLst/>
          </a:prstGeom>
          <a:noFill/>
        </p:spPr>
        <p:txBody>
          <a:bodyPr wrap="square" lIns="45720" rIns="45720" tIns="18288" bIns="18288" anchor="t">
            <a:spAutoFit/>
          </a:bodyPr>
          <a:lstStyle/>
          <a:p>
            <a:pPr algn="r">
              <a:lnSpc>
                <a:spcPct val="120000"/>
              </a:lnSpc>
            </a:pPr>
            <a:r>
              <a:rPr sz="1000" b="0">
                <a:solidFill>
                  <a:srgbClr val="555555"/>
                </a:solidFill>
                <a:latin typeface="Calibri"/>
              </a:rPr>
              <a:t>Pagina 21 / 22</a:t>
            </a:r>
          </a:p>
        </p:txBody>
      </p:sp>
      <p:sp>
        <p:nvSpPr>
          <p:cNvPr id="11" name="Rectangle 10"/>
          <p:cNvSpPr/>
          <p:nvPr/>
        </p:nvSpPr>
        <p:spPr>
          <a:xfrm>
            <a:off x="0" y="6492240"/>
            <a:ext cx="12191695" cy="182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1280160"/>
            <a:ext cx="11475720" cy="384048"/>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316736"/>
            <a:ext cx="10972800" cy="320040"/>
          </a:xfrm>
          <a:prstGeom prst="rect">
            <a:avLst/>
          </a:prstGeom>
          <a:noFill/>
        </p:spPr>
        <p:txBody>
          <a:bodyPr wrap="square" lIns="45720" rIns="45720" tIns="18288" bIns="18288" anchor="t">
            <a:spAutoFit/>
          </a:bodyPr>
          <a:lstStyle/>
          <a:p>
            <a:pPr algn="l">
              <a:lnSpc>
                <a:spcPct val="120000"/>
              </a:lnSpc>
            </a:pPr>
            <a:r>
              <a:rPr sz="1250" b="1">
                <a:solidFill>
                  <a:srgbClr val="FFFFFF"/>
                </a:solidFill>
                <a:latin typeface="Calibri"/>
              </a:rPr>
              <a:t>Q1: Wat gebeurt er als een activatie halverwege faalt?</a:t>
            </a:r>
          </a:p>
        </p:txBody>
      </p:sp>
      <p:sp>
        <p:nvSpPr>
          <p:cNvPr id="14" name="Rounded Rectangle 13"/>
          <p:cNvSpPr/>
          <p:nvPr/>
        </p:nvSpPr>
        <p:spPr>
          <a:xfrm>
            <a:off x="502920" y="1664208"/>
            <a:ext cx="11201400" cy="621792"/>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709928"/>
            <a:ext cx="10789920" cy="548640"/>
          </a:xfrm>
          <a:prstGeom prst="rect">
            <a:avLst/>
          </a:prstGeom>
          <a:noFill/>
        </p:spPr>
        <p:txBody>
          <a:bodyPr wrap="square" lIns="45720" rIns="45720" tIns="18288" bIns="18288" anchor="t">
            <a:spAutoFit/>
          </a:bodyPr>
          <a:lstStyle/>
          <a:p>
            <a:pPr algn="l">
              <a:lnSpc>
                <a:spcPct val="125000"/>
              </a:lnSpc>
            </a:pPr>
            <a:r>
              <a:rPr sz="1100" b="0">
                <a:solidFill>
                  <a:srgbClr val="1A1A1A"/>
                </a:solidFill>
                <a:latin typeface="Calibri"/>
              </a:rPr>
              <a:t>Alle stappen in de wizard stap 6 ('Activeer nu') draaien in 1 database-transactie. Gaat 1 stap fout (bv. SIM niet op voorraad), dan wordt de HELLE transactie gerollback – dus geen half werk, geen abonnement zonder tracker, etc. De order blijft staan op FAILED met de foutreden, herstel en probeer opnieuw.</a:t>
            </a:r>
          </a:p>
        </p:txBody>
      </p:sp>
      <p:sp>
        <p:nvSpPr>
          <p:cNvPr id="16" name="Rounded Rectangle 15"/>
          <p:cNvSpPr/>
          <p:nvPr/>
        </p:nvSpPr>
        <p:spPr>
          <a:xfrm>
            <a:off x="365760" y="2331720"/>
            <a:ext cx="11475720" cy="384048"/>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368296"/>
            <a:ext cx="10972800" cy="320040"/>
          </a:xfrm>
          <a:prstGeom prst="rect">
            <a:avLst/>
          </a:prstGeom>
          <a:noFill/>
        </p:spPr>
        <p:txBody>
          <a:bodyPr wrap="square" lIns="45720" rIns="45720" tIns="18288" bIns="18288" anchor="t">
            <a:spAutoFit/>
          </a:bodyPr>
          <a:lstStyle/>
          <a:p>
            <a:pPr algn="l">
              <a:lnSpc>
                <a:spcPct val="120000"/>
              </a:lnSpc>
            </a:pPr>
            <a:r>
              <a:rPr sz="1250" b="1">
                <a:solidFill>
                  <a:srgbClr val="FFFFFF"/>
                </a:solidFill>
                <a:latin typeface="Calibri"/>
              </a:rPr>
              <a:t>Q2: Kan ik per ongeluk een factuur 2x genereren?</a:t>
            </a:r>
          </a:p>
        </p:txBody>
      </p:sp>
      <p:sp>
        <p:nvSpPr>
          <p:cNvPr id="18" name="Rounded Rectangle 17"/>
          <p:cNvSpPr/>
          <p:nvPr/>
        </p:nvSpPr>
        <p:spPr>
          <a:xfrm>
            <a:off x="502920" y="2715768"/>
            <a:ext cx="11201400" cy="621792"/>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761488"/>
            <a:ext cx="10789920" cy="548640"/>
          </a:xfrm>
          <a:prstGeom prst="rect">
            <a:avLst/>
          </a:prstGeom>
          <a:noFill/>
        </p:spPr>
        <p:txBody>
          <a:bodyPr wrap="square" lIns="45720" rIns="45720" tIns="18288" bIns="18288" anchor="t">
            <a:spAutoFit/>
          </a:bodyPr>
          <a:lstStyle/>
          <a:p>
            <a:pPr algn="l">
              <a:lnSpc>
                <a:spcPct val="125000"/>
              </a:lnSpc>
            </a:pPr>
            <a:r>
              <a:rPr sz="1100" b="0">
                <a:solidFill>
                  <a:srgbClr val="1A1A1A"/>
                </a:solidFill>
                <a:latin typeface="Calibri"/>
              </a:rPr>
              <a:t>Nee. Op invoices zit een UNIQUE-constraint op (subscriptionId, periodStart, periodEnd). Per abonnement per periode kan maximaal 1 factuur bestaan. Bij opnieuw genereren zie je 'skipped = aantal dat al bestond' in het resultaat.</a:t>
            </a:r>
          </a:p>
        </p:txBody>
      </p:sp>
      <p:sp>
        <p:nvSpPr>
          <p:cNvPr id="20" name="Rounded Rectangle 19"/>
          <p:cNvSpPr/>
          <p:nvPr/>
        </p:nvSpPr>
        <p:spPr>
          <a:xfrm>
            <a:off x="365760" y="3383280"/>
            <a:ext cx="11475720" cy="384048"/>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419856"/>
            <a:ext cx="10972800" cy="320040"/>
          </a:xfrm>
          <a:prstGeom prst="rect">
            <a:avLst/>
          </a:prstGeom>
          <a:noFill/>
        </p:spPr>
        <p:txBody>
          <a:bodyPr wrap="square" lIns="45720" rIns="45720" tIns="18288" bIns="18288" anchor="t">
            <a:spAutoFit/>
          </a:bodyPr>
          <a:lstStyle/>
          <a:p>
            <a:pPr algn="l">
              <a:lnSpc>
                <a:spcPct val="120000"/>
              </a:lnSpc>
            </a:pPr>
            <a:r>
              <a:rPr sz="1250" b="1">
                <a:solidFill>
                  <a:srgbClr val="FFFFFF"/>
                </a:solidFill>
                <a:latin typeface="Calibri"/>
              </a:rPr>
              <a:t>Q3: Wat als ik een tracker of SIM kwijtraak?</a:t>
            </a:r>
          </a:p>
        </p:txBody>
      </p:sp>
      <p:sp>
        <p:nvSpPr>
          <p:cNvPr id="22" name="Rounded Rectangle 21"/>
          <p:cNvSpPr/>
          <p:nvPr/>
        </p:nvSpPr>
        <p:spPr>
          <a:xfrm>
            <a:off x="502920" y="3767328"/>
            <a:ext cx="11201400" cy="621792"/>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813048"/>
            <a:ext cx="10789920" cy="548640"/>
          </a:xfrm>
          <a:prstGeom prst="rect">
            <a:avLst/>
          </a:prstGeom>
          <a:noFill/>
        </p:spPr>
        <p:txBody>
          <a:bodyPr wrap="square" lIns="45720" rIns="45720" tIns="18288" bIns="18288" anchor="t">
            <a:spAutoFit/>
          </a:bodyPr>
          <a:lstStyle/>
          <a:p>
            <a:pPr algn="l">
              <a:lnSpc>
                <a:spcPct val="125000"/>
              </a:lnSpc>
            </a:pPr>
            <a:r>
              <a:rPr sz="1100" b="0">
                <a:solidFill>
                  <a:srgbClr val="1A1A1A"/>
                </a:solidFill>
                <a:latin typeface="Calibri"/>
              </a:rPr>
              <a:t>Markeer de tracker als LOST of de SIM als RETIRED. Gebruik daarna 'Vervang Tracker' of 'Vervang SIM' op het abonnement om een nieuwe toe te wijzen. De audit log houdt precies bij wie wat wanneer heeft gewijzigd (met reden REPLACEMENT of RMA).</a:t>
            </a:r>
          </a:p>
        </p:txBody>
      </p:sp>
      <p:sp>
        <p:nvSpPr>
          <p:cNvPr id="24" name="Rounded Rectangle 23"/>
          <p:cNvSpPr/>
          <p:nvPr/>
        </p:nvSpPr>
        <p:spPr>
          <a:xfrm>
            <a:off x="365760" y="4434840"/>
            <a:ext cx="11475720" cy="384048"/>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471416"/>
            <a:ext cx="10972800" cy="320040"/>
          </a:xfrm>
          <a:prstGeom prst="rect">
            <a:avLst/>
          </a:prstGeom>
          <a:noFill/>
        </p:spPr>
        <p:txBody>
          <a:bodyPr wrap="square" lIns="45720" rIns="45720" tIns="18288" bIns="18288" anchor="t">
            <a:spAutoFit/>
          </a:bodyPr>
          <a:lstStyle/>
          <a:p>
            <a:pPr algn="l">
              <a:lnSpc>
                <a:spcPct val="120000"/>
              </a:lnSpc>
            </a:pPr>
            <a:r>
              <a:rPr sz="1250" b="1">
                <a:solidFill>
                  <a:srgbClr val="FFFFFF"/>
                </a:solidFill>
                <a:latin typeface="Calibri"/>
              </a:rPr>
              <a:t>Q4: Waarom kan ik niet gewoon hard-deleten?</a:t>
            </a:r>
          </a:p>
        </p:txBody>
      </p:sp>
      <p:sp>
        <p:nvSpPr>
          <p:cNvPr id="26" name="Rounded Rectangle 25"/>
          <p:cNvSpPr/>
          <p:nvPr/>
        </p:nvSpPr>
        <p:spPr>
          <a:xfrm>
            <a:off x="502920" y="4818888"/>
            <a:ext cx="11201400" cy="621792"/>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864608"/>
            <a:ext cx="10789920" cy="548640"/>
          </a:xfrm>
          <a:prstGeom prst="rect">
            <a:avLst/>
          </a:prstGeom>
          <a:noFill/>
        </p:spPr>
        <p:txBody>
          <a:bodyPr wrap="square" lIns="45720" rIns="45720" tIns="18288" bIns="18288" anchor="t">
            <a:spAutoFit/>
          </a:bodyPr>
          <a:lstStyle/>
          <a:p>
            <a:pPr algn="l">
              <a:lnSpc>
                <a:spcPct val="125000"/>
              </a:lnSpc>
            </a:pPr>
            <a:r>
              <a:rPr sz="1100" b="0">
                <a:solidFill>
                  <a:srgbClr val="1A1A1A"/>
                </a:solidFill>
                <a:latin typeface="Calibri"/>
              </a:rPr>
              <a:t>Nexus gebruikt soft-delete (deletedAt) voor bijna alle entiteiten. Dit is bewust: voor de audit trail (wie deed wat), voor facturen die verwijzen naar oude data, en voor wettelijke bewaarplicht. Data terugzetten doe je via DB (geen UI – bewust).</a:t>
            </a:r>
          </a:p>
        </p:txBody>
      </p:sp>
      <p:sp>
        <p:nvSpPr>
          <p:cNvPr id="28" name="Rounded Rectangle 27"/>
          <p:cNvSpPr/>
          <p:nvPr/>
        </p:nvSpPr>
        <p:spPr>
          <a:xfrm>
            <a:off x="365760" y="5486400"/>
            <a:ext cx="11475720" cy="384048"/>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522976"/>
            <a:ext cx="10972800" cy="320040"/>
          </a:xfrm>
          <a:prstGeom prst="rect">
            <a:avLst/>
          </a:prstGeom>
          <a:noFill/>
        </p:spPr>
        <p:txBody>
          <a:bodyPr wrap="square" lIns="45720" rIns="45720" tIns="18288" bIns="18288" anchor="t">
            <a:spAutoFit/>
          </a:bodyPr>
          <a:lstStyle/>
          <a:p>
            <a:pPr algn="l">
              <a:lnSpc>
                <a:spcPct val="120000"/>
              </a:lnSpc>
            </a:pPr>
            <a:r>
              <a:rPr sz="1250" b="1">
                <a:solidFill>
                  <a:srgbClr val="FFFFFF"/>
                </a:solidFill>
                <a:latin typeface="Calibri"/>
              </a:rPr>
              <a:t>Q5: Hoe kan ik CSV bestanden voorbereiden in Excel?</a:t>
            </a:r>
          </a:p>
        </p:txBody>
      </p:sp>
      <p:sp>
        <p:nvSpPr>
          <p:cNvPr id="30" name="Rounded Rectangle 29"/>
          <p:cNvSpPr/>
          <p:nvPr/>
        </p:nvSpPr>
        <p:spPr>
          <a:xfrm>
            <a:off x="502920" y="5870448"/>
            <a:ext cx="11201400" cy="621792"/>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916168"/>
            <a:ext cx="10789920" cy="548640"/>
          </a:xfrm>
          <a:prstGeom prst="rect">
            <a:avLst/>
          </a:prstGeom>
          <a:noFill/>
        </p:spPr>
        <p:txBody>
          <a:bodyPr wrap="square" lIns="45720" rIns="45720" tIns="18288" bIns="18288" anchor="t">
            <a:spAutoFit/>
          </a:bodyPr>
          <a:lstStyle/>
          <a:p>
            <a:pPr algn="l">
              <a:lnSpc>
                <a:spcPct val="125000"/>
              </a:lnSpc>
            </a:pPr>
            <a:r>
              <a:rPr sz="1100" b="0">
                <a:solidFill>
                  <a:srgbClr val="1A1A1A"/>
                </a:solidFill>
                <a:latin typeface="Calibri"/>
              </a:rPr>
              <a:t>Gebruik de kolomnamen uit de import-preview (laat Nexus je aliassen). Sla Excel op als 'CSV (door komma's gescheiden)' – let op: UTF-8! Controleer in de preview-stap: alleen rijen zonder fouten (GROEN vinkje) worden ingevoegd. Fouten? Pas CSV aan en probeer opnieuw.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ight Triangle 1"/>
          <p:cNvSpPr/>
          <p:nvPr/>
        </p:nvSpPr>
        <p:spPr>
          <a:xfrm rot="10800000">
            <a:off x="0" y="0"/>
            <a:ext cx="5486262" cy="6858000"/>
          </a:xfrm>
          <a:prstGeom prst="rtTriangl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0" y="0"/>
            <a:ext cx="3657508" cy="6858000"/>
          </a:xfrm>
          <a:prstGeom prst="rtTriangle">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62095" y="2011680"/>
            <a:ext cx="7772400" cy="914400"/>
          </a:xfrm>
          <a:prstGeom prst="rect">
            <a:avLst/>
          </a:prstGeom>
          <a:noFill/>
        </p:spPr>
        <p:txBody>
          <a:bodyPr wrap="square" lIns="45720" rIns="45720" tIns="18288" bIns="18288" anchor="t">
            <a:spAutoFit/>
          </a:bodyPr>
          <a:lstStyle/>
          <a:p>
            <a:pPr algn="r">
              <a:lnSpc>
                <a:spcPct val="120000"/>
              </a:lnSpc>
            </a:pPr>
            <a:r>
              <a:rPr sz="6000" b="1">
                <a:solidFill>
                  <a:srgbClr val="FFFFFF"/>
                </a:solidFill>
                <a:latin typeface="Calibri"/>
              </a:rPr>
              <a:t>Bedankt!</a:t>
            </a:r>
          </a:p>
        </p:txBody>
      </p:sp>
      <p:sp>
        <p:nvSpPr>
          <p:cNvPr id="5" name="TextBox 4"/>
          <p:cNvSpPr txBox="1"/>
          <p:nvPr/>
        </p:nvSpPr>
        <p:spPr>
          <a:xfrm>
            <a:off x="3962095" y="3108960"/>
            <a:ext cx="7772400" cy="640080"/>
          </a:xfrm>
          <a:prstGeom prst="rect">
            <a:avLst/>
          </a:prstGeom>
          <a:noFill/>
        </p:spPr>
        <p:txBody>
          <a:bodyPr wrap="square" lIns="45720" rIns="45720" tIns="18288" bIns="18288" anchor="t">
            <a:spAutoFit/>
          </a:bodyPr>
          <a:lstStyle/>
          <a:p>
            <a:pPr algn="r">
              <a:lnSpc>
                <a:spcPct val="120000"/>
              </a:lnSpc>
            </a:pPr>
            <a:r>
              <a:rPr sz="2000" b="0">
                <a:solidFill>
                  <a:srgbClr val="BFDBFE"/>
                </a:solidFill>
                <a:latin typeface="Calibri"/>
              </a:rPr>
              <a:t>Voor vragen, opmerkingen of support:</a:t>
            </a:r>
          </a:p>
        </p:txBody>
      </p:sp>
      <p:sp>
        <p:nvSpPr>
          <p:cNvPr id="6" name="Rounded Rectangle 5"/>
          <p:cNvSpPr/>
          <p:nvPr/>
        </p:nvSpPr>
        <p:spPr>
          <a:xfrm>
            <a:off x="4693616" y="3931920"/>
            <a:ext cx="7132320" cy="2103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93616" y="4069080"/>
            <a:ext cx="7132320" cy="365760"/>
          </a:xfrm>
          <a:prstGeom prst="rect">
            <a:avLst/>
          </a:prstGeom>
          <a:noFill/>
        </p:spPr>
        <p:txBody>
          <a:bodyPr wrap="square" lIns="45720" rIns="45720" tIns="18288" bIns="18288" anchor="t">
            <a:spAutoFit/>
          </a:bodyPr>
          <a:lstStyle/>
          <a:p>
            <a:pPr algn="ctr">
              <a:lnSpc>
                <a:spcPct val="120000"/>
              </a:lnSpc>
            </a:pPr>
            <a:r>
              <a:rPr sz="1700" b="1">
                <a:solidFill>
                  <a:srgbClr val="1E3A5F"/>
                </a:solidFill>
                <a:latin typeface="Calibri"/>
              </a:rPr>
              <a:t>📬  Contact &amp; Bronnen</a:t>
            </a:r>
          </a:p>
        </p:txBody>
      </p:sp>
      <p:sp>
        <p:nvSpPr>
          <p:cNvPr id="8" name="TextBox 7"/>
          <p:cNvSpPr txBox="1"/>
          <p:nvPr/>
        </p:nvSpPr>
        <p:spPr>
          <a:xfrm>
            <a:off x="5059376" y="4526280"/>
            <a:ext cx="548640" cy="365760"/>
          </a:xfrm>
          <a:prstGeom prst="rect">
            <a:avLst/>
          </a:prstGeom>
          <a:noFill/>
        </p:spPr>
        <p:txBody>
          <a:bodyPr wrap="square" lIns="45720" rIns="45720" tIns="18288" bIns="18288" anchor="ctr">
            <a:spAutoFit/>
          </a:bodyPr>
          <a:lstStyle/>
          <a:p>
            <a:pPr algn="ctr">
              <a:lnSpc>
                <a:spcPct val="120000"/>
              </a:lnSpc>
            </a:pPr>
            <a:r>
              <a:rPr sz="1800" b="0">
                <a:solidFill>
                  <a:srgbClr val="1A1A1A"/>
                </a:solidFill>
                <a:latin typeface="Calibri"/>
              </a:rPr>
              <a:t>📘</a:t>
            </a:r>
          </a:p>
        </p:txBody>
      </p:sp>
      <p:sp>
        <p:nvSpPr>
          <p:cNvPr id="9" name="TextBox 8"/>
          <p:cNvSpPr txBox="1"/>
          <p:nvPr/>
        </p:nvSpPr>
        <p:spPr>
          <a:xfrm>
            <a:off x="5608016" y="4526280"/>
            <a:ext cx="2286000" cy="365760"/>
          </a:xfrm>
          <a:prstGeom prst="rect">
            <a:avLst/>
          </a:prstGeom>
          <a:noFill/>
        </p:spPr>
        <p:txBody>
          <a:bodyPr wrap="square" lIns="45720" rIns="45720" tIns="18288" bIns="18288" anchor="ctr">
            <a:spAutoFit/>
          </a:bodyPr>
          <a:lstStyle/>
          <a:p>
            <a:pPr algn="l">
              <a:lnSpc>
                <a:spcPct val="120000"/>
              </a:lnSpc>
            </a:pPr>
            <a:r>
              <a:rPr sz="1300" b="1">
                <a:solidFill>
                  <a:srgbClr val="1E3A5F"/>
                </a:solidFill>
                <a:latin typeface="Calibri"/>
              </a:rPr>
              <a:t>Documentatie</a:t>
            </a:r>
          </a:p>
        </p:txBody>
      </p:sp>
      <p:sp>
        <p:nvSpPr>
          <p:cNvPr id="10" name="TextBox 9"/>
          <p:cNvSpPr txBox="1"/>
          <p:nvPr/>
        </p:nvSpPr>
        <p:spPr>
          <a:xfrm>
            <a:off x="7894016" y="4526280"/>
            <a:ext cx="3657600" cy="365760"/>
          </a:xfrm>
          <a:prstGeom prst="rect">
            <a:avLst/>
          </a:prstGeom>
          <a:noFill/>
        </p:spPr>
        <p:txBody>
          <a:bodyPr wrap="square" lIns="45720" rIns="45720" tIns="18288" bIns="18288" anchor="ctr">
            <a:spAutoFit/>
          </a:bodyPr>
          <a:lstStyle/>
          <a:p>
            <a:pPr algn="l">
              <a:lnSpc>
                <a:spcPct val="120000"/>
              </a:lnSpc>
            </a:pPr>
            <a:r>
              <a:rPr sz="1300" b="0">
                <a:solidFill>
                  <a:srgbClr val="555555"/>
                </a:solidFill>
                <a:latin typeface="Calibri"/>
              </a:rPr>
              <a:t>README.md • docs/ folder</a:t>
            </a:r>
          </a:p>
        </p:txBody>
      </p:sp>
      <p:sp>
        <p:nvSpPr>
          <p:cNvPr id="11" name="TextBox 10"/>
          <p:cNvSpPr txBox="1"/>
          <p:nvPr/>
        </p:nvSpPr>
        <p:spPr>
          <a:xfrm>
            <a:off x="5059376" y="4983480"/>
            <a:ext cx="548640" cy="365760"/>
          </a:xfrm>
          <a:prstGeom prst="rect">
            <a:avLst/>
          </a:prstGeom>
          <a:noFill/>
        </p:spPr>
        <p:txBody>
          <a:bodyPr wrap="square" lIns="45720" rIns="45720" tIns="18288" bIns="18288" anchor="ctr">
            <a:spAutoFit/>
          </a:bodyPr>
          <a:lstStyle/>
          <a:p>
            <a:pPr algn="ctr">
              <a:lnSpc>
                <a:spcPct val="120000"/>
              </a:lnSpc>
            </a:pPr>
            <a:r>
              <a:rPr sz="1800" b="0">
                <a:solidFill>
                  <a:srgbClr val="1A1A1A"/>
                </a:solidFill>
                <a:latin typeface="Calibri"/>
              </a:rPr>
              <a:t>🧪</a:t>
            </a:r>
          </a:p>
        </p:txBody>
      </p:sp>
      <p:sp>
        <p:nvSpPr>
          <p:cNvPr id="12" name="TextBox 11"/>
          <p:cNvSpPr txBox="1"/>
          <p:nvPr/>
        </p:nvSpPr>
        <p:spPr>
          <a:xfrm>
            <a:off x="5608016" y="4983480"/>
            <a:ext cx="2286000" cy="365760"/>
          </a:xfrm>
          <a:prstGeom prst="rect">
            <a:avLst/>
          </a:prstGeom>
          <a:noFill/>
        </p:spPr>
        <p:txBody>
          <a:bodyPr wrap="square" lIns="45720" rIns="45720" tIns="18288" bIns="18288" anchor="ctr">
            <a:spAutoFit/>
          </a:bodyPr>
          <a:lstStyle/>
          <a:p>
            <a:pPr algn="l">
              <a:lnSpc>
                <a:spcPct val="120000"/>
              </a:lnSpc>
            </a:pPr>
            <a:r>
              <a:rPr sz="1300" b="1">
                <a:solidFill>
                  <a:srgbClr val="1E3A5F"/>
                </a:solidFill>
                <a:latin typeface="Calibri"/>
              </a:rPr>
              <a:t>Demo Data</a:t>
            </a:r>
          </a:p>
        </p:txBody>
      </p:sp>
      <p:sp>
        <p:nvSpPr>
          <p:cNvPr id="13" name="TextBox 12"/>
          <p:cNvSpPr txBox="1"/>
          <p:nvPr/>
        </p:nvSpPr>
        <p:spPr>
          <a:xfrm>
            <a:off x="7894016" y="4983480"/>
            <a:ext cx="3657600" cy="365760"/>
          </a:xfrm>
          <a:prstGeom prst="rect">
            <a:avLst/>
          </a:prstGeom>
          <a:noFill/>
        </p:spPr>
        <p:txBody>
          <a:bodyPr wrap="square" lIns="45720" rIns="45720" tIns="18288" bIns="18288" anchor="ctr">
            <a:spAutoFit/>
          </a:bodyPr>
          <a:lstStyle/>
          <a:p>
            <a:pPr algn="l">
              <a:lnSpc>
                <a:spcPct val="120000"/>
              </a:lnSpc>
            </a:pPr>
            <a:r>
              <a:rPr sz="1300" b="0">
                <a:solidFill>
                  <a:srgbClr val="555555"/>
                </a:solidFill>
                <a:latin typeface="Calibri"/>
              </a:rPr>
              <a:t>Seed: admin@nexus.local / Test1234!</a:t>
            </a:r>
          </a:p>
        </p:txBody>
      </p:sp>
      <p:sp>
        <p:nvSpPr>
          <p:cNvPr id="14" name="TextBox 13"/>
          <p:cNvSpPr txBox="1"/>
          <p:nvPr/>
        </p:nvSpPr>
        <p:spPr>
          <a:xfrm>
            <a:off x="5059376" y="5440680"/>
            <a:ext cx="548640" cy="365760"/>
          </a:xfrm>
          <a:prstGeom prst="rect">
            <a:avLst/>
          </a:prstGeom>
          <a:noFill/>
        </p:spPr>
        <p:txBody>
          <a:bodyPr wrap="square" lIns="45720" rIns="45720" tIns="18288" bIns="18288" anchor="ctr">
            <a:spAutoFit/>
          </a:bodyPr>
          <a:lstStyle/>
          <a:p>
            <a:pPr algn="ctr">
              <a:lnSpc>
                <a:spcPct val="120000"/>
              </a:lnSpc>
            </a:pPr>
            <a:r>
              <a:rPr sz="1800" b="0">
                <a:solidFill>
                  <a:srgbClr val="1A1A1A"/>
                </a:solidFill>
                <a:latin typeface="Calibri"/>
              </a:rPr>
              <a:t>🏠</a:t>
            </a:r>
          </a:p>
        </p:txBody>
      </p:sp>
      <p:sp>
        <p:nvSpPr>
          <p:cNvPr id="15" name="TextBox 14"/>
          <p:cNvSpPr txBox="1"/>
          <p:nvPr/>
        </p:nvSpPr>
        <p:spPr>
          <a:xfrm>
            <a:off x="5608016" y="5440680"/>
            <a:ext cx="2286000" cy="365760"/>
          </a:xfrm>
          <a:prstGeom prst="rect">
            <a:avLst/>
          </a:prstGeom>
          <a:noFill/>
        </p:spPr>
        <p:txBody>
          <a:bodyPr wrap="square" lIns="45720" rIns="45720" tIns="18288" bIns="18288" anchor="ctr">
            <a:spAutoFit/>
          </a:bodyPr>
          <a:lstStyle/>
          <a:p>
            <a:pPr algn="l">
              <a:lnSpc>
                <a:spcPct val="120000"/>
              </a:lnSpc>
            </a:pPr>
            <a:r>
              <a:rPr sz="1300" b="1">
                <a:solidFill>
                  <a:srgbClr val="1E3A5F"/>
                </a:solidFill>
                <a:latin typeface="Calibri"/>
              </a:rPr>
              <a:t>Applicatie</a:t>
            </a:r>
          </a:p>
        </p:txBody>
      </p:sp>
      <p:sp>
        <p:nvSpPr>
          <p:cNvPr id="16" name="TextBox 15"/>
          <p:cNvSpPr txBox="1"/>
          <p:nvPr/>
        </p:nvSpPr>
        <p:spPr>
          <a:xfrm>
            <a:off x="7894016" y="5440680"/>
            <a:ext cx="3657600" cy="365760"/>
          </a:xfrm>
          <a:prstGeom prst="rect">
            <a:avLst/>
          </a:prstGeom>
          <a:noFill/>
        </p:spPr>
        <p:txBody>
          <a:bodyPr wrap="square" lIns="45720" rIns="45720" tIns="18288" bIns="18288" anchor="ctr">
            <a:spAutoFit/>
          </a:bodyPr>
          <a:lstStyle/>
          <a:p>
            <a:pPr algn="l">
              <a:lnSpc>
                <a:spcPct val="120000"/>
              </a:lnSpc>
            </a:pPr>
            <a:r>
              <a:rPr sz="1300" b="0">
                <a:solidFill>
                  <a:srgbClr val="555555"/>
                </a:solidFill>
                <a:latin typeface="Calibri"/>
              </a:rPr>
              <a:t>https://nexus.jouwdomein.nl</a:t>
            </a:r>
          </a:p>
        </p:txBody>
      </p:sp>
      <p:sp>
        <p:nvSpPr>
          <p:cNvPr id="17" name="TextBox 16"/>
          <p:cNvSpPr txBox="1"/>
          <p:nvPr/>
        </p:nvSpPr>
        <p:spPr>
          <a:xfrm>
            <a:off x="3962095" y="6309360"/>
            <a:ext cx="7772400" cy="365760"/>
          </a:xfrm>
          <a:prstGeom prst="rect">
            <a:avLst/>
          </a:prstGeom>
          <a:noFill/>
        </p:spPr>
        <p:txBody>
          <a:bodyPr wrap="square" lIns="45720" rIns="45720" tIns="18288" bIns="18288" anchor="t">
            <a:spAutoFit/>
          </a:bodyPr>
          <a:lstStyle/>
          <a:p>
            <a:pPr algn="r">
              <a:lnSpc>
                <a:spcPct val="120000"/>
              </a:lnSpc>
            </a:pPr>
            <a:r>
              <a:rPr sz="1200" b="0">
                <a:solidFill>
                  <a:srgbClr val="93C5FD"/>
                </a:solidFill>
                <a:latin typeface="Calibri"/>
              </a:rPr>
              <a:t>Nexus – Activation &amp; Subscription Manager •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