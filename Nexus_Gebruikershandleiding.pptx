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705432" y="0"/>
            <a:ext cx="6095847" cy="6858000"/>
          </a:xfrm>
          <a:prstGeom prst="rtTriangl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534186" y="0"/>
            <a:ext cx="4267093" cy="6858000"/>
          </a:xfrm>
          <a:prstGeom prst="rtTriangl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914400"/>
          </a:xfrm>
          <a:prstGeom prst="round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3832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>
                <a:solidFill>
                  <a:srgbClr val="FFFFFF"/>
                </a:solidFill>
                <a:latin typeface="Calibri"/>
              </a:rPr>
              <a:t>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BFDBFE"/>
                </a:solidFill>
                <a:latin typeface="Calibri"/>
              </a:rPr>
              <a:t>Gebruikershandleiding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Leer in 20 minuten hoe je met Nexus werkt: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klanten, trackers, sims, abonnementen en facturen.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4572000" cy="36576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C5FD"/>
                </a:solidFill>
                <a:latin typeface="Calibri"/>
              </a:rPr>
              <a:t>Voor (toekomstige) gebruikers • Fleet &amp; M2M dienstverlening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3C5FD"/>
                </a:solidFill>
                <a:latin typeface="Calibri"/>
              </a:rPr>
              <a:t>september 2026  •  Gebaseerd op de echte WebGUI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Wat is Nexus?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Kort en bondig: wat kun je ermee als gebruiker?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029200" cy="52120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3A5F"/>
                </a:solidFill>
                <a:latin typeface="Calibri"/>
              </a:rPr>
              <a:t>🙋  Waarvoor gebruik je Nexus?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457200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Je </a:t>
            </a:r>
            <a:r>
              <a:rPr sz="1350">
                <a:solidFill>
                  <a:srgbClr val="1A1A1A"/>
                </a:solidFill>
                <a:latin typeface="Calibri"/>
              </a:rPr>
              <a:t>klantenregister bijhouden (met contact, adres, KvK/BTW)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Je </a:t>
            </a:r>
            <a:r>
              <a:rPr sz="1350">
                <a:solidFill>
                  <a:srgbClr val="1A1A1A"/>
                </a:solidFill>
                <a:latin typeface="Calibri"/>
              </a:rPr>
              <a:t>GPS-trackers beheren: serienummers, IMEI's, statussen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Je </a:t>
            </a:r>
            <a:r>
              <a:rPr sz="1350">
                <a:solidFill>
                  <a:srgbClr val="1A1A1A"/>
                </a:solidFill>
                <a:latin typeface="Calibri"/>
              </a:rPr>
              <a:t>SIM-kaarten beheren: ICCID, MSISDN, provider, status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Je </a:t>
            </a:r>
            <a:r>
              <a:rPr sz="1350">
                <a:solidFill>
                  <a:srgbClr val="1A1A1A"/>
                </a:solidFill>
                <a:latin typeface="Calibri"/>
              </a:rPr>
              <a:t>wagenpark (voertuigen) per klant registreren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Trackers </a:t>
            </a:r>
            <a:r>
              <a:rPr sz="1350">
                <a:solidFill>
                  <a:srgbClr val="1A1A1A"/>
                </a:solidFill>
                <a:latin typeface="Calibri"/>
              </a:rPr>
              <a:t>+ SIMs + Voertuigen toewijzen via de activatiewizard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Per </a:t>
            </a:r>
            <a:r>
              <a:rPr sz="1350">
                <a:solidFill>
                  <a:srgbClr val="1A1A1A"/>
                </a:solidFill>
                <a:latin typeface="Calibri"/>
              </a:rPr>
              <a:t>abonnement automatisch factureren per maand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E86C00"/>
                </a:solidFill>
                <a:latin typeface="Calibri"/>
              </a:rPr>
              <a:t>► </a:t>
            </a:r>
            <a:r>
              <a:rPr sz="1350" b="1">
                <a:solidFill>
                  <a:srgbClr val="1A1A1A"/>
                </a:solidFill>
                <a:latin typeface="Calibri"/>
              </a:rPr>
              <a:t>100% </a:t>
            </a:r>
            <a:r>
              <a:rPr sz="1350">
                <a:solidFill>
                  <a:srgbClr val="1A1A1A"/>
                </a:solidFill>
                <a:latin typeface="Calibri"/>
              </a:rPr>
              <a:t>opvolgen wie wat wanneer wijzigde (volledige geschiedenis)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18872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🖥  Echte interface: Dashboard</a:t>
            </a:r>
          </a:p>
        </p:txBody>
      </p:sp>
      <p:pic>
        <p:nvPicPr>
          <p:cNvPr id="14" name="Picture 13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00200"/>
            <a:ext cx="6126480" cy="3746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Stap 1: Inloggen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Open je browser en je bent binnen 10 seconden aan het werk.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1. 🔐 Inlogscherm</a:t>
            </a:r>
          </a:p>
        </p:txBody>
      </p:sp>
      <p:pic>
        <p:nvPicPr>
          <p:cNvPr id="11" name="Picture 10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33546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937760"/>
            <a:ext cx="5486400" cy="1371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Je ontvangt je inloggegevens van de beheerder.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Vul e-mail + wachtwoord in, druk op Inloggen.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Wachtwoord vergeten? Vraag de beheerder om een reset.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14300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2. 📊 Dashboard: je startscherm</a:t>
            </a:r>
          </a:p>
        </p:txBody>
      </p:sp>
      <p:pic>
        <p:nvPicPr>
          <p:cNvPr id="14" name="Picture 13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4480"/>
            <a:ext cx="5715000" cy="34944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60" y="4937760"/>
            <a:ext cx="5669280" cy="1371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KPI-kaarten: snel overzicht van voorraad en actieve abo's.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Recente activaties: wie wat activeerde, 1 klik naar details.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Klik op de getallen voor directe filtering!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Navigatie: de zijbalk &amp; snelzoeken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Iedere module is 1 klik verwijderd. Gebruik ⌘K om nóg sneller te werken!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📋 Zijbalk - alle modules in beeld</a:t>
            </a:r>
          </a:p>
        </p:txBody>
      </p:sp>
      <p:pic>
        <p:nvPicPr>
          <p:cNvPr id="11" name="Picture 10" descr="03-klant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486400" cy="335466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80760" y="1143000"/>
            <a:ext cx="5715000" cy="5257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8016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E3A5F"/>
                </a:solidFill>
                <a:latin typeface="Calibri"/>
              </a:rPr>
              <a:t>🧭 Alle modules op een rij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349240" cy="44805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Dashboard - KPI's en recente activaties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Klanten - je klantenbestand (niveau + sub-klanten)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Trackers - GPS hardware, serienr, IMEI, voorraad/status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SIM-kaarten - mobiele data-kaarten, ICCID, provider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Voertuigen - wagenpark per klant (kenteken/VIN)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Producten - je abonnementsvormen en maandprijzen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Abonnementen - alle lopende contracten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Facturen - maandfacturen genereren, verzenden, betalen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Activaties - de 6-stappen wizard (kern van Nexus)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Gebruikers - wie heeft toegang? (alleen Beheerder)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Auditlog - volledige geschiedenis wijzigingen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💡 ⌘K of Ctrl+K = overal direct zoeken!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Klanten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Je klantenregister - de basis van alle abonnementen.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1. Lijstweergave: alle klanten in 1 oogopslag</a:t>
            </a:r>
          </a:p>
        </p:txBody>
      </p:sp>
      <p:pic>
        <p:nvPicPr>
          <p:cNvPr id="11" name="Picture 10" descr="03-klant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760720" cy="35223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097280"/>
            <a:ext cx="5486400" cy="28346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💡 Wat je hier kunt doen: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64208"/>
            <a:ext cx="5074920" cy="21488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Nieuwe klant aanmaken (rechtsboven, groene knop)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Zoeken op naam, nummer, plaats, e-mail…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CSV Exporteren / Importeren voor bulk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Per klant: menu '⋯' voor Bewerken / Verwijderen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1">
                <a:solidFill>
                  <a:srgbClr val="E86C00"/>
                </a:solidFill>
                <a:latin typeface="Calibri"/>
              </a:rPr>
              <a:t>► </a:t>
            </a:r>
            <a:r>
              <a:rPr sz="1250">
                <a:solidFill>
                  <a:srgbClr val="1A1A1A"/>
                </a:solidFill>
                <a:latin typeface="Calibri"/>
              </a:rPr>
              <a:t>3 bestaande demo-klanten zichtbaar in beeld!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2336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2. Detailpagina: alles van 1 klant overzichtelijk</a:t>
            </a:r>
          </a:p>
        </p:txBody>
      </p:sp>
      <p:pic>
        <p:nvPicPr>
          <p:cNvPr id="16" name="Picture 15" descr="04-kla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34840"/>
            <a:ext cx="5760720" cy="352239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09360" y="4023360"/>
            <a:ext cx="5486400" cy="2286000"/>
          </a:xfrm>
          <a:prstGeom prst="round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33087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📑 Per klant 8 tabs: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44568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Calibri"/>
              </a:rPr>
              <a:t>Overzicht  •  Bewerken  •  Abonnementen  •  Trackers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Calibri"/>
              </a:rPr>
              <a:t>SIM-kaarten  •  Voertuigen  •  Activaties  •  Geschiedenis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Calibri"/>
              </a:rPr>
              <a:t>👉 Hét startpunt als je een specifieke klant wilt opzoeken!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Trackers (GPS hardware)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Voorraad beheren, unieke IMEI-controle, toewijzingen via wizard.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📡 Trackerlijst - merken, modellen, IMEI's en status in 1 oogopslag</a:t>
            </a:r>
          </a:p>
        </p:txBody>
      </p:sp>
      <p:pic>
        <p:nvPicPr>
          <p:cNvPr id="11" name="Picture 10" descr="05-trackers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55680" cy="6821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66547" y="4572000"/>
            <a:ext cx="379476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6547" y="4645152"/>
            <a:ext cx="3794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707" y="47548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E3A5F"/>
                </a:solidFill>
                <a:latin typeface="Calibri"/>
              </a:rPr>
              <a:t>🔢 IMEI validatie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707" y="5166360"/>
            <a:ext cx="35204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IMEI = 15 cijfers + Luhn check.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Verkeerd nummer? Dan weigert Nexus de invoer!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Weergave 4-4-4-3: 4901 5420 3237 518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8467" y="4572000"/>
            <a:ext cx="379476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98467" y="4645152"/>
            <a:ext cx="3794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5627" y="47548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E86C1"/>
                </a:solidFill>
                <a:latin typeface="Calibri"/>
              </a:rPr>
              <a:t>📊 Statussen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5627" y="5166360"/>
            <a:ext cx="35204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IN_STOCK = op voorraad, ACTIVE = in gebruik,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RESERVED, SUSPENDED, DEFECTIVE, RMA,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RETIRED, LOST - de hele levenscyclus.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0387" y="4572000"/>
            <a:ext cx="3794760" cy="73152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0387" y="4645152"/>
            <a:ext cx="379476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7547" y="47548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86C00"/>
                </a:solidFill>
                <a:latin typeface="Calibri"/>
              </a:rPr>
              <a:t>⚡ Nieuwe tracker / CSV import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547" y="5166360"/>
            <a:ext cx="35204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1 tracker = handmatig via Nieuwe tracker.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10+ trackers = CSV importeren!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Let op: serienummer en IMEI zijn UNIEK.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SIM-kaarten (IoT / M2M)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Mobiele data-kaarten voor je trackers – ICCID, MSISDN, provider.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06-sims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675120" cy="408150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188720"/>
            <a:ext cx="4572000" cy="24688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29844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💳 Belangrijke kenmerken: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755648"/>
            <a:ext cx="4114800" cy="18288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ICCID: 19–20 cijfers, MOET beginnen met '89'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MSISDN: telefoonnummer van de SIM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IMSI: uniek identificatienummer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Provider: KPN IoT M2M, Vodafone, etc.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APN: toegangspunt configuratie (optioneel)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800600"/>
            <a:ext cx="11430000" cy="16002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♻️ SIM levenscyclus (7 statussen) - gebruik deze voorraad-statussen correct!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867" y="5349240"/>
            <a:ext cx="1508760" cy="7315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8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IN_STOCK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30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1067" y="5349240"/>
            <a:ext cx="1508760" cy="7315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10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RESERVED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32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1267" y="5349240"/>
            <a:ext cx="1508760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12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34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1467" y="5349240"/>
            <a:ext cx="1508760" cy="7315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14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SUSPENDED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36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1667" y="5349240"/>
            <a:ext cx="1508760" cy="7315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16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38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1867" y="5349240"/>
            <a:ext cx="1508760" cy="73152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18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CANCELLED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4051" y="5394960"/>
            <a:ext cx="16459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2067" y="5349240"/>
            <a:ext cx="1508760" cy="73152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2067" y="5550408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Voertuigen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Je wagenpark per klant - kenteken, VIN, merk/model.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12-voertuig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132320" cy="43610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1143000"/>
            <a:ext cx="4160520" cy="24688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252728"/>
            <a:ext cx="3794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🚗 Wat zet je hier?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709928"/>
            <a:ext cx="3703320" cy="18288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Kenteken (NL-formaat, UNIEK)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VIN / chassisnummer (17 tekens, UNIEK)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Merk + model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Optioneel: omschrijving, notities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Altijd gekoppeld aan 1 klant!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6819" y="4800600"/>
            <a:ext cx="388620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6819" y="4873752"/>
            <a:ext cx="3886200" cy="16002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979" y="4983480"/>
            <a:ext cx="3611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👆 Tip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979" y="5330952"/>
            <a:ext cx="3611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Registreer altijd het VIN nummer, niet alleen het kenteken. Bij verkoop/leasewissel kun je historie volgen!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2747" y="4800600"/>
            <a:ext cx="388620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52747" y="4873752"/>
            <a:ext cx="3886200" cy="16002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9907" y="4983480"/>
            <a:ext cx="3611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86C1"/>
                </a:solidFill>
                <a:latin typeface="Calibri"/>
              </a:rPr>
              <a:t>👆 Tip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9907" y="5330952"/>
            <a:ext cx="3611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Koppel 1 tracker per voertuig via de Activatie Wizard of Abonnement-detailpagina.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8675" y="4800600"/>
            <a:ext cx="3886200" cy="73152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48675" y="4873752"/>
            <a:ext cx="3886200" cy="16002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5835" y="4983480"/>
            <a:ext cx="3611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6C00"/>
                </a:solidFill>
                <a:latin typeface="Calibri"/>
              </a:rPr>
              <a:t>👆 Tip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5835" y="5330952"/>
            <a:ext cx="3611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Gebruik de zoekbalk voor snelle kenteken/VIN opzoeking - geen scrollen meer!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Producten (Abonnementsvormen)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De 'tarieven' die je aan klanten verkoopt.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💼 3 voorbeeld-producten in de demo - bepaal zelf je pakketten!</a:t>
            </a:r>
          </a:p>
        </p:txBody>
      </p:sp>
      <p:pic>
        <p:nvPicPr>
          <p:cNvPr id="11" name="Picture 10" descr="13-product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508760"/>
            <a:ext cx="9784080" cy="59824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66547" y="4617720"/>
            <a:ext cx="379476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547" y="4617720"/>
            <a:ext cx="379476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427" y="4800600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86C1"/>
                </a:solidFill>
                <a:latin typeface="Calibri"/>
              </a:rPr>
              <a:t>TRK-BASIC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" y="5074920"/>
            <a:ext cx="3429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Basic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427" y="5486400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E86C1"/>
                </a:solidFill>
                <a:latin typeface="Calibri"/>
              </a:rPr>
              <a:t>€ 9,95 / maand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27" y="5897880"/>
            <a:ext cx="3429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Instapniveau - alleen live locatie en basisrapportages.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8467" y="4617720"/>
            <a:ext cx="379476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8467" y="4617720"/>
            <a:ext cx="379476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1347" y="4800600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3A5F"/>
                </a:solidFill>
                <a:latin typeface="Calibri"/>
              </a:rPr>
              <a:t>TRK-PRO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347" y="5074920"/>
            <a:ext cx="3429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Pro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1347" y="5486400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5F"/>
                </a:solidFill>
                <a:latin typeface="Calibri"/>
              </a:rPr>
              <a:t>€ 19,95 / maand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1347" y="5897880"/>
            <a:ext cx="3429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Uitgebreid: rij- en rusttijden, rapporten,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0387" y="4617720"/>
            <a:ext cx="379476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0387" y="4617720"/>
            <a:ext cx="3794760" cy="73152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3267" y="4800600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6C00"/>
                </a:solidFill>
                <a:latin typeface="Calibri"/>
              </a:rPr>
              <a:t>TRK-PREMIUM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267" y="5074920"/>
            <a:ext cx="3429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Premium Fleet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5486400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6C00"/>
                </a:solidFill>
                <a:latin typeface="Calibri"/>
              </a:rPr>
              <a:t>€ 49,00 / maand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3267" y="5897880"/>
            <a:ext cx="3429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Voor wagenparken: 24/7 support, volledige fleet rapportages,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Abonnementen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Je lopende contracten - 1 klant + 1 product +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07-abonnement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589520" cy="464061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143000"/>
            <a:ext cx="3703320" cy="329184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52728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⚡ Abonnement-acties: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09928"/>
            <a:ext cx="3291840" cy="2651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⏸ Opschorten (SUSPEND)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▶ Hervatten (RESUME)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✖️ Annuleren (op datum)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🛑 Onmiddellijk beëindigen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🔄 Tracker vervangen (RMA/upgrade)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🔄 SIM vervangen (nieuwe kaart)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📄 Detailpagina: 6 tabs per abonnement</a:t>
            </a:r>
          </a:p>
        </p:txBody>
      </p:sp>
      <p:pic>
        <p:nvPicPr>
          <p:cNvPr id="15" name="Picture 14" descr="08-abonnem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983480"/>
            <a:ext cx="7223760" cy="44169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818120" y="4572000"/>
            <a:ext cx="4023360" cy="1965960"/>
          </a:xfrm>
          <a:prstGeom prst="round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68172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📑 Tabs op detail: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074920"/>
            <a:ext cx="36576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① Overzicht (klant, tracker, SIM, voertuig)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② Bewerken (prijs, periode, notities)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③ Tracker  ④ SIM  ⑤ Facturen  ⑥ Geschiedenis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De 6-stappen Activatiewizard (kernfunctie!)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Alles in 1 keer klaar: abonnement + tracker + SIM + voertuig.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📋 Elke stap sla je gegevens op. Stap 6 = 'Activeer nu' is 100% TRANSACTIONEEL (alles of niets!)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84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3787" y="164592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84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84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Klant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4783" y="1874520"/>
            <a:ext cx="201168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108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4027" y="164592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108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108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5023" y="1874520"/>
            <a:ext cx="201168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132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84267" y="164592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132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132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5263" y="1874520"/>
            <a:ext cx="201168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56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4507" y="164592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156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56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5503" y="1874520"/>
            <a:ext cx="201168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80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24747" y="164592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180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80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Voertuig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5743" y="1874520"/>
            <a:ext cx="201168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82047" y="1554480"/>
            <a:ext cx="18288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44987" y="1645920"/>
            <a:ext cx="502920" cy="502920"/>
          </a:xfrm>
          <a:prstGeom prst="ellipse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2047" y="1673352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2047" y="22402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Controle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🖥  Echte interface - Stap 1: Een klant selecteren (hoofdklant + evt. subklant)</a:t>
            </a:r>
          </a:p>
        </p:txBody>
      </p:sp>
      <p:pic>
        <p:nvPicPr>
          <p:cNvPr id="41" name="Picture 40" descr="10-activatie-wizard-sta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7560"/>
            <a:ext cx="10332720" cy="631794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365760" y="5486400"/>
            <a:ext cx="11475720" cy="96012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5040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🔒 Bij Stap 6 (Activeer nu) gebeurt het volgende ATOMAIR in de database: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① Abonnement AANMAKEN (PENDING → ACTIVE)   ② Tracker van IN_STOCK → ASSIGNED   ③ SIM van IN_STOCK → ASSIGNED   ④ Order op COMPLETED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   └─ Iets mislukt? Alles wordt teruggedraaid (rollback) - nooit half werk!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Activaties: Order overzicht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Alle activaties, hun status, en 1 klik naar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09-activaties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68211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🔎 Order statussen - wat betekent wat?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410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410" y="5074920"/>
            <a:ext cx="1874519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410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555555"/>
                </a:solidFill>
                <a:latin typeface="Calibri"/>
              </a:rPr>
              <a:t>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850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850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Je bent gestopt in de wizard; kan zo verder.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7081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37081" y="5074920"/>
            <a:ext cx="187451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7081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2E86C1"/>
                </a:solidFill>
                <a:latin typeface="Calibri"/>
              </a:rPr>
              <a:t>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8521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Klaar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8521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Alle stappen afgerond, wacht op 'Activeer nu'.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4752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4752" y="5074920"/>
            <a:ext cx="1874519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4752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D97706"/>
                </a:solidFill>
                <a:latin typeface="Calibri"/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6192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Bezig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6192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Wordt nu verwerkt, wacht af.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2423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2423" y="5074920"/>
            <a:ext cx="1874519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2423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16A34A"/>
                </a:solidFill>
                <a:latin typeface="Calibri"/>
              </a:rPr>
              <a:t>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Voltooid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3863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Succesvol geactiveerd! Abonnement bestaat nu.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0094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0094" y="5074920"/>
            <a:ext cx="1874519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0094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DC2626"/>
                </a:solidFill>
                <a:latin typeface="Calibri"/>
              </a:rPr>
              <a:t>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1534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Fout 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1534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Gaat fout - los probleem op, probeer opnieuw.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27765" y="5074920"/>
            <a:ext cx="1874519" cy="1417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27765" y="5074920"/>
            <a:ext cx="1874519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7765" y="5212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555555"/>
                </a:solidFill>
                <a:latin typeface="Calibri"/>
              </a:rPr>
              <a:t>CANCELLED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9205" y="5577840"/>
            <a:ext cx="169163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Calibri"/>
              </a:rPr>
              <a:t>Geannuleerd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9205" y="5879592"/>
            <a:ext cx="1691639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55555"/>
                </a:solidFill>
                <a:latin typeface="Calibri"/>
              </a:rPr>
              <a:t>Order geannuleerd (blijft in log).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Module: Facturen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Automatisch per maand alle abonnementen factureren.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11-facturen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68211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475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🧾 Facturatieflow - gebruik deze 4 stappen elke maand: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855" y="4983480"/>
            <a:ext cx="2743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855" y="49834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015" y="516636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Calibri"/>
              </a:rPr>
              <a:t>① Genereer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015" y="5513832"/>
            <a:ext cx="24688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Klik: Genereer maandfacturen → Kies de maand.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Nexus maakt per ACTIEF/SUSPENDED abonnement 1 factuur.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1479" y="5349240"/>
            <a:ext cx="182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7783" y="4983480"/>
            <a:ext cx="2743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7783" y="4983480"/>
            <a:ext cx="274320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4943" y="516636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E86C1"/>
                </a:solidFill>
                <a:latin typeface="Calibri"/>
              </a:rPr>
              <a:t>② Controleer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4943" y="5513832"/>
            <a:ext cx="24688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Status is DRAFT. Check of alle bedragen kloppen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(subtotaal, BTW 21%, totaal).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4407" y="5349240"/>
            <a:ext cx="182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0711" y="4983480"/>
            <a:ext cx="2743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0711" y="4983480"/>
            <a:ext cx="274320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7871" y="516636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③ Verstuur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7871" y="5513832"/>
            <a:ext cx="24688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Zet de facturen op SENT.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(In toekomst: rechtstreeks mailen naar klant!)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7335" y="5349240"/>
            <a:ext cx="182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C0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3639" y="4983480"/>
            <a:ext cx="2743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3639" y="4983480"/>
            <a:ext cx="274320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0799" y="516636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6A34A"/>
                </a:solidFill>
                <a:latin typeface="Calibri"/>
              </a:rPr>
              <a:t>④ Betaal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0799" y="5513832"/>
            <a:ext cx="24688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Zet op PAID wanneer het bedrag binnen is.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Bij overschrijding termijn: staat op OVERDUE.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CSV Importeren &amp; Exporteren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Voor grote partijen trackers/SIMs: importeer in 3 stappen.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3A5F"/>
                </a:solidFill>
                <a:latin typeface="Calibri"/>
              </a:rPr>
              <a:t>📥 CSV Importeren (voorbeeld: Trackers)</a:t>
            </a:r>
          </a:p>
        </p:txBody>
      </p:sp>
      <p:pic>
        <p:nvPicPr>
          <p:cNvPr id="11" name="Picture 10" descr="14-csv-import-tr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760720" cy="35223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097280"/>
            <a:ext cx="5532120" cy="40233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💡 3-stappen Import (altijd Preview eerst!)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64208"/>
            <a:ext cx="5074920" cy="33832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STAP 1: Kies CSV bestand + kolom-aliassing.
   Jouw Excel-kolommen matchen met Nexus-velden.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STAP 2: PREVIEW 🔥 (meest belangrijk!).
   Statistieken: Totaal / Geldig / Fouten.
   Per rij met fout: zie precies WAAROM.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STAP 3: Alleen VALIDE rijen worden ingevoegd.
   Fouten? Pas CSV aan, probeer opnieuw.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✅ Tip: Gebruik altijd eerst 1 kleine test-CSV!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✅ Tip: Bekijk de 'Voorbeeld bekijken'-knop!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✅ Exporteer eerst bestaande data → je hebt meteen juiste kolomnamen.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03520"/>
            <a:ext cx="11475720" cy="1097280"/>
          </a:xfrm>
          <a:prstGeom prst="round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📤 Exporteren gaat zo: op elke module-lijstpagina: knop 'Exporteer CSV'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👉 UTF-8 BOM + CRLF regeleindes = Excel opent zonder rare tekens.   👉 Bestandsnaam: bv. trackers-20260917-1430.csv   👉 Datums in ISO-formaat (YYYY-MM-DD) voor makkelijke verwerking.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⌘K / Ctrl+K: Supersnel zoeken!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Sla het menu over - zoek en spring direct naar ieder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pic>
        <p:nvPicPr>
          <p:cNvPr id="10" name="Picture 9" descr="15-zoekpag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675120" cy="408150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143000"/>
            <a:ext cx="4617720" cy="52120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252728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5F"/>
                </a:solidFill>
                <a:latin typeface="Calibri"/>
              </a:rPr>
              <a:t>🔍 Wat en hoe zoek je?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737360"/>
            <a:ext cx="4206240" cy="2011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► </a:t>
            </a:r>
            <a:r>
              <a:rPr sz="1300">
                <a:solidFill>
                  <a:srgbClr val="1A1A1A"/>
                </a:solidFill>
                <a:latin typeface="Calibri"/>
              </a:rPr>
              <a:t>Typ IMEI, ICCID, kenteken, VIN…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► </a:t>
            </a:r>
            <a:r>
              <a:rPr sz="1300">
                <a:solidFill>
                  <a:srgbClr val="1A1A1A"/>
                </a:solidFill>
                <a:latin typeface="Calibri"/>
              </a:rPr>
              <a:t>Klantnummer of bedrijfsnaam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► </a:t>
            </a:r>
            <a:r>
              <a:rPr sz="1300">
                <a:solidFill>
                  <a:srgbClr val="1A1A1A"/>
                </a:solidFill>
                <a:latin typeface="Calibri"/>
              </a:rPr>
              <a:t>Abonnementnummer (SUB-2025-…)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► </a:t>
            </a:r>
            <a:r>
              <a:rPr sz="1300">
                <a:solidFill>
                  <a:srgbClr val="1A1A1A"/>
                </a:solidFill>
                <a:latin typeface="Calibri"/>
              </a:rPr>
              <a:t>Ordernummer (ACT-2025-…) of Tracker (TRK-…)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023360"/>
            <a:ext cx="4023360" cy="3657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160520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⌨️ Sneltoetsen: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526280"/>
            <a:ext cx="4206240" cy="17373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E86C00"/>
                </a:solidFill>
                <a:latin typeface="Calibri"/>
              </a:rPr>
              <a:t>► </a:t>
            </a:r>
            <a:r>
              <a:rPr sz="1150">
                <a:solidFill>
                  <a:srgbClr val="1A1A1A"/>
                </a:solidFill>
                <a:latin typeface="Calibri"/>
              </a:rPr>
              <a:t>⌘K / Ctrl+K - opent zoekvak vanuit ELKE pagina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E86C00"/>
                </a:solidFill>
                <a:latin typeface="Calibri"/>
              </a:rPr>
              <a:t>► </a:t>
            </a:r>
            <a:r>
              <a:rPr sz="1150">
                <a:solidFill>
                  <a:srgbClr val="1A1A1A"/>
                </a:solidFill>
                <a:latin typeface="Calibri"/>
              </a:rPr>
              <a:t>↑ ↓ pijltjestoetsen - navigeer zoekresultaten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E86C00"/>
                </a:solidFill>
                <a:latin typeface="Calibri"/>
              </a:rPr>
              <a:t>► </a:t>
            </a:r>
            <a:r>
              <a:rPr sz="1150">
                <a:solidFill>
                  <a:srgbClr val="1A1A1A"/>
                </a:solidFill>
                <a:latin typeface="Calibri"/>
              </a:rPr>
              <a:t>Enter → springt meteen naar de detailpagina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E86C00"/>
                </a:solidFill>
                <a:latin typeface="Calibri"/>
              </a:rPr>
              <a:t>► </a:t>
            </a:r>
            <a:r>
              <a:rPr sz="1150">
                <a:solidFill>
                  <a:srgbClr val="1A1A1A"/>
                </a:solidFill>
                <a:latin typeface="Calibri"/>
              </a:rPr>
              <a:t>Esc / buiten klikken → sluit zoekvenster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394960"/>
            <a:ext cx="6675120" cy="100584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58968"/>
            <a:ext cx="6309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Calibri"/>
              </a:rPr>
              <a:t>⏱ Tijdswinst per zoekactie: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6309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Zoeken via zijbalk + typen + filter: ~30 seconden  👉  ⌘K = 3 seconden  = 90% sneller!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Bij 20 zoekacties per dag bespaar je al snel 10 minuten per dag.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Gebruikers &amp; Rollen (wie mag wat?)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3 rollen: Beheerder, Medewerker, Alleen-lezen.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Calibri"/>
              </a:rPr>
              <a:t>👥 Gebruikersmodule - alleen zichtbaar voor Beheerders</a:t>
            </a:r>
          </a:p>
        </p:txBody>
      </p:sp>
      <p:pic>
        <p:nvPicPr>
          <p:cNvPr id="11" name="Picture 10" descr="16-gebruikers-lij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08760"/>
            <a:ext cx="10149840" cy="62061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66547" y="3931920"/>
            <a:ext cx="3794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6547" y="3931920"/>
            <a:ext cx="3794760" cy="640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547" y="3977640"/>
            <a:ext cx="3794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⚙️ Beheerder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547" y="4279392"/>
            <a:ext cx="3794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BFE"/>
                </a:solidFill>
                <a:latin typeface="Calibri"/>
              </a:rPr>
              <a:t>Rolcode: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707" y="4709160"/>
            <a:ext cx="3520440" cy="1645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Alles: klanten, trackers, SIMs, abonnementen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Gebruikers aanmaken/wijzigen/verwijderen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Instellingen wijzigen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Facturen genereren (MAAND-facturen)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Prijzen overriden (indien nodig)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E3A5F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Soft-delete data (verwijderen = archiveren)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8467" y="3931920"/>
            <a:ext cx="3794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98467" y="3931920"/>
            <a:ext cx="3794760" cy="6400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8467" y="3977640"/>
            <a:ext cx="3794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👩‍💼 Medewerker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8467" y="4279392"/>
            <a:ext cx="3794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BFE"/>
                </a:solidFill>
                <a:latin typeface="Calibri"/>
              </a:rPr>
              <a:t>Rolcode: EMPLOYEE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5627" y="4709160"/>
            <a:ext cx="3520440" cy="1645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Klanten / Trackers / SIMs / Voertuigen: CRUD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Abonnementen: aanmaken + wijzigen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Activatiewizard: volgen + activeren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Facturen: op SENT / PAID zetten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CSV Importeren (trackers, sims, klanten)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2E86C1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✗ GEEN gebruikers of instellingen!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387" y="3931920"/>
            <a:ext cx="37947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0387" y="3931920"/>
            <a:ext cx="379476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0387" y="3977640"/>
            <a:ext cx="37947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👀 Alleen-lezen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0387" y="4279392"/>
            <a:ext cx="3794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BFE"/>
                </a:solidFill>
                <a:latin typeface="Calibri"/>
              </a:rPr>
              <a:t>Rolcode: 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547" y="4709160"/>
            <a:ext cx="3520440" cy="1645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Dashboard bekijken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Alle modules: alleen-lezen (GEEN wijzigingen)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Zoeken en filteren op records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Auditlog bekijken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✗ GEEN wizard, GEEN writes, GEEN export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► </a:t>
            </a:r>
            <a:r>
              <a:rPr sz="1050">
                <a:solidFill>
                  <a:srgbClr val="1A1A1A"/>
                </a:solidFill>
                <a:latin typeface="Calibri"/>
              </a:rPr>
              <a:t>Geschikt voor: externen, accountants.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Checklist: Eerste keer werken met 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BFE"/>
                </a:solidFill>
                <a:latin typeface="Calibri"/>
              </a:rPr>
              <a:t>Volg deze stappen 1-voor-1 en je bent zo up-and-running.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27432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93C5FD"/>
                </a:solidFill>
                <a:latin typeface="Calibri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Calibri"/>
              </a:rPr>
              <a:t>Nexus - Gebruikershandleiding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3794760" cy="52120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3794760" cy="640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⏱ Uur 1: De basis opzetten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74519"/>
            <a:ext cx="3520440" cy="43891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Inloggen met je gegevens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Dashboard verkennen (KPI's leren kennen)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⌘K uitproberen: typ 'TRK' en zie resultaten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Producten controleren: kloppen de huidige producten?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Test-klant aanmaken (eigen gegevens)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Zijbalk: alle modules even openklikken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794760" cy="52120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794760" cy="6400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2588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6C00"/>
                </a:solidFill>
                <a:latin typeface="Calibri"/>
              </a:rPr>
              <a:t>📅 Eerste dag: Voorraad vullen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3520440" cy="43891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1 tracker handmatig aanmaken + opslaan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1 SIM-kaart handmatig aanmaken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CSV-import testen met 3 rijen (preview check!)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Klant 'Demo' aanmaken met adres/contact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Voertuig toevoegen (eigen kenteken als test)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Check lijsten: alles verschijnt in overzichten?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611880" cy="52120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61188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258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6A34A"/>
                </a:solidFill>
                <a:latin typeface="Calibri"/>
              </a:rPr>
              <a:t>🚀 Eerste week: Live draaien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19"/>
            <a:ext cx="3383280" cy="43891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1e echte activatie via Wizard (stap 1-6)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Resultaat checken: abonnement + hardware toegewezen?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Abonnement openen: tracker &amp; SIM tonen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Facturen genereren (1e testmaand)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1 factuur: DRAFT → SENT → PAID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☐ Auditlog checken: alle acties gelogd?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0" y="0"/>
            <a:ext cx="5486262" cy="6858000"/>
          </a:xfrm>
          <a:prstGeom prst="rtTriangl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3657508" cy="6858000"/>
          </a:xfrm>
          <a:prstGeom prst="rtTriangl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2095" y="146304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Veel succes met Nexus!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095" y="2606040"/>
            <a:ext cx="7772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>
                <a:solidFill>
                  <a:srgbClr val="BFDBFE"/>
                </a:solidFill>
                <a:latin typeface="Calibri"/>
              </a:rPr>
              <a:t>Je kunt aan de slag – je hebt de basiskennis!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2095" y="3337560"/>
            <a:ext cx="7772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2095" y="3337560"/>
            <a:ext cx="7772400" cy="9144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44975" y="3493008"/>
            <a:ext cx="7406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Calibri"/>
              </a:rPr>
              <a:t>⭐ Top-5 tips van ervaren Nexus-gebruikers: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4975" y="3977639"/>
            <a:ext cx="7406640" cy="18288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Gebruik ⌘K/Ctrl+K voor ELKE zoekopdracht - went het snel!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Bij bulk import: Altijd de PREVIEW controleren voor je opslaat.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Bij twijfel over status: kijk op de Auditlog-pagina.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Gebruik NIEUW-abonnement via Wizard, NIET handmatig (consistentie!).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1">
                <a:solidFill>
                  <a:srgbClr val="E86C00"/>
                </a:solidFill>
                <a:latin typeface="Calibri"/>
              </a:rPr>
              <a:t>► </a:t>
            </a:r>
            <a:r>
              <a:rPr sz="1200">
                <a:solidFill>
                  <a:srgbClr val="1A1A1A"/>
                </a:solidFill>
                <a:latin typeface="Calibri"/>
              </a:rPr>
              <a:t>Zet elke week 5 minuten vrij om OVERDUE facturen op te schonen.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2095" y="6080760"/>
            <a:ext cx="777240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2095" y="6172200"/>
            <a:ext cx="7772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3C5FD"/>
                </a:solidFill>
                <a:latin typeface="Calibri"/>
              </a:rPr>
              <a:t>Demo-omgeving (indien je die gebruikt):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095" y="6400800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3C5FD"/>
                </a:solidFill>
                <a:latin typeface="Calibri"/>
              </a:rPr>
              <a:t>Beheerder: admin@nexus.local  •  Medewerker: medewerker@nexus.local  •  Viewer: viewer@nexus.local  •  Wachtwoord: Test1234!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